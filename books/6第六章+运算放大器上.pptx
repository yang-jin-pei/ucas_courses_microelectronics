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7" r:id="rId16"/>
    <p:sldId id="336" r:id="rId17"/>
    <p:sldId id="338" r:id="rId18"/>
    <p:sldId id="339" r:id="rId19"/>
    <p:sldId id="341" r:id="rId20"/>
    <p:sldId id="343" r:id="rId21"/>
    <p:sldId id="344" r:id="rId22"/>
    <p:sldId id="345" r:id="rId23"/>
    <p:sldId id="347" r:id="rId24"/>
    <p:sldId id="342" r:id="rId25"/>
    <p:sldId id="340" r:id="rId26"/>
    <p:sldId id="346" r:id="rId27"/>
    <p:sldId id="349" r:id="rId28"/>
    <p:sldId id="348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9" r:id="rId43"/>
    <p:sldId id="370" r:id="rId44"/>
    <p:sldId id="363" r:id="rId45"/>
    <p:sldId id="364" r:id="rId46"/>
    <p:sldId id="365" r:id="rId47"/>
    <p:sldId id="366" r:id="rId48"/>
    <p:sldId id="367" r:id="rId49"/>
    <p:sldId id="368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468" autoAdjust="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5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4" Type="http://schemas.openxmlformats.org/officeDocument/2006/relationships/image" Target="../media/image8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5EA51-AC46-4344-BC47-05198113665D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BA7B0-9DDF-4575-A9D0-291574A78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9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它是从指定测试条件下的低频（几千赫兹）电流增益和电流增益下降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分贝（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幅度）时的截止频率计算的。这两个值的乘积可以被认为是电流增益下降到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的频率，并且可以通过将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除以频率来估计截止频率和跃迁频率之间的晶体管电流增益。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BA7B0-9DDF-4575-A9D0-291574A78F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9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1/Beta*A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Beta=1/10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BA7B0-9DDF-4575-A9D0-291574A78F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00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虚短和虚断的解释，</a:t>
            </a:r>
            <a:r>
              <a:rPr lang="en-US" altLang="zh-CN" dirty="0" err="1" smtClean="0"/>
              <a:t>nullor</a:t>
            </a:r>
            <a:r>
              <a:rPr lang="zh-CN" altLang="en-US" dirty="0" smtClean="0"/>
              <a:t>是一种理想的二端口网络，输入端为零极子，输出端为任意子，零任偶类似一个理想的放大器，其电压增益、电流增益、跨导增益和跨阻抗（</a:t>
            </a:r>
            <a:r>
              <a:rPr lang="en-US" altLang="zh-CN" dirty="0" err="1" smtClean="0"/>
              <a:t>transimpedance</a:t>
            </a:r>
            <a:r>
              <a:rPr lang="zh-CN" altLang="en-US" dirty="0" smtClean="0"/>
              <a:t>）增益都是无限大。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左边为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零极子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Nullator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，零极子的特性是其上的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电压和电流均为零，即其同时具有短路和开路两种性质，即其既是电压源也是电流源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右边的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任意子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Norator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。任意子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端点之间的电流及电压可以为任意值。任意子代表增益无限大的电压源或是电流源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BA7B0-9DDF-4575-A9D0-291574A78F3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BA7B0-9DDF-4575-A9D0-291574A78F3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383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6699-D9D3-4717-B251-4E74CD6977AE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44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B87-BA58-4A05-A5C3-1C973B34F063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70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0B4E-CC58-4043-A677-9676DEA69567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80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E4B0-2B33-4E4B-81ED-9024CCCE3335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75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E8E32-E602-4AE6-89EE-5F20A48ABDD1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7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69EE-4E7D-4A69-AC0B-9B4E77A4ABBE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97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F8E0-33F3-4ADE-B2E5-C270F426C485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4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545E-5FDC-4517-B0BD-E6F63BC5BD14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16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D3FC-7DC2-4ADA-AFEF-7047C60FBDA4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50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02-207F-43EF-8316-0A3A7156D358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4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2B0C3-F992-4F89-A22C-2CFB87DD9635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02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CCD3A-75FC-4E31-8B91-82F3AFE72C11}" type="datetime1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5852F-A149-4CCB-8EBE-69A193BA5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26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61.wmf"/><Relationship Id="rId3" Type="http://schemas.openxmlformats.org/officeDocument/2006/relationships/oleObject" Target="../embeddings/oleObject3.bin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8.wmf"/><Relationship Id="rId11" Type="http://schemas.openxmlformats.org/officeDocument/2006/relationships/image" Target="../media/image60.wmf"/><Relationship Id="rId5" Type="http://schemas.openxmlformats.org/officeDocument/2006/relationships/oleObject" Target="../embeddings/oleObject4.bin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6.bin"/><Relationship Id="rId4" Type="http://schemas.openxmlformats.org/officeDocument/2006/relationships/image" Target="../media/image57.wmf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61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3.png"/><Relationship Id="rId11" Type="http://schemas.openxmlformats.org/officeDocument/2006/relationships/image" Target="../media/image60.wmf"/><Relationship Id="rId5" Type="http://schemas.openxmlformats.org/officeDocument/2006/relationships/image" Target="../media/image62.png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6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64.wmf"/><Relationship Id="rId9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71.wmf"/><Relationship Id="rId3" Type="http://schemas.openxmlformats.org/officeDocument/2006/relationships/image" Target="../media/image72.e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6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76.e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21.bin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3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75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2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1.wmf"/><Relationship Id="rId7" Type="http://schemas.openxmlformats.org/officeDocument/2006/relationships/image" Target="../media/image84.png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30.png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820.png"/><Relationship Id="rId10" Type="http://schemas.openxmlformats.org/officeDocument/2006/relationships/image" Target="../media/image87.png"/><Relationship Id="rId4" Type="http://schemas.openxmlformats.org/officeDocument/2006/relationships/image" Target="../media/image810.png"/><Relationship Id="rId9" Type="http://schemas.openxmlformats.org/officeDocument/2006/relationships/image" Target="../media/image7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86.png"/><Relationship Id="rId3" Type="http://schemas.openxmlformats.org/officeDocument/2006/relationships/image" Target="../media/image82.emf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86.wmf"/><Relationship Id="rId4" Type="http://schemas.openxmlformats.org/officeDocument/2006/relationships/image" Target="../media/image88.emf"/><Relationship Id="rId9" Type="http://schemas.openxmlformats.org/officeDocument/2006/relationships/oleObject" Target="../embeddings/oleObject29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7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第六章 运算放大器（上）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刘鸣</a:t>
            </a:r>
            <a:endParaRPr lang="en-US" altLang="zh-CN" dirty="0" smtClean="0"/>
          </a:p>
          <a:p>
            <a:r>
              <a:rPr lang="en-US" altLang="zh-CN"/>
              <a:t>l</a:t>
            </a:r>
            <a:r>
              <a:rPr lang="en-US" altLang="zh-CN" smtClean="0"/>
              <a:t>iuming@semi.ac.cn</a:t>
            </a:r>
            <a:endParaRPr lang="en-US" altLang="zh-CN" dirty="0" smtClean="0"/>
          </a:p>
          <a:p>
            <a:r>
              <a:rPr lang="zh-CN" altLang="en-US" dirty="0" smtClean="0"/>
              <a:t>中国科学院半导体</a:t>
            </a:r>
            <a:r>
              <a:rPr lang="zh-CN" altLang="en-US" dirty="0"/>
              <a:t>研究所</a:t>
            </a:r>
          </a:p>
        </p:txBody>
      </p:sp>
    </p:spTree>
    <p:extLst>
      <p:ext uri="{BB962C8B-B14F-4D97-AF65-F5344CB8AC3E}">
        <p14:creationId xmlns:p14="http://schemas.microsoft.com/office/powerpoint/2010/main" val="411106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1742" y="1825625"/>
            <a:ext cx="5272454" cy="18759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 smtClean="0"/>
              <a:t>运放概念和性能参数</a:t>
            </a:r>
            <a:endParaRPr lang="en-US" altLang="zh-CN" sz="3200" b="1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dirty="0" smtClean="0"/>
              <a:t>理想运放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dirty="0" smtClean="0"/>
              <a:t>运放的基本模块</a:t>
            </a:r>
            <a:endParaRPr lang="en-US" altLang="zh-CN" sz="3200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8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运放概念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运放：具有高增益的差动放大器。电压增益通常在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1</a:t>
            </a:r>
            <a:r>
              <a:rPr lang="en-US" altLang="zh-CN" dirty="0" smtClean="0"/>
              <a:t>~10</a:t>
            </a:r>
            <a:r>
              <a:rPr lang="en-US" altLang="zh-CN" baseline="30000" dirty="0" smtClean="0"/>
              <a:t>5</a:t>
            </a:r>
            <a:r>
              <a:rPr lang="zh-CN" altLang="en-US" dirty="0" smtClean="0"/>
              <a:t>之间。通常用在闭环系统中，开环增益大小根据闭环精度要求来选取。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CE6ED-BD27-4F99-87B5-445A928D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53" y="3438436"/>
            <a:ext cx="3864725" cy="2317734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5656385" y="4390684"/>
            <a:ext cx="439615" cy="413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989" y="3330478"/>
            <a:ext cx="35433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3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全差分放大器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063" y="3254179"/>
            <a:ext cx="2467429" cy="1325587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853354" y="3719146"/>
            <a:ext cx="404446" cy="395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165225"/>
            <a:ext cx="39338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4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运放的性能参数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性能参数：增益、速度、输入</a:t>
            </a:r>
            <a:r>
              <a:rPr lang="en-US" altLang="zh-CN" smtClean="0"/>
              <a:t>/</a:t>
            </a:r>
            <a:r>
              <a:rPr lang="zh-CN" altLang="en-US" smtClean="0"/>
              <a:t>输出阻抗</a:t>
            </a:r>
            <a:r>
              <a:rPr lang="zh-CN" altLang="en-US" dirty="0" smtClean="0"/>
              <a:t>、功耗、小信号带宽、增益带宽积、大信号特性、输出摆幅、线性度、噪声、失调、电源抑制比等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各性能指标之间的折中关系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关键设计指标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71" y="3124948"/>
            <a:ext cx="3885052" cy="305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11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）增益</a:t>
            </a:r>
            <a:endParaRPr lang="en-US" altLang="zh-CN" dirty="0" smtClean="0"/>
          </a:p>
          <a:p>
            <a:pPr lvl="1"/>
            <a:r>
              <a:rPr lang="zh-CN" altLang="en-US" dirty="0"/>
              <a:t>运</a:t>
            </a:r>
            <a:r>
              <a:rPr lang="zh-CN" altLang="en-US" dirty="0" smtClean="0"/>
              <a:t>放的开环增益确定了使用运放的反馈系统的精度。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90" y="2654024"/>
            <a:ext cx="3457575" cy="2609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877657" y="2870598"/>
                <a:ext cx="2486835" cy="875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657" y="2870598"/>
                <a:ext cx="2486835" cy="8751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402562" y="3925096"/>
                <a:ext cx="2674835" cy="875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562" y="3925096"/>
                <a:ext cx="2674835" cy="8751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827124" y="4935144"/>
                <a:ext cx="4549085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10, 1+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124" y="4935144"/>
                <a:ext cx="4549085" cy="527773"/>
              </a:xfrm>
              <a:prstGeom prst="rect">
                <a:avLst/>
              </a:prstGeom>
              <a:blipFill>
                <a:blip r:embed="rId6"/>
                <a:stretch>
                  <a:fillRect l="-1475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827125" y="5470191"/>
                <a:ext cx="3985065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125" y="5470191"/>
                <a:ext cx="3985065" cy="6915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262794" y="5215794"/>
            <a:ext cx="4243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如果增益误差小于</a:t>
            </a:r>
            <a:r>
              <a:rPr lang="en-US" altLang="zh-CN" sz="2400" dirty="0" smtClean="0"/>
              <a:t>1%</a:t>
            </a:r>
            <a:r>
              <a:rPr lang="zh-CN" altLang="en-US" sz="2400" dirty="0" smtClean="0"/>
              <a:t>，增益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&gt;1000</a:t>
            </a:r>
            <a:r>
              <a:rPr lang="zh-CN" altLang="en-US" sz="2400" dirty="0" smtClean="0"/>
              <a:t>，采用单级简单共源放大器很难实现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8392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）小信号带宽：反映增益随着频率增加的变化特性。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689" y="3015504"/>
            <a:ext cx="6680715" cy="31176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01467" y="3466476"/>
            <a:ext cx="3894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 smtClean="0"/>
              <a:t>增益随着频率增加而下降，从</a:t>
            </a:r>
            <a:r>
              <a:rPr lang="en-US" altLang="zh-CN" dirty="0" smtClean="0"/>
              <a:t>3-dB</a:t>
            </a:r>
            <a:r>
              <a:rPr lang="zh-CN" altLang="en-US" dirty="0" smtClean="0"/>
              <a:t>点开始下降，直到增益变为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853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小信号带宽（举例）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913" y="2008971"/>
            <a:ext cx="6611374" cy="2343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38200" y="2538964"/>
                <a:ext cx="331924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38964"/>
                <a:ext cx="3319242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23435" y="3391061"/>
                <a:ext cx="2745303" cy="794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35" y="3391061"/>
                <a:ext cx="2745303" cy="7948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937952" y="4422985"/>
            <a:ext cx="145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Since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759515" y="4480943"/>
                <a:ext cx="2279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/(1+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515" y="4480943"/>
                <a:ext cx="2279085" cy="276999"/>
              </a:xfrm>
              <a:prstGeom prst="rect">
                <a:avLst/>
              </a:prstGeom>
              <a:blipFill>
                <a:blip r:embed="rId5"/>
                <a:stretch>
                  <a:fillRect l="-1872" t="-2174" r="-3209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66233" y="4711056"/>
                <a:ext cx="5837688" cy="14636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3" y="4711056"/>
                <a:ext cx="5837688" cy="1463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箭头 12"/>
          <p:cNvSpPr/>
          <p:nvPr/>
        </p:nvSpPr>
        <p:spPr>
          <a:xfrm>
            <a:off x="6655777" y="5319346"/>
            <a:ext cx="342900" cy="3341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488375" y="4531630"/>
                <a:ext cx="4117281" cy="7877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(1+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≈(1+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375" y="4531630"/>
                <a:ext cx="4117281" cy="7877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7488375" y="5666813"/>
                <a:ext cx="3676648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375" y="5666813"/>
                <a:ext cx="3676648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5383728" y="69358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+mn-ea"/>
              </a:rPr>
              <a:t>假设运放为单极点电压放大器，</a:t>
            </a:r>
            <a:r>
              <a:rPr lang="en-US" altLang="zh-CN" dirty="0">
                <a:latin typeface="+mn-ea"/>
              </a:rPr>
              <a:t>Vin</a:t>
            </a:r>
            <a:r>
              <a:rPr lang="zh-CN" altLang="en-US" dirty="0">
                <a:latin typeface="+mn-ea"/>
              </a:rPr>
              <a:t>为较小的阶跃电压，低频增益远大于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，计算输出电压达到终值</a:t>
            </a:r>
            <a:r>
              <a:rPr lang="en-US" altLang="zh-CN" dirty="0">
                <a:latin typeface="+mn-ea"/>
              </a:rPr>
              <a:t>99%</a:t>
            </a:r>
            <a:r>
              <a:rPr lang="zh-CN" altLang="en-US" dirty="0">
                <a:latin typeface="+mn-ea"/>
              </a:rPr>
              <a:t>所需的时间，如果</a:t>
            </a:r>
            <a:r>
              <a:rPr lang="en-US" altLang="zh-CN" dirty="0">
                <a:latin typeface="+mn-ea"/>
              </a:rPr>
              <a:t>1+R</a:t>
            </a:r>
            <a:r>
              <a:rPr lang="en-US" altLang="zh-CN" baseline="-25000" dirty="0">
                <a:latin typeface="+mn-ea"/>
              </a:rPr>
              <a:t>1</a:t>
            </a:r>
            <a:r>
              <a:rPr lang="en-US" altLang="zh-CN" dirty="0">
                <a:latin typeface="+mn-ea"/>
              </a:rPr>
              <a:t>/R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=10</a:t>
            </a:r>
            <a:r>
              <a:rPr lang="zh-CN" altLang="en-US" dirty="0">
                <a:latin typeface="+mn-ea"/>
              </a:rPr>
              <a:t>，且稳定时间小于</a:t>
            </a:r>
            <a:r>
              <a:rPr lang="en-US" altLang="zh-CN" dirty="0">
                <a:latin typeface="+mn-ea"/>
              </a:rPr>
              <a:t>5ns</a:t>
            </a:r>
            <a:r>
              <a:rPr lang="zh-CN" altLang="en-US" dirty="0">
                <a:latin typeface="+mn-ea"/>
              </a:rPr>
              <a:t>，求运放</a:t>
            </a:r>
            <a:r>
              <a:rPr lang="en-US" altLang="zh-CN" dirty="0">
                <a:latin typeface="+mn-ea"/>
              </a:rPr>
              <a:t>GBW</a:t>
            </a:r>
            <a:r>
              <a:rPr lang="zh-CN" altLang="en-US" dirty="0">
                <a:latin typeface="+mn-ea"/>
              </a:rPr>
              <a:t>需要达到多少</a:t>
            </a:r>
            <a:r>
              <a:rPr lang="en-US" altLang="zh-CN" dirty="0">
                <a:latin typeface="+mn-ea"/>
              </a:rPr>
              <a:t>?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4101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小</a:t>
            </a:r>
            <a:r>
              <a:rPr lang="zh-CN" altLang="en-US" dirty="0" smtClean="0"/>
              <a:t>信号带宽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增益带宽积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为了使输出电压达到</a:t>
            </a:r>
            <a:r>
              <a:rPr lang="en-US" altLang="zh-CN" dirty="0" smtClean="0"/>
              <a:t>99%</a:t>
            </a:r>
            <a:r>
              <a:rPr lang="zh-CN" altLang="en-US" dirty="0" smtClean="0"/>
              <a:t>的终值，</a:t>
            </a:r>
            <a:r>
              <a:rPr lang="en-US" altLang="zh-CN" dirty="0"/>
              <a:t>t≈4.6</a:t>
            </a:r>
            <a:r>
              <a:rPr lang="el-GR" altLang="zh-CN" dirty="0"/>
              <a:t>τ</a:t>
            </a:r>
            <a:r>
              <a:rPr lang="zh-CN" altLang="en-US" dirty="0"/>
              <a:t>，当</a:t>
            </a:r>
            <a:r>
              <a:rPr lang="en-US" altLang="zh-CN" dirty="0"/>
              <a:t>t&lt;5ns</a:t>
            </a:r>
            <a:r>
              <a:rPr lang="zh-CN" altLang="en-US" dirty="0"/>
              <a:t>，</a:t>
            </a:r>
            <a:r>
              <a:rPr lang="zh-CN" altLang="en-US" dirty="0" smtClean="0"/>
              <a:t>要求</a:t>
            </a:r>
            <a:r>
              <a:rPr lang="el-GR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τ</a:t>
            </a:r>
            <a:r>
              <a:rPr lang="en-US" altLang="zh-CN" dirty="0" smtClean="0"/>
              <a:t>&lt;1.09ns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002572" y="4001294"/>
                <a:ext cx="6142707" cy="587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=9.21</m:t>
                    </m:r>
                  </m:oMath>
                </a14:m>
                <a:r>
                  <a:rPr lang="en-US" altLang="zh-CN" sz="2400" dirty="0" smtClean="0"/>
                  <a:t>Grad/s</a:t>
                </a:r>
                <a:r>
                  <a:rPr lang="zh-CN" altLang="en-US" sz="2400" dirty="0" smtClean="0"/>
                  <a:t>（</a:t>
                </a:r>
                <a:r>
                  <a:rPr lang="en-US" altLang="zh-CN" sz="2400" dirty="0" smtClean="0"/>
                  <a:t>1.47GHz</a:t>
                </a:r>
                <a:r>
                  <a:rPr lang="zh-CN" altLang="en-US" sz="2400" dirty="0" smtClean="0"/>
                  <a:t>）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572" y="4001294"/>
                <a:ext cx="6142707" cy="587340"/>
              </a:xfrm>
              <a:prstGeom prst="rect">
                <a:avLst/>
              </a:prstGeom>
              <a:blipFill>
                <a:blip r:embed="rId2"/>
                <a:stretch>
                  <a:fillRect l="-99" r="-2085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354364" y="4995881"/>
            <a:ext cx="69830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GBW</a:t>
            </a:r>
            <a:r>
              <a:rPr lang="zh-CN" altLang="en-US" sz="2400" dirty="0" smtClean="0"/>
              <a:t>要求取决于稳定精度、稳定时间和闭环增益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98538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）大信号特征</a:t>
            </a:r>
            <a:r>
              <a:rPr lang="zh-CN" altLang="en-US" dirty="0"/>
              <a:t>：阶跃响应的斜率正比于输出的最终</a:t>
            </a:r>
            <a:r>
              <a:rPr lang="zh-CN" altLang="en-US" dirty="0" smtClean="0"/>
              <a:t>值，然而当输入高摆幅信号的时候，电路会进入非线性工作区。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28" y="3065762"/>
            <a:ext cx="9644795" cy="2334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862104" y="5579558"/>
                <a:ext cx="2467791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104" y="5579558"/>
                <a:ext cx="2467791" cy="701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16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大信号特征（例）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45" y="2453007"/>
            <a:ext cx="9159065" cy="309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4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37997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）输出摆幅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多数系统对运放的电压摆幅要求比较高，以便获得较高的信噪比或驱动负载，全差分运放可大幅提高输出摆幅，应用十分普遍。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746" y="1193069"/>
            <a:ext cx="5852543" cy="36602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18176" y="5115049"/>
            <a:ext cx="5739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输出摆幅为</a:t>
            </a:r>
            <a:r>
              <a:rPr lang="en-US" altLang="zh-CN" sz="2000" dirty="0" smtClean="0"/>
              <a:t>2[VDD-(V</a:t>
            </a:r>
            <a:r>
              <a:rPr lang="en-US" altLang="zh-CN" sz="2000" baseline="-25000" dirty="0" smtClean="0"/>
              <a:t>OD1</a:t>
            </a:r>
            <a:r>
              <a:rPr lang="en-US" altLang="zh-CN" sz="2000" dirty="0" smtClean="0"/>
              <a:t>+V</a:t>
            </a:r>
            <a:r>
              <a:rPr lang="en-US" altLang="zh-CN" sz="2000" baseline="-25000" dirty="0" smtClean="0"/>
              <a:t>OD3</a:t>
            </a:r>
            <a:r>
              <a:rPr lang="en-US" altLang="zh-CN" sz="2000" dirty="0" smtClean="0"/>
              <a:t>+V</a:t>
            </a:r>
            <a:r>
              <a:rPr lang="en-US" altLang="zh-CN" sz="2000" baseline="-25000" dirty="0" smtClean="0"/>
              <a:t>ISS</a:t>
            </a:r>
            <a:r>
              <a:rPr lang="en-US" altLang="zh-CN" sz="2000" dirty="0" smtClean="0"/>
              <a:t>+|V</a:t>
            </a:r>
            <a:r>
              <a:rPr lang="en-US" altLang="zh-CN" sz="2000" baseline="-25000" dirty="0" smtClean="0"/>
              <a:t>OD5</a:t>
            </a:r>
            <a:r>
              <a:rPr lang="en-US" altLang="zh-CN" sz="2000" dirty="0" smtClean="0"/>
              <a:t>|+|V</a:t>
            </a:r>
            <a:r>
              <a:rPr lang="en-US" altLang="zh-CN" sz="2000" baseline="-25000" dirty="0" smtClean="0"/>
              <a:t>OD7</a:t>
            </a:r>
            <a:r>
              <a:rPr lang="en-US" altLang="zh-CN" sz="2000" dirty="0" smtClean="0"/>
              <a:t>|)]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33714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输出摆幅（例，套筒式结构）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733" y="2361081"/>
            <a:ext cx="6110765" cy="390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）线性度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/>
              <a:t>开环运放非线性特性显著（漏电流</a:t>
            </a:r>
            <a:r>
              <a:rPr lang="en-US" altLang="zh-CN" dirty="0"/>
              <a:t>-</a:t>
            </a:r>
            <a:r>
              <a:rPr lang="zh-CN" altLang="en-US" dirty="0"/>
              <a:t>栅源电压</a:t>
            </a:r>
            <a:r>
              <a:rPr lang="zh-CN" altLang="en-US" dirty="0" smtClean="0"/>
              <a:t>），通常采用全差分电路以及反馈抑制非线性。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606" y="3280631"/>
            <a:ext cx="36766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83930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线性度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对于非线性运放的小信号放大倍数变化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236" y="2735141"/>
            <a:ext cx="6815564" cy="344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1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2004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线性度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/>
              <a:t>差分</a:t>
            </a:r>
            <a:r>
              <a:rPr lang="zh-CN" altLang="en-US" dirty="0" smtClean="0"/>
              <a:t>电路和单端电路的线性度对比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/>
              <a:t>差分</a:t>
            </a:r>
            <a:r>
              <a:rPr lang="zh-CN" altLang="en-US" dirty="0" smtClean="0"/>
              <a:t>电路只有奇次谐波，单端电路最高到偶次谐波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759" y="1870075"/>
            <a:ext cx="757179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79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270131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）噪声与失调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运放的输入噪声和失调确定了能被合理处理的最小信号电平。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487" y="1165225"/>
            <a:ext cx="3933825" cy="51911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39816" y="5160228"/>
            <a:ext cx="4469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右图中的</a:t>
            </a:r>
            <a:r>
              <a:rPr lang="en-US" altLang="zh-CN" sz="2400" dirty="0" smtClean="0"/>
              <a:t>M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~M</a:t>
            </a:r>
            <a:r>
              <a:rPr lang="en-US" altLang="zh-CN" sz="2400" baseline="-25000" dirty="0" smtClean="0"/>
              <a:t>2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M</a:t>
            </a:r>
            <a:r>
              <a:rPr lang="en-US" altLang="zh-CN" sz="2400" baseline="-25000" dirty="0" smtClean="0"/>
              <a:t>7</a:t>
            </a:r>
            <a:r>
              <a:rPr lang="en-US" altLang="zh-CN" sz="2400" dirty="0" smtClean="0"/>
              <a:t>~M</a:t>
            </a:r>
            <a:r>
              <a:rPr lang="en-US" altLang="zh-CN" sz="2400" baseline="-25000" dirty="0" smtClean="0"/>
              <a:t>8</a:t>
            </a:r>
            <a:r>
              <a:rPr lang="zh-CN" altLang="en-US" sz="2400" dirty="0" smtClean="0"/>
              <a:t>产生的噪声最大。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36457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噪声与</a:t>
            </a:r>
            <a:r>
              <a:rPr lang="zh-CN" altLang="en-US" dirty="0" smtClean="0"/>
              <a:t>失调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失调是由于器件的不匹配造成的，属于非理想因素之一，失调和电路的共模抑制比直接相关。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695" y="3181882"/>
            <a:ext cx="5056920" cy="282112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62669" y="5859154"/>
            <a:ext cx="581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os</a:t>
            </a:r>
            <a:r>
              <a:rPr lang="zh-CN" altLang="en-US" sz="2400" dirty="0"/>
              <a:t>就是失调电压</a:t>
            </a:r>
            <a:r>
              <a:rPr lang="en-US" altLang="zh-CN" sz="2400" dirty="0"/>
              <a:t>@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out</a:t>
            </a:r>
            <a:r>
              <a:rPr lang="en-US" altLang="zh-CN" sz="2400" dirty="0"/>
              <a:t>=0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3110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运放的性能参数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）电源抑制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运放经常用在混合系统中，并且有时连接到有噪声的数字系统中，尤其在频率上升时，运放的性能会收到很大影响，全差分结构对提高电源抑制比较有效。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电源抑制</a:t>
            </a:r>
            <a:r>
              <a:rPr lang="zh-CN" altLang="en-US" dirty="0" smtClean="0"/>
              <a:t>比也与失调相关。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7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1742" y="1825625"/>
            <a:ext cx="5272454" cy="18759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dirty="0" smtClean="0"/>
              <a:t>运放概念和性能参数</a:t>
            </a:r>
            <a:endParaRPr lang="en-US" altLang="zh-CN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 smtClean="0"/>
              <a:t>理想运放</a:t>
            </a:r>
            <a:endParaRPr lang="en-US" altLang="zh-CN" sz="3200" b="1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dirty="0" smtClean="0"/>
              <a:t>运放的基本模块</a:t>
            </a:r>
            <a:endParaRPr lang="en-US" altLang="zh-CN" sz="3200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674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理想运放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概念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033" y="2643847"/>
            <a:ext cx="2999967" cy="11918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2619" y="2643847"/>
            <a:ext cx="85229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零任偶（</a:t>
            </a:r>
            <a:r>
              <a:rPr lang="en-US" altLang="zh-CN" sz="2000" dirty="0" err="1"/>
              <a:t>nullor</a:t>
            </a:r>
            <a:r>
              <a:rPr lang="zh-CN" altLang="en-US" sz="2000" dirty="0"/>
              <a:t>）是一种理想的二端口网络，输入端为零极子</a:t>
            </a:r>
            <a:r>
              <a:rPr lang="zh-CN" altLang="en-US" sz="2000" dirty="0" smtClean="0"/>
              <a:t>（端点</a:t>
            </a:r>
            <a:r>
              <a:rPr lang="zh-CN" altLang="en-US" sz="2000" dirty="0"/>
              <a:t>之间的电流及电压均为零），输出端为任意子（输出端口变量之间无相互约束</a:t>
            </a:r>
            <a:r>
              <a:rPr lang="en-US" altLang="zh-CN" sz="2000" dirty="0"/>
              <a:t>,</a:t>
            </a:r>
            <a:r>
              <a:rPr lang="zh-CN" altLang="en-US" sz="2000" dirty="0"/>
              <a:t>可取任意值），零任偶类似一个理想的放大器，其电压增益、电流增益、跨导增益和跨</a:t>
            </a:r>
            <a:r>
              <a:rPr lang="zh-CN" altLang="en-US" sz="2000" dirty="0" smtClean="0"/>
              <a:t>阻抗增益</a:t>
            </a:r>
            <a:r>
              <a:rPr lang="zh-CN" altLang="en-US" sz="2000" dirty="0"/>
              <a:t>都是无限大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sp>
        <p:nvSpPr>
          <p:cNvPr id="8" name="矩形 7"/>
          <p:cNvSpPr/>
          <p:nvPr/>
        </p:nvSpPr>
        <p:spPr>
          <a:xfrm>
            <a:off x="760534" y="4446239"/>
            <a:ext cx="106709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理想放大器是对实际电路中一类特殊器件的抽象，这类器件具有无穷大的输入阻抗、无穷大的电压</a:t>
            </a:r>
            <a:r>
              <a:rPr lang="en-US" altLang="zh-CN" sz="2000" dirty="0"/>
              <a:t>/</a:t>
            </a:r>
            <a:r>
              <a:rPr lang="zh-CN" altLang="en-US" sz="2000" dirty="0"/>
              <a:t>电流增益和</a:t>
            </a:r>
            <a:r>
              <a:rPr lang="en-US" altLang="zh-CN" sz="2000" dirty="0"/>
              <a:t>0</a:t>
            </a:r>
            <a:r>
              <a:rPr lang="zh-CN" altLang="en-US" sz="2000" dirty="0"/>
              <a:t>输出阻抗。</a:t>
            </a:r>
            <a:endParaRPr lang="en-US" altLang="zh-CN" sz="20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用在负反馈网络中表现出所谓的虚短路、虚断路性质。零任偶输出端附近的电路会调整其电压及电流，迫使零任偶输入端的电压及电流为零。</a:t>
            </a:r>
          </a:p>
        </p:txBody>
      </p:sp>
    </p:spTree>
    <p:extLst>
      <p:ext uri="{BB962C8B-B14F-4D97-AF65-F5344CB8AC3E}">
        <p14:creationId xmlns:p14="http://schemas.microsoft.com/office/powerpoint/2010/main" val="3392020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理想运放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27331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/>
                  <a:t>运算反相放大器</a:t>
                </a:r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/>
                  <a:t>电流</a:t>
                </a:r>
                <a:r>
                  <a:rPr lang="en-US" altLang="zh-CN" dirty="0" smtClean="0"/>
                  <a:t>-</a:t>
                </a:r>
                <a:r>
                  <a:rPr lang="zh-CN" altLang="en-US" dirty="0" smtClean="0"/>
                  <a:t>电压转换器</a:t>
                </a:r>
                <a:endParaRPr lang="en-US" altLang="zh-CN" dirty="0" smtClean="0"/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 err="1" smtClean="0"/>
                  <a:t>Nullor</a:t>
                </a:r>
                <a:r>
                  <a:rPr lang="zh-CN" altLang="en-US" dirty="0" smtClean="0"/>
                  <a:t>的输入和输出各有一个端口接地</a:t>
                </a:r>
                <a:endParaRPr lang="en-US" altLang="zh-CN" dirty="0" smtClean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27331" cy="4351338"/>
              </a:xfrm>
              <a:blipFill>
                <a:blip r:embed="rId2"/>
                <a:stretch>
                  <a:fillRect l="-2323" r="-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022" y="2028666"/>
            <a:ext cx="5070662" cy="317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7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理想运放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0984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运算电压放大器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err="1" smtClean="0"/>
              <a:t>Nullor</a:t>
            </a:r>
            <a:r>
              <a:rPr lang="zh-CN" altLang="en-US" dirty="0" smtClean="0"/>
              <a:t>的两个输入端浮动，一个输出端接地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典型应用为正向电压放大器、电压跟随器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046" y="1825625"/>
            <a:ext cx="5200122" cy="2689957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884862"/>
              </p:ext>
            </p:extLst>
          </p:nvPr>
        </p:nvGraphicFramePr>
        <p:xfrm>
          <a:off x="3242408" y="5031198"/>
          <a:ext cx="45958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Equation" r:id="rId4" imgW="1981080" imgH="431640" progId="Equation.DSMT4">
                  <p:embed/>
                </p:oleObj>
              </mc:Choice>
              <mc:Fallback>
                <p:oleObj name="Equation" r:id="rId4" imgW="1981080" imgH="4316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408" y="5031198"/>
                        <a:ext cx="45958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01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理想运放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911969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运算电流放大器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err="1" smtClean="0"/>
              <a:t>Nullor</a:t>
            </a:r>
            <a:r>
              <a:rPr lang="zh-CN" altLang="en-US" dirty="0" smtClean="0"/>
              <a:t>的两个输出端浮动，一个输入端接地。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典型应用为正向电流放大器、电流跟随器。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543050" y="5196254"/>
                <a:ext cx="3207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050" y="5196254"/>
                <a:ext cx="3207929" cy="369332"/>
              </a:xfrm>
              <a:prstGeom prst="rect">
                <a:avLst/>
              </a:prstGeom>
              <a:blipFill>
                <a:blip r:embed="rId2"/>
                <a:stretch>
                  <a:fillRect r="-1711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610957" y="5004984"/>
                <a:ext cx="4166204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57" y="5004984"/>
                <a:ext cx="4166204" cy="751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69" y="1825625"/>
            <a:ext cx="5124205" cy="2676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678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理想运放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OFA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Operational Floating Amplifier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err="1" smtClean="0"/>
              <a:t>Nullor</a:t>
            </a:r>
            <a:r>
              <a:rPr lang="zh-CN" altLang="en-US" dirty="0" smtClean="0"/>
              <a:t>的两个输入端浮动，两个输出端口浮动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典型应用为电压</a:t>
            </a:r>
            <a:r>
              <a:rPr lang="en-US" altLang="zh-CN" dirty="0" smtClean="0"/>
              <a:t>-</a:t>
            </a:r>
            <a:r>
              <a:rPr lang="zh-CN" altLang="en-US" dirty="0" smtClean="0"/>
              <a:t>电流转换器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580541" y="4167554"/>
                <a:ext cx="13744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541" y="4167554"/>
                <a:ext cx="1374415" cy="369332"/>
              </a:xfrm>
              <a:prstGeom prst="rect">
                <a:avLst/>
              </a:prstGeom>
              <a:blipFill>
                <a:blip r:embed="rId2"/>
                <a:stretch>
                  <a:fillRect l="-3982" t="-171667" r="-53097" b="-25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346" y="3450504"/>
            <a:ext cx="4355245" cy="277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3947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理想运放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Nullor</a:t>
            </a:r>
            <a:r>
              <a:rPr lang="zh-CN" altLang="en-US" dirty="0"/>
              <a:t>必须用于负反馈网络才有“虚短路”和“虚断路”，不能开环使用。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Nullor</a:t>
            </a:r>
            <a:r>
              <a:rPr lang="zh-CN" altLang="en-US" dirty="0"/>
              <a:t>的无穷大的增益并不是为了放大信号，而是为了保证负反馈系统环路增益，真正的信号增益一般由无源元件的比例精确的确定。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负反馈还能确定</a:t>
            </a:r>
            <a:r>
              <a:rPr lang="en-US" altLang="zh-CN" dirty="0" err="1"/>
              <a:t>Nullor</a:t>
            </a:r>
            <a:r>
              <a:rPr lang="zh-CN" altLang="en-US" dirty="0"/>
              <a:t>的输入端和输出端的直流工作电压。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07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1742" y="1825625"/>
            <a:ext cx="5272454" cy="18759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dirty="0" smtClean="0"/>
              <a:t>运放概念和性能参数</a:t>
            </a:r>
            <a:endParaRPr lang="en-US" altLang="zh-CN" sz="32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dirty="0" smtClean="0"/>
              <a:t>理想运放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 smtClean="0"/>
              <a:t>运放的基本模块</a:t>
            </a:r>
            <a:endParaRPr lang="en-US" altLang="zh-CN" sz="3200" b="1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49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运放的基本模块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运放的组成模块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177" y="2409385"/>
            <a:ext cx="7541162" cy="128524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8200" y="3582154"/>
            <a:ext cx="98444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输入级：提供高输入阻抗、将差分输入电压转换为电流、提供足够的共模抑制；</a:t>
            </a:r>
            <a:endParaRPr lang="en-US" altLang="zh-CN" sz="24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中间级：提供直流电平移位、提供增益、实现差分电流到单端电流的转换等；</a:t>
            </a:r>
            <a:endParaRPr lang="en-US" altLang="zh-CN" sz="24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输出级：提供较大的输出电流驱动能力，提供低输出阻抗。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0566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输入级 </a:t>
            </a:r>
            <a:r>
              <a:rPr lang="en-US" altLang="zh-CN" dirty="0" smtClean="0"/>
              <a:t>— </a:t>
            </a:r>
            <a:r>
              <a:rPr lang="zh-CN" altLang="en-US" dirty="0" smtClean="0"/>
              <a:t>全差分放大器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23" y="2289771"/>
            <a:ext cx="3458253" cy="2475479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5498698" y="1041741"/>
            <a:ext cx="5148055" cy="3026610"/>
            <a:chOff x="5263572" y="1160538"/>
            <a:chExt cx="5148055" cy="302661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3572" y="1748398"/>
              <a:ext cx="5148055" cy="2438750"/>
            </a:xfrm>
            <a:prstGeom prst="rect">
              <a:avLst/>
            </a:prstGeom>
          </p:spPr>
        </p:pic>
        <p:cxnSp>
          <p:nvCxnSpPr>
            <p:cNvPr id="29" name="直接连接符 28"/>
            <p:cNvCxnSpPr/>
            <p:nvPr/>
          </p:nvCxnSpPr>
          <p:spPr>
            <a:xfrm>
              <a:off x="7156383" y="1833613"/>
              <a:ext cx="1337" cy="2253247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571163" y="1833612"/>
              <a:ext cx="1337" cy="2253247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8750701" y="1464280"/>
              <a:ext cx="1482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V</a:t>
              </a:r>
              <a:r>
                <a:rPr lang="en-US" altLang="zh-CN" b="1" baseline="-25000" dirty="0" smtClean="0"/>
                <a:t>in2</a:t>
              </a:r>
              <a:r>
                <a:rPr lang="en-US" altLang="zh-CN" b="1" dirty="0" smtClean="0"/>
                <a:t>&lt;&lt;V</a:t>
              </a:r>
              <a:r>
                <a:rPr lang="en-US" altLang="zh-CN" b="1" baseline="-25000" dirty="0" smtClean="0"/>
                <a:t>in1</a:t>
              </a:r>
              <a:endParaRPr lang="zh-CN" altLang="en-US" b="1" baseline="-250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857875" y="1506022"/>
              <a:ext cx="1482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V</a:t>
              </a:r>
              <a:r>
                <a:rPr lang="en-US" altLang="zh-CN" b="1" baseline="-25000" dirty="0" smtClean="0"/>
                <a:t>in1</a:t>
              </a:r>
              <a:r>
                <a:rPr lang="en-US" altLang="zh-CN" b="1" dirty="0" smtClean="0"/>
                <a:t>&lt;&lt;V</a:t>
              </a:r>
              <a:r>
                <a:rPr lang="en-US" altLang="zh-CN" b="1" baseline="-25000" dirty="0" smtClean="0"/>
                <a:t>in2</a:t>
              </a:r>
              <a:endParaRPr lang="zh-CN" altLang="en-US" b="1" baseline="-25000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304288" y="1500744"/>
              <a:ext cx="1482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V</a:t>
              </a:r>
              <a:r>
                <a:rPr lang="en-US" altLang="zh-CN" b="1" baseline="-25000" dirty="0" smtClean="0"/>
                <a:t>in1≈</a:t>
              </a:r>
              <a:r>
                <a:rPr lang="en-US" altLang="zh-CN" b="1" dirty="0" smtClean="0"/>
                <a:t>V</a:t>
              </a:r>
              <a:r>
                <a:rPr lang="en-US" altLang="zh-CN" b="1" baseline="-25000" dirty="0" smtClean="0"/>
                <a:t>in2</a:t>
              </a:r>
              <a:endParaRPr lang="zh-CN" altLang="en-US" b="1" baseline="-250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025620" y="1160538"/>
              <a:ext cx="1147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非线性</a:t>
              </a:r>
              <a:endParaRPr lang="zh-CN" altLang="en-US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834967" y="1170884"/>
              <a:ext cx="1147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非线性</a:t>
              </a:r>
              <a:endParaRPr lang="zh-CN" altLang="en-US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319033" y="1170884"/>
              <a:ext cx="1147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线性</a:t>
              </a:r>
              <a:endParaRPr lang="zh-CN" altLang="en-US" dirty="0"/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H="1">
              <a:off x="7892649" y="2324100"/>
              <a:ext cx="455484" cy="5250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8348133" y="1998133"/>
              <a:ext cx="9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平衡点</a:t>
              </a:r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058504" y="4688234"/>
            <a:ext cx="3132499" cy="1993415"/>
            <a:chOff x="1270241" y="4187148"/>
            <a:chExt cx="3132499" cy="1993415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0241" y="4187148"/>
              <a:ext cx="3021316" cy="1993415"/>
            </a:xfrm>
            <a:prstGeom prst="rect">
              <a:avLst/>
            </a:prstGeom>
          </p:spPr>
        </p:pic>
        <p:cxnSp>
          <p:nvCxnSpPr>
            <p:cNvPr id="41" name="直接连接符 40"/>
            <p:cNvCxnSpPr/>
            <p:nvPr/>
          </p:nvCxnSpPr>
          <p:spPr>
            <a:xfrm>
              <a:off x="2604158" y="5038897"/>
              <a:ext cx="353483" cy="58843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H="1">
              <a:off x="2846554" y="5003800"/>
              <a:ext cx="499896" cy="2349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3396265" y="4768850"/>
              <a:ext cx="1006475" cy="383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增益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5596226" y="4177135"/>
            <a:ext cx="4953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栅极输入，输入阻抗很高；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电流源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SS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，抑制共模信号；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将差分输入电压，变换成差分输出电流；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需注意共模输入范围、失调、噪声等。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29328" y="4702462"/>
            <a:ext cx="102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奇函数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2274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输入级 </a:t>
            </a:r>
            <a:r>
              <a:rPr lang="en-US" altLang="zh-CN" dirty="0"/>
              <a:t>— </a:t>
            </a:r>
            <a:r>
              <a:rPr lang="zh-CN" altLang="en-US" dirty="0"/>
              <a:t>全</a:t>
            </a:r>
            <a:r>
              <a:rPr lang="zh-CN" altLang="en-US" dirty="0" smtClean="0"/>
              <a:t>差分放大器</a:t>
            </a:r>
            <a:endParaRPr lang="en-US" altLang="zh-CN" dirty="0" smtClean="0"/>
          </a:p>
          <a:p>
            <a:r>
              <a:rPr lang="zh-CN" altLang="en-US" dirty="0" smtClean="0"/>
              <a:t>共模输入范围</a:t>
            </a:r>
            <a:endParaRPr lang="en-US" altLang="zh-CN" dirty="0" smtClean="0"/>
          </a:p>
          <a:p>
            <a:r>
              <a:rPr lang="zh-CN" altLang="en-US" dirty="0"/>
              <a:t>保证</a:t>
            </a:r>
            <a:r>
              <a:rPr lang="en-US" altLang="zh-CN" dirty="0"/>
              <a:t>M</a:t>
            </a:r>
            <a:r>
              <a:rPr lang="en-US" altLang="zh-CN" baseline="-25000" dirty="0"/>
              <a:t>3</a:t>
            </a:r>
            <a:r>
              <a:rPr lang="zh-CN" altLang="en-US" dirty="0"/>
              <a:t>不进入线性区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保证</a:t>
            </a:r>
            <a:r>
              <a:rPr lang="en-US" altLang="zh-CN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/>
              <a:t>/M</a:t>
            </a:r>
            <a:r>
              <a:rPr lang="en-US" altLang="zh-CN" baseline="-25000" dirty="0"/>
              <a:t>2</a:t>
            </a:r>
            <a:r>
              <a:rPr lang="zh-CN" altLang="en-US" dirty="0"/>
              <a:t>在饱和区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657782" y="3615739"/>
                <a:ext cx="3994555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𝐶𝑀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𝑇𝐻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82" y="3615739"/>
                <a:ext cx="3994555" cy="385555"/>
              </a:xfrm>
              <a:prstGeom prst="rect">
                <a:avLst/>
              </a:prstGeom>
              <a:blipFill>
                <a:blip r:embed="rId2"/>
                <a:stretch>
                  <a:fillRect l="-1221" r="-2137" b="-31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577730" y="4834152"/>
                <a:ext cx="8309647" cy="8218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𝐶𝑀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𝐷𝐷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𝑆𝑆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730" y="4834152"/>
                <a:ext cx="8309647" cy="821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918" y="994569"/>
            <a:ext cx="46482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15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输入级 </a:t>
            </a:r>
            <a:r>
              <a:rPr lang="en-US" altLang="zh-CN" dirty="0"/>
              <a:t>— </a:t>
            </a:r>
            <a:r>
              <a:rPr lang="zh-CN" altLang="en-US" dirty="0"/>
              <a:t>全差分放大器</a:t>
            </a:r>
            <a:endParaRPr lang="en-US" altLang="zh-CN" dirty="0"/>
          </a:p>
          <a:p>
            <a:r>
              <a:rPr lang="zh-CN" altLang="en-US" dirty="0" smtClean="0"/>
              <a:t>跨导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37366" y="2931704"/>
            <a:ext cx="1689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差分电流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237366" y="4343069"/>
            <a:ext cx="1689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差分电压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99483" y="3116936"/>
                <a:ext cx="4242828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𝑜𝑑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𝑆𝑆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83" y="3116936"/>
                <a:ext cx="4242828" cy="10911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99483" y="4593712"/>
                <a:ext cx="4710457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𝑜𝑑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𝑆𝑆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83" y="4593712"/>
                <a:ext cx="4710457" cy="10911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箭头 10"/>
          <p:cNvSpPr/>
          <p:nvPr/>
        </p:nvSpPr>
        <p:spPr>
          <a:xfrm>
            <a:off x="5568479" y="4171681"/>
            <a:ext cx="307731" cy="4220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75579" y="3245100"/>
                <a:ext cx="6135141" cy="919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𝑜𝑑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f>
                            <m:fPr>
                              <m:type m:val="li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579" y="3245100"/>
                <a:ext cx="6135141" cy="919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6056859" y="4679344"/>
                <a:ext cx="3708772" cy="919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𝑜𝑑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859" y="4679344"/>
                <a:ext cx="3708772" cy="919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692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输入级 </a:t>
            </a:r>
            <a:r>
              <a:rPr lang="en-US" altLang="zh-CN" dirty="0"/>
              <a:t>— </a:t>
            </a:r>
            <a:r>
              <a:rPr lang="zh-CN" altLang="en-US" dirty="0"/>
              <a:t>全差分放大器</a:t>
            </a:r>
            <a:endParaRPr lang="en-US" altLang="zh-CN" dirty="0"/>
          </a:p>
          <a:p>
            <a:r>
              <a:rPr lang="zh-CN" altLang="en-US" dirty="0" smtClean="0"/>
              <a:t>共模抑制比</a:t>
            </a:r>
            <a:r>
              <a:rPr lang="en-US" altLang="zh-CN" dirty="0" smtClean="0"/>
              <a:t>-</a:t>
            </a:r>
            <a:r>
              <a:rPr lang="zh-CN" altLang="en-US" dirty="0" smtClean="0"/>
              <a:t>由于失配引起的共模</a:t>
            </a:r>
            <a:r>
              <a:rPr lang="en-US" altLang="zh-CN" dirty="0" smtClean="0"/>
              <a:t>-</a:t>
            </a:r>
            <a:r>
              <a:rPr lang="zh-CN" altLang="en-US" dirty="0" smtClean="0"/>
              <a:t>差模转化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19" y="2665792"/>
            <a:ext cx="2648536" cy="21036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058011" y="2798601"/>
                <a:ext cx="4956485" cy="1838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𝑖𝑐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l-GR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𝑖𝑐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𝑆𝑆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𝑖𝑐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𝑖𝑐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l-GR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011" y="2798601"/>
                <a:ext cx="4956485" cy="1838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02660" y="4856974"/>
                <a:ext cx="4243919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660" y="4856974"/>
                <a:ext cx="4243919" cy="569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858060" y="4849006"/>
                <a:ext cx="3091937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060" y="4849006"/>
                <a:ext cx="3091937" cy="569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940719" y="5423647"/>
            <a:ext cx="106463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差分</a:t>
            </a:r>
            <a:r>
              <a:rPr lang="zh-CN" altLang="en-US" sz="2000" dirty="0" smtClean="0"/>
              <a:t>对完全匹配时，</a:t>
            </a:r>
            <a:r>
              <a:rPr lang="en-US" altLang="zh-CN" sz="2000" dirty="0" err="1" smtClean="0"/>
              <a:t>A</a:t>
            </a:r>
            <a:r>
              <a:rPr lang="en-US" altLang="zh-CN" sz="2000" baseline="-25000" dirty="0" err="1" smtClean="0"/>
              <a:t>vc</a:t>
            </a:r>
            <a:r>
              <a:rPr lang="en-US" altLang="zh-CN" sz="2000" baseline="-25000" dirty="0" smtClean="0"/>
              <a:t>-d</a:t>
            </a:r>
            <a:r>
              <a:rPr lang="en-US" altLang="zh-CN" sz="2000" dirty="0" smtClean="0"/>
              <a:t>=0</a:t>
            </a:r>
            <a:r>
              <a:rPr lang="zh-CN" altLang="en-US" sz="2000" dirty="0" smtClean="0"/>
              <a:t>，实际不可能完全为零，为了提高共模抑制能力，一方面要提高匹配精度，另一方面提高</a:t>
            </a:r>
            <a:r>
              <a:rPr lang="en-US" altLang="zh-CN" sz="2000" dirty="0" smtClean="0"/>
              <a:t>R</a:t>
            </a:r>
            <a:r>
              <a:rPr lang="en-US" altLang="zh-CN" sz="2000" baseline="-25000" dirty="0" smtClean="0"/>
              <a:t>SS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30077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输入级 </a:t>
            </a:r>
            <a:r>
              <a:rPr lang="en-US" altLang="zh-CN" dirty="0" smtClean="0"/>
              <a:t>— </a:t>
            </a:r>
            <a:r>
              <a:rPr lang="zh-CN" altLang="en-US" dirty="0" smtClean="0"/>
              <a:t>轨到轨输入放大器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15" y="2496847"/>
            <a:ext cx="3886006" cy="312593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194685" y="2293981"/>
            <a:ext cx="702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DD</a:t>
            </a:r>
            <a:endParaRPr lang="zh-CN" altLang="en-US" sz="2400" baseline="-25000" dirty="0"/>
          </a:p>
        </p:txBody>
      </p:sp>
      <p:sp>
        <p:nvSpPr>
          <p:cNvPr id="8" name="TextBox 1"/>
          <p:cNvSpPr txBox="1"/>
          <p:nvPr/>
        </p:nvSpPr>
        <p:spPr>
          <a:xfrm>
            <a:off x="5702788" y="2293981"/>
            <a:ext cx="5778500" cy="3311676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差分对要求的输入共模较高，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差分对要求的输入共模较低，两者合并可覆盖轨到轨共模输入范围；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问题：如果采用简单的并联，低共模区、中间共模区、高共模区的输入跨导有明显的变化。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506785"/>
              </p:ext>
            </p:extLst>
          </p:nvPr>
        </p:nvGraphicFramePr>
        <p:xfrm>
          <a:off x="1256030" y="5606430"/>
          <a:ext cx="3126740" cy="773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4" imgW="1854000" imgH="457200" progId="Equation.DSMT4">
                  <p:embed/>
                </p:oleObj>
              </mc:Choice>
              <mc:Fallback>
                <p:oleObj name="Equation" r:id="rId4" imgW="1854000" imgH="4572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030" y="5606430"/>
                        <a:ext cx="3126740" cy="77339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0017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输入级 </a:t>
            </a:r>
            <a:r>
              <a:rPr lang="en-US" altLang="zh-CN" dirty="0"/>
              <a:t>— </a:t>
            </a:r>
            <a:r>
              <a:rPr lang="zh-CN" altLang="en-US" dirty="0"/>
              <a:t>轨到轨输入</a:t>
            </a:r>
            <a:r>
              <a:rPr lang="zh-CN" altLang="en-US" dirty="0" smtClean="0"/>
              <a:t>放大器</a:t>
            </a:r>
            <a:endParaRPr lang="en-US" altLang="zh-CN" dirty="0" smtClean="0"/>
          </a:p>
          <a:p>
            <a:r>
              <a:rPr lang="zh-CN" altLang="en-US" dirty="0"/>
              <a:t>亚</a:t>
            </a:r>
            <a:r>
              <a:rPr lang="zh-CN" altLang="en-US" dirty="0" smtClean="0"/>
              <a:t>阈值区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强反型区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548704" y="3086103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低共模输入：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3478774" y="2775185"/>
                <a:ext cx="1459310" cy="7110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𝑛𝐾𝑇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774" y="2775185"/>
                <a:ext cx="1459310" cy="7110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5567223" y="3028069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高</a:t>
            </a:r>
            <a:r>
              <a:rPr lang="zh-CN" altLang="en-US" sz="2000" dirty="0" smtClean="0"/>
              <a:t>共模输入：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7461268" y="2732443"/>
                <a:ext cx="1459310" cy="7110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𝑛𝐾𝑇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268" y="2732443"/>
                <a:ext cx="1459310" cy="7110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1363520" y="4116763"/>
            <a:ext cx="7984636" cy="2014093"/>
            <a:chOff x="1089200" y="4046008"/>
            <a:chExt cx="8249894" cy="2141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089200" y="4110893"/>
                  <a:ext cx="3575394" cy="9669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低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共模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𝑚𝑝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𝑜𝑥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200" y="4110893"/>
                  <a:ext cx="3575394" cy="9669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5750979" y="4046008"/>
                  <a:ext cx="3588115" cy="9669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高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共模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𝑜𝑥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0979" y="4046008"/>
                  <a:ext cx="3588115" cy="966934"/>
                </a:xfrm>
                <a:prstGeom prst="rect">
                  <a:avLst/>
                </a:prstGeom>
                <a:blipFill>
                  <a:blip r:embed="rId5"/>
                  <a:stretch>
                    <a:fillRect b="-6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280536" y="5220704"/>
                  <a:ext cx="7370076" cy="9669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中间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共模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𝑚𝑝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𝑜𝑥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ra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𝑜𝑥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536" y="5220704"/>
                  <a:ext cx="7370076" cy="9669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05311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33167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为了解决跨导的明显变化，应该使得：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解决方案</a:t>
            </a:r>
            <a:r>
              <a:rPr lang="en-US" altLang="zh-CN" dirty="0" smtClean="0"/>
              <a:t>:</a:t>
            </a:r>
            <a:r>
              <a:rPr lang="zh-CN" altLang="en-US" dirty="0"/>
              <a:t>将</a:t>
            </a:r>
            <a:r>
              <a:rPr lang="zh-CN" altLang="en-US" dirty="0" smtClean="0"/>
              <a:t>两个差分对单独工作时的电流变为共同工作的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倍即可。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742" y="1396307"/>
            <a:ext cx="6261954" cy="3777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722188" y="2637692"/>
                <a:ext cx="2300181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𝑚𝑝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CT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188" y="2637692"/>
                <a:ext cx="2300181" cy="397866"/>
              </a:xfrm>
              <a:prstGeom prst="rect">
                <a:avLst/>
              </a:prstGeom>
              <a:blipFill>
                <a:blip r:embed="rId3"/>
                <a:stretch>
                  <a:fillRect l="-2387" r="-2387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494997" y="5343323"/>
                <a:ext cx="4132734" cy="752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skw"/>
                              <m:ctrlP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skw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skw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997" y="5343323"/>
                <a:ext cx="4132734" cy="7520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911147" y="5524642"/>
                <a:ext cx="2677849" cy="540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𝐵𝑛</m:t>
                              </m:r>
                            </m:sub>
                          </m:sSub>
                        </m:e>
                      </m:ra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𝐵𝑃</m:t>
                              </m:r>
                            </m:sub>
                          </m:sSub>
                        </m:e>
                      </m:ra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CT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147" y="5524642"/>
                <a:ext cx="2677849" cy="540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946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轨到轨放大器（举例）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36</a:t>
            </a:fld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639757"/>
              </p:ext>
            </p:extLst>
          </p:nvPr>
        </p:nvGraphicFramePr>
        <p:xfrm>
          <a:off x="1723292" y="5375007"/>
          <a:ext cx="1477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" name="Equation" r:id="rId3" imgW="761760" imgH="228600" progId="Equation.DSMT4">
                  <p:embed/>
                </p:oleObj>
              </mc:Choice>
              <mc:Fallback>
                <p:oleObj name="Equation" r:id="rId3" imgW="761760" imgH="228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292" y="5375007"/>
                        <a:ext cx="1477963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"/>
          <p:cNvSpPr txBox="1"/>
          <p:nvPr/>
        </p:nvSpPr>
        <p:spPr>
          <a:xfrm>
            <a:off x="3505200" y="5277820"/>
            <a:ext cx="7848600" cy="54168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ct val="150000"/>
              </a:lnSpc>
              <a:tabLst>
                <a:tab pos="1320800" algn="l"/>
              </a:tabLst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baseline="-250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截止，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R2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电流通过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400" baseline="-250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zh-CN" altLang="en-US" sz="2400" baseline="-250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注入并于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R1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叠加。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537532"/>
              </p:ext>
            </p:extLst>
          </p:nvPr>
        </p:nvGraphicFramePr>
        <p:xfrm>
          <a:off x="910492" y="5867400"/>
          <a:ext cx="22907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" name="Equation" r:id="rId5" imgW="1180800" imgH="228600" progId="Equation.DSMT4">
                  <p:embed/>
                </p:oleObj>
              </mc:Choice>
              <mc:Fallback>
                <p:oleObj name="Equation" r:id="rId5" imgW="1180800" imgH="228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492" y="5867400"/>
                        <a:ext cx="2290763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"/>
          <p:cNvSpPr txBox="1"/>
          <p:nvPr/>
        </p:nvSpPr>
        <p:spPr>
          <a:xfrm>
            <a:off x="3505200" y="5768666"/>
            <a:ext cx="8077201" cy="54168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ct val="150000"/>
              </a:lnSpc>
              <a:tabLst>
                <a:tab pos="1320800" algn="l"/>
              </a:tabLst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baseline="-250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截止，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R1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电流通过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400" baseline="-250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zh-CN" altLang="en-US" sz="2400" baseline="-250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注入并于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R2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叠加。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402937" y="2234052"/>
            <a:ext cx="5928263" cy="3177158"/>
            <a:chOff x="325217" y="2201583"/>
            <a:chExt cx="5498694" cy="282992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5217" y="2201583"/>
              <a:ext cx="5498694" cy="2829924"/>
            </a:xfrm>
            <a:prstGeom prst="rect">
              <a:avLst/>
            </a:prstGeom>
          </p:spPr>
        </p:pic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823397"/>
                </p:ext>
              </p:extLst>
            </p:nvPr>
          </p:nvGraphicFramePr>
          <p:xfrm>
            <a:off x="2758658" y="3236695"/>
            <a:ext cx="32067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"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8658" y="3236695"/>
                          <a:ext cx="320675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249991"/>
                </p:ext>
              </p:extLst>
            </p:nvPr>
          </p:nvGraphicFramePr>
          <p:xfrm>
            <a:off x="2914226" y="3832214"/>
            <a:ext cx="32067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5" name="Equation" r:id="rId10" imgW="164880" imgH="241200" progId="Equation.DSMT4">
                    <p:embed/>
                  </p:oleObj>
                </mc:Choice>
                <mc:Fallback>
                  <p:oleObj name="Equation" r:id="rId10" imgW="164880" imgH="2412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226" y="3832214"/>
                          <a:ext cx="320675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5888190"/>
                </p:ext>
              </p:extLst>
            </p:nvPr>
          </p:nvGraphicFramePr>
          <p:xfrm>
            <a:off x="1362762" y="3492322"/>
            <a:ext cx="37147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6" name="Equation" r:id="rId12" imgW="190440" imgH="228600" progId="Equation.DSMT4">
                    <p:embed/>
                  </p:oleObj>
                </mc:Choice>
                <mc:Fallback>
                  <p:oleObj name="Equation" r:id="rId12" imgW="190440" imgH="22860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2762" y="3492322"/>
                          <a:ext cx="371475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9446968"/>
                </p:ext>
              </p:extLst>
            </p:nvPr>
          </p:nvGraphicFramePr>
          <p:xfrm>
            <a:off x="686004" y="3446245"/>
            <a:ext cx="395287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7" name="Equation" r:id="rId14" imgW="203040" imgH="241200" progId="Equation.DSMT4">
                    <p:embed/>
                  </p:oleObj>
                </mc:Choice>
                <mc:Fallback>
                  <p:oleObj name="Equation" r:id="rId14" imgW="203040" imgH="24120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004" y="3446245"/>
                          <a:ext cx="395287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" name="直接箭头连接符 16"/>
            <p:cNvCxnSpPr/>
            <p:nvPr/>
          </p:nvCxnSpPr>
          <p:spPr>
            <a:xfrm>
              <a:off x="2365248" y="2911348"/>
              <a:ext cx="306832" cy="2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>
              <a:off x="2209038" y="3030409"/>
              <a:ext cx="31242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2268311" y="4252468"/>
              <a:ext cx="306832" cy="2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H="1">
              <a:off x="2262723" y="4468049"/>
              <a:ext cx="31242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4205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3938" y="1591482"/>
            <a:ext cx="5339862" cy="3950921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如果电流镜内都有电流通过，则电流镜结构仍然可以保证电流恒定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上述结构保证了流过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差分对的电流和恒定，对于亚阈值区差分对，可保证跨导恒定。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37</a:t>
            </a:fld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35171" y="5417476"/>
            <a:ext cx="6406857" cy="959237"/>
            <a:chOff x="1156188" y="4937749"/>
            <a:chExt cx="6406857" cy="9592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156188" y="4937749"/>
                  <a:ext cx="2917081" cy="9592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188" y="4937749"/>
                  <a:ext cx="2917081" cy="9592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右箭头 7"/>
            <p:cNvSpPr/>
            <p:nvPr/>
          </p:nvSpPr>
          <p:spPr>
            <a:xfrm>
              <a:off x="4280871" y="5254949"/>
              <a:ext cx="228600" cy="2725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4717073" y="5191976"/>
                  <a:ext cx="2845972" cy="3985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7073" y="5191976"/>
                  <a:ext cx="2845972" cy="398507"/>
                </a:xfrm>
                <a:prstGeom prst="rect">
                  <a:avLst/>
                </a:prstGeom>
                <a:blipFill>
                  <a:blip r:embed="rId6"/>
                  <a:stretch>
                    <a:fillRect l="-1713" r="-214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文本框 10"/>
          <p:cNvSpPr txBox="1"/>
          <p:nvPr/>
        </p:nvSpPr>
        <p:spPr>
          <a:xfrm>
            <a:off x="615363" y="1684526"/>
            <a:ext cx="4607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恒定跨导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亚阈值区情形</a:t>
            </a:r>
            <a:endParaRPr lang="zh-CN" altLang="en-US" sz="28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25217" y="2201583"/>
            <a:ext cx="5498694" cy="2829924"/>
            <a:chOff x="325217" y="2201583"/>
            <a:chExt cx="5498694" cy="282992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5217" y="2201583"/>
              <a:ext cx="5498694" cy="2829924"/>
            </a:xfrm>
            <a:prstGeom prst="rect">
              <a:avLst/>
            </a:prstGeom>
          </p:spPr>
        </p:pic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6167884"/>
                </p:ext>
              </p:extLst>
            </p:nvPr>
          </p:nvGraphicFramePr>
          <p:xfrm>
            <a:off x="2758658" y="3236695"/>
            <a:ext cx="32067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8"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8658" y="3236695"/>
                          <a:ext cx="320675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3954468"/>
                </p:ext>
              </p:extLst>
            </p:nvPr>
          </p:nvGraphicFramePr>
          <p:xfrm>
            <a:off x="2914226" y="3832214"/>
            <a:ext cx="32067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9" name="Equation" r:id="rId10" imgW="164880" imgH="241200" progId="Equation.DSMT4">
                    <p:embed/>
                  </p:oleObj>
                </mc:Choice>
                <mc:Fallback>
                  <p:oleObj name="Equation" r:id="rId10" imgW="164880" imgH="24120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226" y="3832214"/>
                          <a:ext cx="320675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7336898"/>
                </p:ext>
              </p:extLst>
            </p:nvPr>
          </p:nvGraphicFramePr>
          <p:xfrm>
            <a:off x="1362762" y="3492322"/>
            <a:ext cx="37147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0" name="Equation" r:id="rId12" imgW="190440" imgH="228600" progId="Equation.DSMT4">
                    <p:embed/>
                  </p:oleObj>
                </mc:Choice>
                <mc:Fallback>
                  <p:oleObj name="Equation" r:id="rId12" imgW="190440" imgH="22860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2762" y="3492322"/>
                          <a:ext cx="371475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0672266"/>
                </p:ext>
              </p:extLst>
            </p:nvPr>
          </p:nvGraphicFramePr>
          <p:xfrm>
            <a:off x="686004" y="3446245"/>
            <a:ext cx="395287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1" name="Equation" r:id="rId14" imgW="203040" imgH="241200" progId="Equation.DSMT4">
                    <p:embed/>
                  </p:oleObj>
                </mc:Choice>
                <mc:Fallback>
                  <p:oleObj name="Equation" r:id="rId14" imgW="203040" imgH="24120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004" y="3446245"/>
                          <a:ext cx="395287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" name="直接箭头连接符 16"/>
            <p:cNvCxnSpPr/>
            <p:nvPr/>
          </p:nvCxnSpPr>
          <p:spPr>
            <a:xfrm>
              <a:off x="2365248" y="2911348"/>
              <a:ext cx="306832" cy="2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>
              <a:off x="2209038" y="3030409"/>
              <a:ext cx="31242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2268311" y="4252468"/>
              <a:ext cx="306832" cy="2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H="1">
              <a:off x="2262723" y="4468049"/>
              <a:ext cx="31242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102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恒定跨导</a:t>
            </a:r>
            <a:r>
              <a:rPr lang="en-US" altLang="zh-CN" dirty="0" smtClean="0"/>
              <a:t>-</a:t>
            </a:r>
            <a:r>
              <a:rPr lang="zh-CN" altLang="en-US" dirty="0" smtClean="0"/>
              <a:t>强反型区情形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考虑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</a:rPr>
              <a:t>R1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=2I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</a:rPr>
              <a:t>R2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=2I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。在电流镜的比例为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1:1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的条件下，低共模下有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4I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电流注入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，高共模下有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4I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注入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。在中间情形，各有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分别注入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电流镜的比例为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1:3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的条件下，低共模下有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8I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电流注入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，高共模下有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8I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注入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。在中间情形，各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有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分别注入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38</a:t>
            </a:fld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546978"/>
              </p:ext>
            </p:extLst>
          </p:nvPr>
        </p:nvGraphicFramePr>
        <p:xfrm>
          <a:off x="602640" y="5786529"/>
          <a:ext cx="4822213" cy="473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" name="Equation" r:id="rId3" imgW="2730240" imgH="266400" progId="Equation.DSMT4">
                  <p:embed/>
                </p:oleObj>
              </mc:Choice>
              <mc:Fallback>
                <p:oleObj name="Equation" r:id="rId3" imgW="2730240" imgH="2664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40" y="5786529"/>
                        <a:ext cx="4822213" cy="4731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152083"/>
              </p:ext>
            </p:extLst>
          </p:nvPr>
        </p:nvGraphicFramePr>
        <p:xfrm>
          <a:off x="804863" y="4018255"/>
          <a:ext cx="4788144" cy="46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5" name="Equation" r:id="rId5" imgW="2730240" imgH="266400" progId="Equation.DSMT4">
                  <p:embed/>
                </p:oleObj>
              </mc:Choice>
              <mc:Fallback>
                <p:oleObj name="Equation" r:id="rId5" imgW="2730240" imgH="2664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4018255"/>
                        <a:ext cx="4788144" cy="4697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900551"/>
              </p:ext>
            </p:extLst>
          </p:nvPr>
        </p:nvGraphicFramePr>
        <p:xfrm>
          <a:off x="6096000" y="4018255"/>
          <a:ext cx="4964723" cy="47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" name="Equation" r:id="rId7" imgW="2793960" imgH="266400" progId="Equation.DSMT4">
                  <p:embed/>
                </p:oleObj>
              </mc:Choice>
              <mc:Fallback>
                <p:oleObj name="Equation" r:id="rId7" imgW="2793960" imgH="2664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018255"/>
                        <a:ext cx="4964723" cy="47594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872935" y="5786529"/>
                <a:ext cx="5228867" cy="377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𝑀𝑖𝑑𝑑𝑙𝑒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𝑉𝐶𝑀𝐼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𝑚𝑡𝑜𝑡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𝑚𝑝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ra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935" y="5786529"/>
                <a:ext cx="5228867" cy="377219"/>
              </a:xfrm>
              <a:prstGeom prst="rect">
                <a:avLst/>
              </a:prstGeom>
              <a:blipFill>
                <a:blip r:embed="rId9"/>
                <a:stretch>
                  <a:fillRect l="-583" b="-17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380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878798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中</a:t>
            </a:r>
            <a:r>
              <a:rPr lang="zh-CN" altLang="en-US" dirty="0" smtClean="0"/>
              <a:t>间级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为恒定电流偏置，而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为来自前级的差分电流，则输出电流可以表示为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：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上述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结构可将差分电流转换为单端电流，同时输出级为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Cascode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结构，阻抗较高，可提供较大增益。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39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893222" y="1286873"/>
            <a:ext cx="3088978" cy="5148764"/>
            <a:chOff x="736600" y="1313250"/>
            <a:chExt cx="3088978" cy="5148764"/>
          </a:xfrm>
        </p:grpSpPr>
        <p:sp>
          <p:nvSpPr>
            <p:cNvPr id="7" name="Freeform 3"/>
            <p:cNvSpPr/>
            <p:nvPr/>
          </p:nvSpPr>
          <p:spPr>
            <a:xfrm>
              <a:off x="1474411" y="4006850"/>
              <a:ext cx="1437132" cy="2455164"/>
            </a:xfrm>
            <a:custGeom>
              <a:avLst/>
              <a:gdLst>
                <a:gd name="connsiteX0" fmla="*/ 0 w 1437132"/>
                <a:gd name="connsiteY0" fmla="*/ 0 h 2455164"/>
                <a:gd name="connsiteX1" fmla="*/ 0 w 1437132"/>
                <a:gd name="connsiteY1" fmla="*/ 2455164 h 2455164"/>
                <a:gd name="connsiteX2" fmla="*/ 1437131 w 1437132"/>
                <a:gd name="connsiteY2" fmla="*/ 2455164 h 2455164"/>
                <a:gd name="connsiteX3" fmla="*/ 1437131 w 1437132"/>
                <a:gd name="connsiteY3" fmla="*/ 0 h 2455164"/>
                <a:gd name="connsiteX4" fmla="*/ 0 w 1437132"/>
                <a:gd name="connsiteY4" fmla="*/ 0 h 2455164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1437132" h="2455164">
                  <a:moveTo>
                    <a:pt x="0" y="0"/>
                  </a:moveTo>
                  <a:lnTo>
                    <a:pt x="0" y="2455164"/>
                  </a:lnTo>
                  <a:lnTo>
                    <a:pt x="1437131" y="2455164"/>
                  </a:lnTo>
                  <a:lnTo>
                    <a:pt x="1437131" y="0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4300" y="1313250"/>
              <a:ext cx="2441278" cy="5055800"/>
            </a:xfrm>
            <a:prstGeom prst="rect">
              <a:avLst/>
            </a:prstGeom>
          </p:spPr>
        </p:pic>
        <p:cxnSp>
          <p:nvCxnSpPr>
            <p:cNvPr id="9" name="直接箭头连接符 8"/>
            <p:cNvCxnSpPr/>
            <p:nvPr/>
          </p:nvCxnSpPr>
          <p:spPr>
            <a:xfrm>
              <a:off x="1765300" y="5835650"/>
              <a:ext cx="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2617639" y="5835650"/>
              <a:ext cx="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1017210" y="5226050"/>
              <a:ext cx="457201" cy="83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1029910" y="4921250"/>
              <a:ext cx="457201" cy="83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9554543"/>
                </p:ext>
              </p:extLst>
            </p:nvPr>
          </p:nvGraphicFramePr>
          <p:xfrm>
            <a:off x="781050" y="4634929"/>
            <a:ext cx="222250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1" name="Equation" r:id="rId4" imgW="114120" imgH="228600" progId="Equation.DSMT4">
                    <p:embed/>
                  </p:oleObj>
                </mc:Choice>
                <mc:Fallback>
                  <p:oleObj name="Equation" r:id="rId4" imgW="114120" imgH="2286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050" y="4634929"/>
                          <a:ext cx="222250" cy="442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6641090"/>
                </p:ext>
              </p:extLst>
            </p:nvPr>
          </p:nvGraphicFramePr>
          <p:xfrm>
            <a:off x="736600" y="5005388"/>
            <a:ext cx="24765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2" name="Equation" r:id="rId6" imgW="126720" imgH="228600" progId="Equation.DSMT4">
                    <p:embed/>
                  </p:oleObj>
                </mc:Choice>
                <mc:Fallback>
                  <p:oleObj name="Equation" r:id="rId6" imgW="126720" imgH="2286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600" y="5005388"/>
                          <a:ext cx="247650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8705093"/>
                </p:ext>
              </p:extLst>
            </p:nvPr>
          </p:nvGraphicFramePr>
          <p:xfrm>
            <a:off x="1446213" y="5749925"/>
            <a:ext cx="347662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"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213" y="5749925"/>
                          <a:ext cx="347662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7878477"/>
                </p:ext>
              </p:extLst>
            </p:nvPr>
          </p:nvGraphicFramePr>
          <p:xfrm>
            <a:off x="2262188" y="5759450"/>
            <a:ext cx="347662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4"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188" y="5759450"/>
                          <a:ext cx="347662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673762"/>
              </p:ext>
            </p:extLst>
          </p:nvPr>
        </p:nvGraphicFramePr>
        <p:xfrm>
          <a:off x="2467124" y="3758223"/>
          <a:ext cx="34448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" name="Equation" r:id="rId12" imgW="1777680" imgH="228600" progId="Equation.DSMT4">
                  <p:embed/>
                </p:oleObj>
              </mc:Choice>
              <mc:Fallback>
                <p:oleObj name="Equation" r:id="rId12" imgW="1777680" imgH="2286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124" y="3758223"/>
                        <a:ext cx="344487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2293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338827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为恒定电流偏置，而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为来自前级的差分电流，则输出电流可以表示为：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40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970776" y="706126"/>
            <a:ext cx="4018200" cy="5252800"/>
            <a:chOff x="469900" y="1187450"/>
            <a:chExt cx="4018200" cy="525280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9500" y="1187450"/>
              <a:ext cx="3408600" cy="5252800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>
              <a:off x="1612900" y="5911850"/>
              <a:ext cx="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2374900" y="5911850"/>
              <a:ext cx="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750510" y="5359971"/>
              <a:ext cx="457201" cy="83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763210" y="5055171"/>
              <a:ext cx="457201" cy="83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26986"/>
                </p:ext>
              </p:extLst>
            </p:nvPr>
          </p:nvGraphicFramePr>
          <p:xfrm>
            <a:off x="514350" y="4768850"/>
            <a:ext cx="222250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1" name="Equation" r:id="rId4" imgW="114120" imgH="228600" progId="Equation.DSMT4">
                    <p:embed/>
                  </p:oleObj>
                </mc:Choice>
                <mc:Fallback>
                  <p:oleObj name="Equation" r:id="rId4" imgW="114120" imgH="2286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350" y="4768850"/>
                          <a:ext cx="222250" cy="442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8465786"/>
                </p:ext>
              </p:extLst>
            </p:nvPr>
          </p:nvGraphicFramePr>
          <p:xfrm>
            <a:off x="469900" y="5139309"/>
            <a:ext cx="24765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" name="Equation" r:id="rId6" imgW="126720" imgH="228600" progId="Equation.DSMT4">
                    <p:embed/>
                  </p:oleObj>
                </mc:Choice>
                <mc:Fallback>
                  <p:oleObj name="Equation" r:id="rId6" imgW="126720" imgH="2286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00" y="5139309"/>
                          <a:ext cx="247650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818212"/>
                </p:ext>
              </p:extLst>
            </p:nvPr>
          </p:nvGraphicFramePr>
          <p:xfrm>
            <a:off x="1231900" y="5851525"/>
            <a:ext cx="347662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3"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1900" y="5851525"/>
                          <a:ext cx="347662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1681991"/>
                </p:ext>
              </p:extLst>
            </p:nvPr>
          </p:nvGraphicFramePr>
          <p:xfrm>
            <a:off x="1993900" y="5851525"/>
            <a:ext cx="347662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4"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900" y="5851525"/>
                          <a:ext cx="347662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箭头连接符 15"/>
            <p:cNvCxnSpPr/>
            <p:nvPr/>
          </p:nvCxnSpPr>
          <p:spPr>
            <a:xfrm>
              <a:off x="1765299" y="3617468"/>
              <a:ext cx="457201" cy="83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2555199" y="3930650"/>
              <a:ext cx="457201" cy="83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353721"/>
                </p:ext>
              </p:extLst>
            </p:nvPr>
          </p:nvGraphicFramePr>
          <p:xfrm>
            <a:off x="2222500" y="3382963"/>
            <a:ext cx="222250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5" name="Equation" r:id="rId12" imgW="114120" imgH="241200" progId="Equation.DSMT4">
                    <p:embed/>
                  </p:oleObj>
                </mc:Choice>
                <mc:Fallback>
                  <p:oleObj name="Equation" r:id="rId12" imgW="114120" imgH="241200" progId="Equation.DSMT4">
                    <p:embed/>
                    <p:pic>
                      <p:nvPicPr>
                        <p:cNvPr id="29" name="对象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2500" y="3382963"/>
                          <a:ext cx="222250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4247311"/>
                </p:ext>
              </p:extLst>
            </p:nvPr>
          </p:nvGraphicFramePr>
          <p:xfrm>
            <a:off x="2973388" y="3625850"/>
            <a:ext cx="246062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6" name="Equation" r:id="rId14" imgW="126720" imgH="241200" progId="Equation.DSMT4">
                    <p:embed/>
                  </p:oleObj>
                </mc:Choice>
                <mc:Fallback>
                  <p:oleObj name="Equation" r:id="rId14" imgW="126720" imgH="241200" progId="Equation.DSMT4">
                    <p:embed/>
                    <p:pic>
                      <p:nvPicPr>
                        <p:cNvPr id="3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3388" y="3625850"/>
                          <a:ext cx="246062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箭头连接符 19"/>
            <p:cNvCxnSpPr/>
            <p:nvPr/>
          </p:nvCxnSpPr>
          <p:spPr>
            <a:xfrm>
              <a:off x="1595120" y="1797050"/>
              <a:ext cx="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1162153"/>
                </p:ext>
              </p:extLst>
            </p:nvPr>
          </p:nvGraphicFramePr>
          <p:xfrm>
            <a:off x="1260158" y="1728787"/>
            <a:ext cx="347662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7" name="Equation" r:id="rId16" imgW="177480" imgH="228600" progId="Equation.DSMT4">
                    <p:embed/>
                  </p:oleObj>
                </mc:Choice>
                <mc:Fallback>
                  <p:oleObj name="Equation" r:id="rId16" imgW="177480" imgH="228600" progId="Equation.DSMT4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0158" y="1728787"/>
                          <a:ext cx="347662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2" name="直接箭头连接符 21"/>
            <p:cNvCxnSpPr/>
            <p:nvPr/>
          </p:nvCxnSpPr>
          <p:spPr>
            <a:xfrm>
              <a:off x="2362200" y="1789113"/>
              <a:ext cx="0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986215"/>
                </p:ext>
              </p:extLst>
            </p:nvPr>
          </p:nvGraphicFramePr>
          <p:xfrm>
            <a:off x="2027238" y="1720850"/>
            <a:ext cx="347662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8" name="Equation" r:id="rId17" imgW="177480" imgH="228600" progId="Equation.DSMT4">
                    <p:embed/>
                  </p:oleObj>
                </mc:Choice>
                <mc:Fallback>
                  <p:oleObj name="Equation" r:id="rId17" imgW="177480" imgH="228600" progId="Equation.DSMT4">
                    <p:embed/>
                    <p:pic>
                      <p:nvPicPr>
                        <p:cNvPr id="34" name="对象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7238" y="1720850"/>
                          <a:ext cx="347662" cy="441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412083"/>
              </p:ext>
            </p:extLst>
          </p:nvPr>
        </p:nvGraphicFramePr>
        <p:xfrm>
          <a:off x="4003739" y="3301022"/>
          <a:ext cx="22637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" name="Equation" r:id="rId18" imgW="1168200" imgH="482400" progId="Equation.DSMT4">
                  <p:embed/>
                </p:oleObj>
              </mc:Choice>
              <mc:Fallback>
                <p:oleObj name="Equation" r:id="rId18" imgW="1168200" imgH="4824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739" y="3301022"/>
                        <a:ext cx="2263775" cy="938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1"/>
          <p:cNvSpPr txBox="1"/>
          <p:nvPr/>
        </p:nvSpPr>
        <p:spPr>
          <a:xfrm>
            <a:off x="1187765" y="4340416"/>
            <a:ext cx="5141662" cy="1985159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ct val="150000"/>
              </a:lnSpc>
              <a:tabLst>
                <a:tab pos="1320800" algn="l"/>
              </a:tabLst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上述结构可将差分电流直接输出，同时输出级为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Cascode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结构，阻抗较高，可提供较大增益。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806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36123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中间级（例）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该中间级可提供较大的级间增益。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注意电流源负载和尾电流源的电流比例。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需要共模反馈稳定工作点。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58" y="1119187"/>
            <a:ext cx="2927542" cy="473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64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共模反馈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 smtClean="0"/>
              <a:t>必要性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94" y="1375070"/>
            <a:ext cx="8271986" cy="498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79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共模反馈原理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160" y="2387075"/>
            <a:ext cx="7714932" cy="387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00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运放的基本模块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输出级</a:t>
            </a:r>
            <a:r>
              <a:rPr lang="en-US" altLang="zh-CN" dirty="0" smtClean="0"/>
              <a:t>-A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11114"/>
            <a:ext cx="3026508" cy="3180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945571" y="1058214"/>
                <a:ext cx="24238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571" y="1058214"/>
                <a:ext cx="2423869" cy="369332"/>
              </a:xfrm>
              <a:prstGeom prst="rect">
                <a:avLst/>
              </a:prstGeom>
              <a:blipFill>
                <a:blip r:embed="rId4"/>
                <a:stretch>
                  <a:fillRect l="-1005" r="-3769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945571" y="1603832"/>
                <a:ext cx="27132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571" y="1603832"/>
                <a:ext cx="2713243" cy="369332"/>
              </a:xfrm>
              <a:prstGeom prst="rect">
                <a:avLst/>
              </a:prstGeom>
              <a:blipFill>
                <a:blip r:embed="rId5"/>
                <a:stretch>
                  <a:fillRect l="-1798" r="-1798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946410" y="2091005"/>
                <a:ext cx="31621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410" y="2091005"/>
                <a:ext cx="3162148" cy="369332"/>
              </a:xfrm>
              <a:prstGeom prst="rect">
                <a:avLst/>
              </a:prstGeom>
              <a:blipFill>
                <a:blip r:embed="rId6"/>
                <a:stretch>
                  <a:fillRect l="-1541" r="-1541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946410" y="2637582"/>
                <a:ext cx="17198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410" y="2637582"/>
                <a:ext cx="1719830" cy="369332"/>
              </a:xfrm>
              <a:prstGeom prst="rect">
                <a:avLst/>
              </a:prstGeom>
              <a:blipFill>
                <a:blip r:embed="rId7"/>
                <a:stretch>
                  <a:fillRect l="-353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929141" y="3182241"/>
                <a:ext cx="59625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𝐷𝐷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41" y="3182241"/>
                <a:ext cx="5962594" cy="369332"/>
              </a:xfrm>
              <a:prstGeom prst="rect">
                <a:avLst/>
              </a:prstGeom>
              <a:blipFill>
                <a:blip r:embed="rId8"/>
                <a:stretch>
                  <a:fillRect l="-61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703072" y="3812004"/>
                <a:ext cx="4266937" cy="922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072" y="3812004"/>
                <a:ext cx="4266937" cy="9229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4236141" y="4908189"/>
                <a:ext cx="78345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𝐷𝐷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𝐷𝐷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141" y="4908189"/>
                <a:ext cx="7834517" cy="369332"/>
              </a:xfrm>
              <a:prstGeom prst="rect">
                <a:avLst/>
              </a:prstGeom>
              <a:blipFill>
                <a:blip r:embed="rId10"/>
                <a:stretch>
                  <a:fillRect t="-167213" b="-2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569051"/>
              </p:ext>
            </p:extLst>
          </p:nvPr>
        </p:nvGraphicFramePr>
        <p:xfrm>
          <a:off x="5254992" y="5494107"/>
          <a:ext cx="6025539" cy="818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11" imgW="3365280" imgH="457200" progId="Equation.DSMT4">
                  <p:embed/>
                </p:oleObj>
              </mc:Choice>
              <mc:Fallback>
                <p:oleObj name="Equation" r:id="rId11" imgW="3365280" imgH="457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992" y="5494107"/>
                        <a:ext cx="6025539" cy="8189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4047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531577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输出级</a:t>
            </a:r>
            <a:r>
              <a:rPr lang="en-US" altLang="zh-CN" dirty="0" smtClean="0"/>
              <a:t>-B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 algn="just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为克服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类输出级效率低的问题，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采用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类输出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级。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晶体管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分别导通半个周期；输入信号为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时，输出级的电流也很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小。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233" y="1542472"/>
            <a:ext cx="2745032" cy="314890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648" y="1523632"/>
            <a:ext cx="2777881" cy="318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47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3940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输出级</a:t>
            </a:r>
            <a:r>
              <a:rPr lang="en-US" altLang="zh-CN" dirty="0" smtClean="0"/>
              <a:t>-B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左图的输出级可以达到轨到轨输出，但是前级的电压必须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抬高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右图也可达到轨到轨输出，前级电压不需抬高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368" y="1709528"/>
            <a:ext cx="2745032" cy="314890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783" y="1690688"/>
            <a:ext cx="2777881" cy="318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125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输出级</a:t>
            </a:r>
            <a:r>
              <a:rPr lang="en-US" altLang="zh-CN" dirty="0" smtClean="0"/>
              <a:t>-B</a:t>
            </a:r>
            <a:r>
              <a:rPr lang="zh-CN" altLang="en-US" dirty="0" smtClean="0"/>
              <a:t>类的效率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47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4114800" y="1515004"/>
            <a:ext cx="6202396" cy="2694537"/>
            <a:chOff x="1404938" y="1147106"/>
            <a:chExt cx="7778050" cy="3640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938" y="1147106"/>
              <a:ext cx="3173138" cy="3640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3500" y="1537663"/>
              <a:ext cx="2769488" cy="2721600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3025316" y="4397208"/>
            <a:ext cx="6956883" cy="1714927"/>
            <a:chOff x="2146300" y="4540250"/>
            <a:chExt cx="8001000" cy="2205038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841941"/>
                </p:ext>
              </p:extLst>
            </p:nvPr>
          </p:nvGraphicFramePr>
          <p:xfrm>
            <a:off x="4202113" y="4540250"/>
            <a:ext cx="2238375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42" name="Equation" r:id="rId5" imgW="965160" imgH="241200" progId="Equation.DSMT4">
                    <p:embed/>
                  </p:oleObj>
                </mc:Choice>
                <mc:Fallback>
                  <p:oleObj name="Equation" r:id="rId5" imgW="965160" imgH="24120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2113" y="4540250"/>
                          <a:ext cx="2238375" cy="5603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9375786"/>
                </p:ext>
              </p:extLst>
            </p:nvPr>
          </p:nvGraphicFramePr>
          <p:xfrm>
            <a:off x="2146300" y="5022850"/>
            <a:ext cx="6715125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43" name="Equation" r:id="rId7" imgW="2895480" imgH="393480" progId="Equation.DSMT4">
                    <p:embed/>
                  </p:oleObj>
                </mc:Choice>
                <mc:Fallback>
                  <p:oleObj name="Equation" r:id="rId7" imgW="2895480" imgH="39348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300" y="5022850"/>
                          <a:ext cx="6715125" cy="914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192686"/>
                </p:ext>
              </p:extLst>
            </p:nvPr>
          </p:nvGraphicFramePr>
          <p:xfrm>
            <a:off x="3676650" y="5757863"/>
            <a:ext cx="3060700" cy="973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44" name="Equation" r:id="rId9" imgW="1320480" imgH="419040" progId="Equation.DSMT4">
                    <p:embed/>
                  </p:oleObj>
                </mc:Choice>
                <mc:Fallback>
                  <p:oleObj name="Equation" r:id="rId9" imgW="1320480" imgH="41904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6650" y="5757863"/>
                          <a:ext cx="3060700" cy="9731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6995857"/>
                </p:ext>
              </p:extLst>
            </p:nvPr>
          </p:nvGraphicFramePr>
          <p:xfrm>
            <a:off x="7086600" y="5743574"/>
            <a:ext cx="3060700" cy="1001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45" name="Equation" r:id="rId11" imgW="1320480" imgH="431640" progId="Equation.DSMT4">
                    <p:embed/>
                  </p:oleObj>
                </mc:Choice>
                <mc:Fallback>
                  <p:oleObj name="Equation" r:id="rId11" imgW="1320480" imgH="43164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5743574"/>
                          <a:ext cx="3060700" cy="100171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/>
          <p:cNvSpPr txBox="1"/>
          <p:nvPr/>
        </p:nvSpPr>
        <p:spPr>
          <a:xfrm>
            <a:off x="5637998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822508" y="5395582"/>
                <a:ext cx="2381614" cy="74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𝐷𝐷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508" y="5395582"/>
                <a:ext cx="2381614" cy="74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8378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B</a:t>
            </a:r>
            <a:r>
              <a:rPr lang="zh-CN" altLang="en-US" dirty="0" smtClean="0"/>
              <a:t>类输出级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48</a:t>
            </a:fld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303584" y="2409092"/>
            <a:ext cx="6796454" cy="2415211"/>
            <a:chOff x="774700" y="1147106"/>
            <a:chExt cx="9330782" cy="37353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4700" y="1147106"/>
              <a:ext cx="3173138" cy="3640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100" y="1416050"/>
              <a:ext cx="3048000" cy="2995296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5500" y="1492250"/>
              <a:ext cx="2825950" cy="2827356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4655862" y="4164553"/>
              <a:ext cx="1721733" cy="7178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失真问题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731126" y="4164553"/>
              <a:ext cx="2374356" cy="7178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Class AB</a:t>
              </a:r>
              <a:r>
                <a:rPr lang="zh-CN" altLang="en-US" b="1" dirty="0"/>
                <a:t>偏置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198891" y="5003691"/>
            <a:ext cx="7420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普通的</a:t>
            </a:r>
            <a:r>
              <a:rPr lang="en-US" altLang="zh-CN" sz="2400" dirty="0"/>
              <a:t>Class B</a:t>
            </a:r>
            <a:r>
              <a:rPr lang="zh-CN" altLang="en-US" sz="2400" dirty="0"/>
              <a:t>输出级存在交越失真；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CLASS AB</a:t>
            </a:r>
            <a:r>
              <a:rPr lang="zh-CN" altLang="en-US" sz="2400" smtClean="0"/>
              <a:t>类：</a:t>
            </a:r>
            <a:r>
              <a:rPr lang="zh-CN" altLang="en-US" sz="2400" dirty="0" smtClean="0"/>
              <a:t>使得</a:t>
            </a:r>
            <a:r>
              <a:rPr lang="zh-CN" altLang="en-US" sz="2400" dirty="0"/>
              <a:t>晶体管</a:t>
            </a:r>
            <a:r>
              <a:rPr lang="en-US" altLang="zh-CN" sz="2400" dirty="0"/>
              <a:t>M1</a:t>
            </a:r>
            <a:r>
              <a:rPr lang="zh-CN" altLang="en-US" sz="2400" dirty="0"/>
              <a:t>、</a:t>
            </a:r>
            <a:r>
              <a:rPr lang="en-US" altLang="zh-CN" sz="2400" dirty="0"/>
              <a:t>M2</a:t>
            </a:r>
            <a:r>
              <a:rPr lang="zh-CN" altLang="en-US" sz="2400" dirty="0"/>
              <a:t>具有一定偏置，克服交越失真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4811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运放的基本模块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AB</a:t>
            </a:r>
            <a:r>
              <a:rPr lang="zh-CN" altLang="en-US" dirty="0" smtClean="0"/>
              <a:t>类输出级的偏置方法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中国科学院大学</a:t>
            </a:r>
            <a:r>
              <a:rPr lang="en-US" altLang="zh-CN" dirty="0" smtClean="0"/>
              <a:t>2024-2025</a:t>
            </a:r>
            <a:r>
              <a:rPr lang="zh-CN" altLang="en-US" dirty="0" smtClean="0"/>
              <a:t>秋季</a:t>
            </a:r>
            <a:r>
              <a:rPr lang="zh-CN" altLang="en-US" dirty="0" smtClean="0"/>
              <a:t>学期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模拟集成电路设计与分析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852F-A149-4CCB-8EBE-69A193BA50F3}" type="slidenum">
              <a:rPr lang="zh-CN" altLang="en-US" smtClean="0"/>
              <a:t>49</a:t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369284" y="1283131"/>
            <a:ext cx="5752985" cy="3341623"/>
            <a:chOff x="2063376" y="1133662"/>
            <a:chExt cx="6566647" cy="409238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376" y="1133662"/>
              <a:ext cx="6566647" cy="4092388"/>
            </a:xfrm>
            <a:prstGeom prst="rect">
              <a:avLst/>
            </a:prstGeom>
          </p:spPr>
        </p:pic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36E831A-E419-485C-8C97-E96FEE74BB46}"/>
                </a:ext>
              </a:extLst>
            </p:cNvPr>
            <p:cNvSpPr/>
            <p:nvPr/>
          </p:nvSpPr>
          <p:spPr>
            <a:xfrm>
              <a:off x="2679700" y="3733800"/>
              <a:ext cx="457200" cy="38100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F05CEA7-4650-4BAC-9B76-E1ECD2EE5AEE}"/>
                </a:ext>
              </a:extLst>
            </p:cNvPr>
            <p:cNvSpPr/>
            <p:nvPr/>
          </p:nvSpPr>
          <p:spPr>
            <a:xfrm>
              <a:off x="4965700" y="3321050"/>
              <a:ext cx="457200" cy="38100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728D71B-ACEC-4DE2-BE64-1D52FC1ED6C8}"/>
                </a:ext>
              </a:extLst>
            </p:cNvPr>
            <p:cNvSpPr/>
            <p:nvPr/>
          </p:nvSpPr>
          <p:spPr>
            <a:xfrm>
              <a:off x="4356100" y="2762344"/>
              <a:ext cx="457200" cy="381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AF8D749-9E62-4FAE-B4A8-7367CCE124B4}"/>
                </a:ext>
              </a:extLst>
            </p:cNvPr>
            <p:cNvSpPr/>
            <p:nvPr/>
          </p:nvSpPr>
          <p:spPr>
            <a:xfrm>
              <a:off x="6642100" y="3333844"/>
              <a:ext cx="457200" cy="381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13" name="TextBox 1"/>
          <p:cNvSpPr txBox="1"/>
          <p:nvPr/>
        </p:nvSpPr>
        <p:spPr>
          <a:xfrm>
            <a:off x="1248752" y="4695863"/>
            <a:ext cx="3276600" cy="54168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20800" algn="l"/>
              </a:tabLst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以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管为例：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957497"/>
              </p:ext>
            </p:extLst>
          </p:nvPr>
        </p:nvGraphicFramePr>
        <p:xfrm>
          <a:off x="4725626" y="4781191"/>
          <a:ext cx="4855314" cy="47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Equation" r:id="rId4" imgW="2336760" imgH="228600" progId="Equation.DSMT4">
                  <p:embed/>
                </p:oleObj>
              </mc:Choice>
              <mc:Fallback>
                <p:oleObj name="Equation" r:id="rId4" imgW="233676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626" y="4781191"/>
                        <a:ext cx="4855314" cy="4750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530267"/>
              </p:ext>
            </p:extLst>
          </p:nvPr>
        </p:nvGraphicFramePr>
        <p:xfrm>
          <a:off x="1511668" y="5381419"/>
          <a:ext cx="2870810" cy="453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Equation" r:id="rId6" imgW="1447560" imgH="228600" progId="Equation.DSMT4">
                  <p:embed/>
                </p:oleObj>
              </mc:Choice>
              <mc:Fallback>
                <p:oleObj name="Equation" r:id="rId6" imgW="144756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68" y="5381419"/>
                        <a:ext cx="2870810" cy="4533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"/>
          <p:cNvSpPr txBox="1"/>
          <p:nvPr/>
        </p:nvSpPr>
        <p:spPr>
          <a:xfrm>
            <a:off x="4737101" y="5297197"/>
            <a:ext cx="5867400" cy="92076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ct val="150000"/>
              </a:lnSpc>
              <a:tabLst>
                <a:tab pos="1320800" algn="l"/>
              </a:tabLst>
            </a:pP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如果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匹配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M6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匹配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M5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，则输出级电流可由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IQ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精确控制。</a:t>
            </a:r>
            <a:endParaRPr lang="en-US" altLang="zh-C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62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11891</TotalTime>
  <Words>4597</Words>
  <Application>Microsoft Office PowerPoint</Application>
  <PresentationFormat>宽屏</PresentationFormat>
  <Paragraphs>351</Paragraphs>
  <Slides>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等线</vt:lpstr>
      <vt:lpstr>等线 Light</vt:lpstr>
      <vt:lpstr>Arial</vt:lpstr>
      <vt:lpstr>Calibri</vt:lpstr>
      <vt:lpstr>Cambria Math</vt:lpstr>
      <vt:lpstr>Times New Roman</vt:lpstr>
      <vt:lpstr>Wingdings</vt:lpstr>
      <vt:lpstr>Office 主题​​</vt:lpstr>
      <vt:lpstr>Equation</vt:lpstr>
      <vt:lpstr>第六章 运算放大器（上）</vt:lpstr>
      <vt:lpstr>目录</vt:lpstr>
      <vt:lpstr>运放概念</vt:lpstr>
      <vt:lpstr>运放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运放的性能参数</vt:lpstr>
      <vt:lpstr>目录</vt:lpstr>
      <vt:lpstr>理想运放</vt:lpstr>
      <vt:lpstr>理想运放</vt:lpstr>
      <vt:lpstr>理想运放</vt:lpstr>
      <vt:lpstr>理想运放</vt:lpstr>
      <vt:lpstr>理想运放</vt:lpstr>
      <vt:lpstr>理想运放</vt:lpstr>
      <vt:lpstr>目录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  <vt:lpstr>运放的基本模块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MOS器件基础</dc:title>
  <dc:creator>liuming</dc:creator>
  <cp:lastModifiedBy>my</cp:lastModifiedBy>
  <cp:revision>765</cp:revision>
  <dcterms:created xsi:type="dcterms:W3CDTF">2019-03-31T07:47:36Z</dcterms:created>
  <dcterms:modified xsi:type="dcterms:W3CDTF">2024-10-25T01:16:46Z</dcterms:modified>
</cp:coreProperties>
</file>