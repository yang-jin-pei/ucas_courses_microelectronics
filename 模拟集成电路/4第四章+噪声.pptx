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 id="272" r:id="rId18"/>
    <p:sldId id="273" r:id="rId19"/>
    <p:sldId id="274" r:id="rId20"/>
    <p:sldId id="275" r:id="rId21"/>
    <p:sldId id="277" r:id="rId22"/>
    <p:sldId id="276" r:id="rId23"/>
    <p:sldId id="278" r:id="rId24"/>
    <p:sldId id="279" r:id="rId25"/>
    <p:sldId id="280" r:id="rId26"/>
    <p:sldId id="281" r:id="rId27"/>
    <p:sldId id="282" r:id="rId28"/>
    <p:sldId id="283" r:id="rId29"/>
    <p:sldId id="284" r:id="rId30"/>
    <p:sldId id="285" r:id="rId31"/>
    <p:sldId id="287" r:id="rId32"/>
    <p:sldId id="286" r:id="rId33"/>
    <p:sldId id="288" r:id="rId34"/>
    <p:sldId id="289" r:id="rId35"/>
    <p:sldId id="290" r:id="rId36"/>
    <p:sldId id="291" r:id="rId37"/>
    <p:sldId id="292" r:id="rId38"/>
    <p:sldId id="293" r:id="rId39"/>
    <p:sldId id="295" r:id="rId40"/>
    <p:sldId id="294" r:id="rId41"/>
    <p:sldId id="296" r:id="rId42"/>
    <p:sldId id="297" r:id="rId43"/>
    <p:sldId id="298" r:id="rId44"/>
    <p:sldId id="299" r:id="rId45"/>
    <p:sldId id="300"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0" autoAdjust="0"/>
    <p:restoredTop sz="94660"/>
  </p:normalViewPr>
  <p:slideViewPr>
    <p:cSldViewPr snapToGrid="0">
      <p:cViewPr varScale="1">
        <p:scale>
          <a:sx n="69" d="100"/>
          <a:sy n="69" d="100"/>
        </p:scale>
        <p:origin x="52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30.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11" Type="http://schemas.openxmlformats.org/officeDocument/2006/relationships/image" Target="../media/image34.wmf"/><Relationship Id="rId5" Type="http://schemas.openxmlformats.org/officeDocument/2006/relationships/image" Target="../media/image28.wmf"/><Relationship Id="rId10" Type="http://schemas.openxmlformats.org/officeDocument/2006/relationships/image" Target="../media/image33.wmf"/><Relationship Id="rId4" Type="http://schemas.openxmlformats.org/officeDocument/2006/relationships/image" Target="../media/image27.wmf"/><Relationship Id="rId9" Type="http://schemas.openxmlformats.org/officeDocument/2006/relationships/image" Target="../media/image3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3.wmf"/><Relationship Id="rId1" Type="http://schemas.openxmlformats.org/officeDocument/2006/relationships/image" Target="../media/image62.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4" Type="http://schemas.openxmlformats.org/officeDocument/2006/relationships/image" Target="../media/image10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C5EA51-AC46-4344-BC47-05198113665D}" type="datetimeFigureOut">
              <a:rPr lang="zh-CN" altLang="en-US" smtClean="0"/>
              <a:t>2024/10/10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2BA7B0-9DDF-4575-A9D0-291574A78F33}" type="slidenum">
              <a:rPr lang="zh-CN" altLang="en-US" smtClean="0"/>
              <a:t>‹#›</a:t>
            </a:fld>
            <a:endParaRPr lang="zh-CN" altLang="en-US"/>
          </a:p>
        </p:txBody>
      </p:sp>
    </p:spTree>
    <p:extLst>
      <p:ext uri="{BB962C8B-B14F-4D97-AF65-F5344CB8AC3E}">
        <p14:creationId xmlns:p14="http://schemas.microsoft.com/office/powerpoint/2010/main" val="436198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17C072A2-DDCF-4E18-8944-88B4ECDD14A9}" type="datetime1">
              <a:rPr lang="zh-CN" altLang="en-US" smtClean="0"/>
              <a:t>2024/10/10</a:t>
            </a:fld>
            <a:endParaRPr lang="zh-CN" altLang="en-US"/>
          </a:p>
        </p:txBody>
      </p:sp>
      <p:sp>
        <p:nvSpPr>
          <p:cNvPr id="5" name="页脚占位符 4"/>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6" name="灯片编号占位符 5"/>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2741444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7549459-2736-4DDE-8BA9-45286CE92C64}" type="datetime1">
              <a:rPr lang="zh-CN" altLang="en-US" smtClean="0"/>
              <a:t>2024/10/10</a:t>
            </a:fld>
            <a:endParaRPr lang="zh-CN" altLang="en-US"/>
          </a:p>
        </p:txBody>
      </p:sp>
      <p:sp>
        <p:nvSpPr>
          <p:cNvPr id="5" name="页脚占位符 4"/>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6" name="灯片编号占位符 5"/>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668707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27DD5F69-405E-42F8-8C9C-69684E550632}" type="datetime1">
              <a:rPr lang="zh-CN" altLang="en-US" smtClean="0"/>
              <a:t>2024/10/10</a:t>
            </a:fld>
            <a:endParaRPr lang="zh-CN" altLang="en-US"/>
          </a:p>
        </p:txBody>
      </p:sp>
      <p:sp>
        <p:nvSpPr>
          <p:cNvPr id="5" name="页脚占位符 4"/>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6" name="灯片编号占位符 5"/>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416980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B1CD43CF-5164-4C1B-9686-68EF06C1876C}" type="datetime1">
              <a:rPr lang="zh-CN" altLang="en-US" smtClean="0"/>
              <a:t>2024/10/10</a:t>
            </a:fld>
            <a:endParaRPr lang="zh-CN" altLang="en-US"/>
          </a:p>
        </p:txBody>
      </p:sp>
      <p:sp>
        <p:nvSpPr>
          <p:cNvPr id="6" name="页脚占位符 5"/>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7" name="灯片编号占位符 6"/>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1911753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BD2618B-18F5-44B1-9D1B-D802447DD172}" type="datetime1">
              <a:rPr lang="zh-CN" altLang="en-US" smtClean="0"/>
              <a:t>2024/10/10</a:t>
            </a:fld>
            <a:endParaRPr lang="zh-CN" altLang="en-US"/>
          </a:p>
        </p:txBody>
      </p:sp>
      <p:sp>
        <p:nvSpPr>
          <p:cNvPr id="8" name="页脚占位符 7"/>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9" name="灯片编号占位符 8"/>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210576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A5A2F163-382D-4445-AC66-B199E045AD92}" type="datetime1">
              <a:rPr lang="zh-CN" altLang="en-US" smtClean="0"/>
              <a:t>2024/10/10</a:t>
            </a:fld>
            <a:endParaRPr lang="zh-CN" altLang="en-US"/>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293897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314661-CF17-4DC9-9510-1F82A6E8DC59}" type="datetime1">
              <a:rPr lang="zh-CN" altLang="en-US" smtClean="0"/>
              <a:t>2024/10/10</a:t>
            </a:fld>
            <a:endParaRPr lang="zh-CN" altLang="en-US"/>
          </a:p>
        </p:txBody>
      </p:sp>
      <p:sp>
        <p:nvSpPr>
          <p:cNvPr id="3" name="页脚占位符 2"/>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4" name="灯片编号占位符 3"/>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375845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8D9FF3E0-0547-41C6-B5D2-798B345DFC9D}" type="datetime1">
              <a:rPr lang="zh-CN" altLang="en-US" smtClean="0"/>
              <a:t>2024/10/10</a:t>
            </a:fld>
            <a:endParaRPr lang="zh-CN" altLang="en-US"/>
          </a:p>
        </p:txBody>
      </p:sp>
      <p:sp>
        <p:nvSpPr>
          <p:cNvPr id="6" name="页脚占位符 5"/>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7" name="灯片编号占位符 6"/>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989160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F331A2AA-1941-42BD-96A8-ADDA76E5DCC5}" type="datetime1">
              <a:rPr lang="zh-CN" altLang="en-US" smtClean="0"/>
              <a:t>2024/10/10</a:t>
            </a:fld>
            <a:endParaRPr lang="zh-CN" altLang="en-US"/>
          </a:p>
        </p:txBody>
      </p:sp>
      <p:sp>
        <p:nvSpPr>
          <p:cNvPr id="6" name="页脚占位符 5"/>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7" name="灯片编号占位符 6"/>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2504500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CAEB6D9-38E1-425A-8E59-32F6DA437445}" type="datetime1">
              <a:rPr lang="zh-CN" altLang="en-US" smtClean="0"/>
              <a:t>2024/10/10</a:t>
            </a:fld>
            <a:endParaRPr lang="zh-CN" altLang="en-US"/>
          </a:p>
        </p:txBody>
      </p:sp>
      <p:sp>
        <p:nvSpPr>
          <p:cNvPr id="5" name="页脚占位符 4"/>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6" name="灯片编号占位符 5"/>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2144348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192349A-DCC3-4F27-A8E4-8DA707EA602F}" type="datetime1">
              <a:rPr lang="zh-CN" altLang="en-US" smtClean="0"/>
              <a:t>2024/10/10</a:t>
            </a:fld>
            <a:endParaRPr lang="zh-CN" altLang="en-US"/>
          </a:p>
        </p:txBody>
      </p:sp>
      <p:sp>
        <p:nvSpPr>
          <p:cNvPr id="5" name="页脚占位符 4"/>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6" name="灯片编号占位符 5"/>
          <p:cNvSpPr>
            <a:spLocks noGrp="1"/>
          </p:cNvSpPr>
          <p:nvPr>
            <p:ph type="sldNum" sz="quarter" idx="12"/>
          </p:nvPr>
        </p:nvSpPr>
        <p:spPr/>
        <p:txBody>
          <a:body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2618025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4D4311-274D-4F47-9172-B1047332A782}" type="datetime1">
              <a:rPr lang="zh-CN" altLang="en-US" smtClean="0"/>
              <a:t>2024/10/10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D5852F-A149-4CCB-8EBE-69A193BA50F3}" type="slidenum">
              <a:rPr lang="zh-CN" altLang="en-US" smtClean="0"/>
              <a:t>‹#›</a:t>
            </a:fld>
            <a:endParaRPr lang="zh-CN" altLang="en-US"/>
          </a:p>
        </p:txBody>
      </p:sp>
    </p:spTree>
    <p:extLst>
      <p:ext uri="{BB962C8B-B14F-4D97-AF65-F5344CB8AC3E}">
        <p14:creationId xmlns:p14="http://schemas.microsoft.com/office/powerpoint/2010/main" val="378326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2.wmf"/><Relationship Id="rId5" Type="http://schemas.openxmlformats.org/officeDocument/2006/relationships/oleObject" Target="../embeddings/oleObject2.bin"/><Relationship Id="rId4" Type="http://schemas.openxmlformats.org/officeDocument/2006/relationships/image" Target="../media/image11.wmf"/></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15.png"/><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8.emf"/><Relationship Id="rId5" Type="http://schemas.openxmlformats.org/officeDocument/2006/relationships/image" Target="../media/image17.emf"/><Relationship Id="rId10" Type="http://schemas.openxmlformats.org/officeDocument/2006/relationships/image" Target="../media/image14.wmf"/><Relationship Id="rId4" Type="http://schemas.openxmlformats.org/officeDocument/2006/relationships/image" Target="../media/image16.emf"/><Relationship Id="rId9"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oleObject" Target="../embeddings/oleObject5.bin"/><Relationship Id="rId7"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25.png"/><Relationship Id="rId4" Type="http://schemas.openxmlformats.org/officeDocument/2006/relationships/image" Target="../media/image19.wmf"/></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36.emf"/><Relationship Id="rId13" Type="http://schemas.openxmlformats.org/officeDocument/2006/relationships/image" Target="../media/image27.wmf"/><Relationship Id="rId18" Type="http://schemas.openxmlformats.org/officeDocument/2006/relationships/oleObject" Target="../embeddings/oleObject14.bin"/><Relationship Id="rId26" Type="http://schemas.openxmlformats.org/officeDocument/2006/relationships/oleObject" Target="../embeddings/oleObject18.bin"/><Relationship Id="rId3" Type="http://schemas.openxmlformats.org/officeDocument/2006/relationships/oleObject" Target="../embeddings/oleObject7.bin"/><Relationship Id="rId21" Type="http://schemas.openxmlformats.org/officeDocument/2006/relationships/image" Target="../media/image31.wmf"/><Relationship Id="rId7" Type="http://schemas.openxmlformats.org/officeDocument/2006/relationships/image" Target="../media/image35.emf"/><Relationship Id="rId12" Type="http://schemas.openxmlformats.org/officeDocument/2006/relationships/oleObject" Target="../embeddings/oleObject11.bin"/><Relationship Id="rId17" Type="http://schemas.openxmlformats.org/officeDocument/2006/relationships/image" Target="../media/image29.wmf"/><Relationship Id="rId25" Type="http://schemas.openxmlformats.org/officeDocument/2006/relationships/image" Target="../media/image33.wmf"/><Relationship Id="rId2" Type="http://schemas.openxmlformats.org/officeDocument/2006/relationships/slideLayout" Target="../slideLayouts/slideLayout2.xml"/><Relationship Id="rId16" Type="http://schemas.openxmlformats.org/officeDocument/2006/relationships/oleObject" Target="../embeddings/oleObject13.bin"/><Relationship Id="rId20" Type="http://schemas.openxmlformats.org/officeDocument/2006/relationships/oleObject" Target="../embeddings/oleObject15.bin"/><Relationship Id="rId1" Type="http://schemas.openxmlformats.org/officeDocument/2006/relationships/vmlDrawing" Target="../drawings/vmlDrawing4.vml"/><Relationship Id="rId6" Type="http://schemas.openxmlformats.org/officeDocument/2006/relationships/image" Target="../media/image25.wmf"/><Relationship Id="rId11" Type="http://schemas.openxmlformats.org/officeDocument/2006/relationships/oleObject" Target="../embeddings/oleObject10.bin"/><Relationship Id="rId24" Type="http://schemas.openxmlformats.org/officeDocument/2006/relationships/oleObject" Target="../embeddings/oleObject17.bin"/><Relationship Id="rId5" Type="http://schemas.openxmlformats.org/officeDocument/2006/relationships/oleObject" Target="../embeddings/oleObject8.bin"/><Relationship Id="rId15" Type="http://schemas.openxmlformats.org/officeDocument/2006/relationships/image" Target="../media/image28.wmf"/><Relationship Id="rId23" Type="http://schemas.openxmlformats.org/officeDocument/2006/relationships/image" Target="../media/image32.wmf"/><Relationship Id="rId10" Type="http://schemas.openxmlformats.org/officeDocument/2006/relationships/image" Target="../media/image26.wmf"/><Relationship Id="rId19" Type="http://schemas.openxmlformats.org/officeDocument/2006/relationships/image" Target="../media/image30.wmf"/><Relationship Id="rId4" Type="http://schemas.openxmlformats.org/officeDocument/2006/relationships/image" Target="../media/image24.wmf"/><Relationship Id="rId9" Type="http://schemas.openxmlformats.org/officeDocument/2006/relationships/oleObject" Target="../embeddings/oleObject9.bin"/><Relationship Id="rId14" Type="http://schemas.openxmlformats.org/officeDocument/2006/relationships/oleObject" Target="../embeddings/oleObject12.bin"/><Relationship Id="rId22" Type="http://schemas.openxmlformats.org/officeDocument/2006/relationships/oleObject" Target="../embeddings/oleObject16.bin"/><Relationship Id="rId27" Type="http://schemas.openxmlformats.org/officeDocument/2006/relationships/image" Target="../media/image34.wmf"/></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9.bin"/><Relationship Id="rId7"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42.wmf"/><Relationship Id="rId5" Type="http://schemas.openxmlformats.org/officeDocument/2006/relationships/oleObject" Target="../embeddings/oleObject20.bin"/><Relationship Id="rId4" Type="http://schemas.openxmlformats.org/officeDocument/2006/relationships/image" Target="../media/image41.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45.wmf"/><Relationship Id="rId5" Type="http://schemas.openxmlformats.org/officeDocument/2006/relationships/oleObject" Target="../embeddings/oleObject22.bin"/><Relationship Id="rId4" Type="http://schemas.openxmlformats.org/officeDocument/2006/relationships/image" Target="../media/image44.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8.emf"/><Relationship Id="rId7" Type="http://schemas.openxmlformats.org/officeDocument/2006/relationships/image" Target="../media/image53.png"/><Relationship Id="rId2" Type="http://schemas.openxmlformats.org/officeDocument/2006/relationships/image" Target="../media/image47.emf"/><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2.emf"/><Relationship Id="rId7" Type="http://schemas.openxmlformats.org/officeDocument/2006/relationships/image" Target="../media/image51.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24.bin"/><Relationship Id="rId5" Type="http://schemas.openxmlformats.org/officeDocument/2006/relationships/image" Target="../media/image50.wmf"/><Relationship Id="rId4" Type="http://schemas.openxmlformats.org/officeDocument/2006/relationships/oleObject" Target="../embeddings/oleObject23.bin"/></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1.emf"/><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image" Target="../media/image60.emf"/><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29.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64.emf"/><Relationship Id="rId7"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82.png"/><Relationship Id="rId5" Type="http://schemas.openxmlformats.org/officeDocument/2006/relationships/image" Target="../media/image81.png"/><Relationship Id="rId10" Type="http://schemas.openxmlformats.org/officeDocument/2006/relationships/image" Target="../media/image63.wmf"/><Relationship Id="rId4" Type="http://schemas.openxmlformats.org/officeDocument/2006/relationships/image" Target="../media/image80.png"/><Relationship Id="rId9" Type="http://schemas.openxmlformats.org/officeDocument/2006/relationships/oleObject" Target="../embeddings/oleObject26.bin"/></Relationships>
</file>

<file path=ppt/slides/_rels/slide30.x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67.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63.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66.wmf"/><Relationship Id="rId4" Type="http://schemas.openxmlformats.org/officeDocument/2006/relationships/image" Target="../media/image62.wmf"/><Relationship Id="rId9" Type="http://schemas.openxmlformats.org/officeDocument/2006/relationships/oleObject" Target="../embeddings/oleObject30.bin"/><Relationship Id="rId14" Type="http://schemas.openxmlformats.org/officeDocument/2006/relationships/image" Target="../media/image68.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6.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3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5.emf"/><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 Id="rId9" Type="http://schemas.openxmlformats.org/officeDocument/2006/relationships/image" Target="../media/image95.png"/></Relationships>
</file>

<file path=ppt/slides/_rels/slide35.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86.emf"/><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36.xml.rels><?xml version="1.0" encoding="UTF-8" standalone="yes"?>
<Relationships xmlns="http://schemas.openxmlformats.org/package/2006/relationships"><Relationship Id="rId2" Type="http://schemas.openxmlformats.org/officeDocument/2006/relationships/image" Target="../media/image8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87.emf"/><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38.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image" Target="../media/image88.emf"/><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9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3" Type="http://schemas.openxmlformats.org/officeDocument/2006/relationships/image" Target="../media/image115.png"/><Relationship Id="rId7" Type="http://schemas.openxmlformats.org/officeDocument/2006/relationships/image" Target="../media/image119.png"/><Relationship Id="rId12" Type="http://schemas.openxmlformats.org/officeDocument/2006/relationships/image" Target="../media/image124.png"/><Relationship Id="rId2" Type="http://schemas.openxmlformats.org/officeDocument/2006/relationships/image" Target="../media/image97.emf"/><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image" Target="../media/image960.png"/><Relationship Id="rId5" Type="http://schemas.openxmlformats.org/officeDocument/2006/relationships/image" Target="../media/image117.png"/><Relationship Id="rId10" Type="http://schemas.openxmlformats.org/officeDocument/2006/relationships/image" Target="../media/image87.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s>
</file>

<file path=ppt/slides/_rels/slide41.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99.wmf"/><Relationship Id="rId11" Type="http://schemas.openxmlformats.org/officeDocument/2006/relationships/image" Target="../media/image102.emf"/><Relationship Id="rId5" Type="http://schemas.openxmlformats.org/officeDocument/2006/relationships/oleObject" Target="../embeddings/oleObject34.bin"/><Relationship Id="rId10" Type="http://schemas.openxmlformats.org/officeDocument/2006/relationships/image" Target="../media/image101.wmf"/><Relationship Id="rId4" Type="http://schemas.openxmlformats.org/officeDocument/2006/relationships/image" Target="../media/image98.wmf"/><Relationship Id="rId9" Type="http://schemas.openxmlformats.org/officeDocument/2006/relationships/oleObject" Target="../embeddings/oleObject36.bin"/></Relationships>
</file>

<file path=ppt/slides/_rels/slide44.x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104.wmf"/><Relationship Id="rId5" Type="http://schemas.openxmlformats.org/officeDocument/2006/relationships/oleObject" Target="../embeddings/oleObject38.bin"/><Relationship Id="rId4" Type="http://schemas.openxmlformats.org/officeDocument/2006/relationships/image" Target="../media/image103.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41145" y="1122363"/>
            <a:ext cx="11059428" cy="2387600"/>
          </a:xfrm>
        </p:spPr>
        <p:txBody>
          <a:bodyPr>
            <a:normAutofit/>
          </a:bodyPr>
          <a:lstStyle/>
          <a:p>
            <a:r>
              <a:rPr lang="zh-CN" altLang="en-US" sz="5400" dirty="0" smtClean="0"/>
              <a:t>第四章 噪声</a:t>
            </a:r>
            <a:endParaRPr lang="zh-CN" altLang="en-US" sz="5400" dirty="0"/>
          </a:p>
        </p:txBody>
      </p:sp>
      <p:sp>
        <p:nvSpPr>
          <p:cNvPr id="3" name="副标题 2"/>
          <p:cNvSpPr>
            <a:spLocks noGrp="1"/>
          </p:cNvSpPr>
          <p:nvPr>
            <p:ph type="subTitle" idx="1"/>
          </p:nvPr>
        </p:nvSpPr>
        <p:spPr>
          <a:xfrm>
            <a:off x="1620252" y="4939950"/>
            <a:ext cx="9144000" cy="1655762"/>
          </a:xfrm>
        </p:spPr>
        <p:txBody>
          <a:bodyPr>
            <a:normAutofit/>
          </a:bodyPr>
          <a:lstStyle/>
          <a:p>
            <a:r>
              <a:rPr lang="zh-CN" altLang="en-US" sz="1800" dirty="0" smtClean="0"/>
              <a:t>刘鸣</a:t>
            </a:r>
            <a:endParaRPr lang="en-US" altLang="zh-CN" sz="1800" dirty="0" smtClean="0"/>
          </a:p>
          <a:p>
            <a:r>
              <a:rPr lang="en-US" altLang="zh-CN" sz="1800" dirty="0"/>
              <a:t>l</a:t>
            </a:r>
            <a:r>
              <a:rPr lang="en-US" altLang="zh-CN" sz="1800" dirty="0" smtClean="0"/>
              <a:t>iuming@semi.ac.cn</a:t>
            </a:r>
          </a:p>
          <a:p>
            <a:r>
              <a:rPr lang="zh-CN" altLang="en-US" sz="1800" dirty="0" smtClean="0"/>
              <a:t>中国科学院半导体</a:t>
            </a:r>
            <a:r>
              <a:rPr lang="zh-CN" altLang="en-US" sz="1800" dirty="0"/>
              <a:t>研究所</a:t>
            </a:r>
          </a:p>
        </p:txBody>
      </p:sp>
    </p:spTree>
    <p:extLst>
      <p:ext uri="{BB962C8B-B14F-4D97-AF65-F5344CB8AC3E}">
        <p14:creationId xmlns:p14="http://schemas.microsoft.com/office/powerpoint/2010/main" val="41110642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3" name="内容占位符 2"/>
          <p:cNvSpPr>
            <a:spLocks noGrp="1"/>
          </p:cNvSpPr>
          <p:nvPr>
            <p:ph idx="1"/>
          </p:nvPr>
        </p:nvSpPr>
        <p:spPr/>
        <p:txBody>
          <a:bodyPr>
            <a:normAutofit fontScale="85000" lnSpcReduction="10000"/>
          </a:bodyPr>
          <a:lstStyle/>
          <a:p>
            <a:pPr algn="just">
              <a:lnSpc>
                <a:spcPct val="150000"/>
              </a:lnSpc>
              <a:buFont typeface="Wingdings" panose="05000000000000000000" pitchFamily="2" charset="2"/>
              <a:buChar char="l"/>
            </a:pPr>
            <a:r>
              <a:rPr lang="en-US" altLang="zh-CN" sz="3600" b="1" dirty="0"/>
              <a:t> </a:t>
            </a:r>
            <a:r>
              <a:rPr lang="zh-CN" altLang="en-US" sz="3200" b="1" dirty="0" smtClean="0"/>
              <a:t>噪声的统计特性</a:t>
            </a:r>
            <a:endParaRPr lang="en-US" altLang="zh-CN" sz="3200" b="1" dirty="0" smtClean="0"/>
          </a:p>
          <a:p>
            <a:pPr algn="just">
              <a:lnSpc>
                <a:spcPct val="150000"/>
              </a:lnSpc>
              <a:buFont typeface="Wingdings" panose="05000000000000000000" pitchFamily="2" charset="2"/>
              <a:buChar char="l"/>
            </a:pPr>
            <a:r>
              <a:rPr lang="en-US" altLang="zh-CN" sz="3200" dirty="0"/>
              <a:t> </a:t>
            </a:r>
            <a:r>
              <a:rPr lang="en-US" altLang="zh-CN" sz="3200" dirty="0" smtClean="0"/>
              <a:t>MOS</a:t>
            </a:r>
            <a:r>
              <a:rPr lang="zh-CN" altLang="en-US" sz="3200" dirty="0" smtClean="0"/>
              <a:t>集成电路中的噪声类型</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smtClean="0"/>
              <a:t>电路中的噪声表示</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a:t>单</a:t>
            </a:r>
            <a:r>
              <a:rPr lang="zh-CN" altLang="en-US" sz="3200" dirty="0" smtClean="0"/>
              <a:t>级放大器中的噪声</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a:t>电流</a:t>
            </a:r>
            <a:r>
              <a:rPr lang="zh-CN" altLang="en-US" sz="3200" dirty="0" smtClean="0"/>
              <a:t>镜中的噪声</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smtClean="0"/>
              <a:t>差动对的噪声</a:t>
            </a:r>
            <a:endParaRPr lang="en-US" altLang="zh-CN" sz="2400" dirty="0" smtClean="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2</a:t>
            </a:fld>
            <a:endParaRPr lang="zh-CN" altLang="en-US"/>
          </a:p>
        </p:txBody>
      </p:sp>
    </p:spTree>
    <p:extLst>
      <p:ext uri="{BB962C8B-B14F-4D97-AF65-F5344CB8AC3E}">
        <p14:creationId xmlns:p14="http://schemas.microsoft.com/office/powerpoint/2010/main" val="941871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噪声的统计特性</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a:t>
            </a:fld>
            <a:endParaRPr lang="zh-CN" altLang="en-US"/>
          </a:p>
        </p:txBody>
      </p:sp>
      <p:pic>
        <p:nvPicPr>
          <p:cNvPr id="6" name="图片 5"/>
          <p:cNvPicPr>
            <a:picLocks noChangeAspect="1"/>
          </p:cNvPicPr>
          <p:nvPr/>
        </p:nvPicPr>
        <p:blipFill>
          <a:blip r:embed="rId2"/>
          <a:stretch>
            <a:fillRect/>
          </a:stretch>
        </p:blipFill>
        <p:spPr>
          <a:xfrm>
            <a:off x="768240" y="1923846"/>
            <a:ext cx="5782029" cy="3934992"/>
          </a:xfrm>
          <a:prstGeom prst="rect">
            <a:avLst/>
          </a:prstGeom>
        </p:spPr>
      </p:pic>
      <p:sp>
        <p:nvSpPr>
          <p:cNvPr id="7" name="TextBox 1"/>
          <p:cNvSpPr txBox="1"/>
          <p:nvPr/>
        </p:nvSpPr>
        <p:spPr>
          <a:xfrm>
            <a:off x="6958623" y="1934687"/>
            <a:ext cx="4395177" cy="3924151"/>
          </a:xfrm>
          <a:prstGeom prst="rect">
            <a:avLst/>
          </a:prstGeom>
          <a:noFill/>
        </p:spPr>
        <p:txBody>
          <a:bodyPr wrap="square" lIns="0" tIns="0" rIns="0" rtlCol="0">
            <a:spAutoFit/>
          </a:bodyPr>
          <a:lstStyle/>
          <a:p>
            <a:pPr>
              <a:lnSpc>
                <a:spcPct val="150000"/>
              </a:lnSpc>
              <a:tabLst>
                <a:tab pos="1320800" algn="l"/>
              </a:tabLst>
            </a:pPr>
            <a:r>
              <a:rPr lang="zh-CN" altLang="en-US" sz="2400" dirty="0">
                <a:latin typeface="Times New Roman" pitchFamily="18" charset="0"/>
                <a:cs typeface="Times New Roman" pitchFamily="18" charset="0"/>
              </a:rPr>
              <a:t>电路噪声：由于载流子随机热运动导致输出电压电流的瞬时值随机变化的一种现象。噪声大小决定了电路可处理的最小电平。低于噪声平均功率的信号将无法被检出，</a:t>
            </a:r>
            <a:r>
              <a:rPr lang="zh-CN" altLang="en-US" sz="2400" dirty="0">
                <a:solidFill>
                  <a:srgbClr val="FF0000"/>
                </a:solidFill>
                <a:latin typeface="Times New Roman" pitchFamily="18" charset="0"/>
                <a:cs typeface="Times New Roman" pitchFamily="18" charset="0"/>
              </a:rPr>
              <a:t>因此模拟电路设计必须考虑噪声</a:t>
            </a:r>
            <a:r>
              <a:rPr lang="zh-CN" altLang="en-US" sz="2400" dirty="0">
                <a:latin typeface="Times New Roman" pitchFamily="18" charset="0"/>
                <a:cs typeface="Times New Roman" pitchFamily="18" charset="0"/>
              </a:rPr>
              <a:t>。</a:t>
            </a:r>
            <a:endParaRPr lang="en-US" altLang="zh-CN" sz="24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329466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噪声的统计特性</a:t>
            </a:r>
          </a:p>
        </p:txBody>
      </p:sp>
      <p:sp>
        <p:nvSpPr>
          <p:cNvPr id="3" name="内容占位符 2"/>
          <p:cNvSpPr>
            <a:spLocks noGrp="1"/>
          </p:cNvSpPr>
          <p:nvPr>
            <p:ph idx="1"/>
          </p:nvPr>
        </p:nvSpPr>
        <p:spPr/>
        <p:txBody>
          <a:bodyPr/>
          <a:lstStyle/>
          <a:p>
            <a:pPr>
              <a:lnSpc>
                <a:spcPct val="150000"/>
              </a:lnSpc>
            </a:pPr>
            <a:r>
              <a:rPr lang="zh-CN" altLang="en-US" dirty="0" smtClean="0"/>
              <a:t>不可预测特性</a:t>
            </a:r>
            <a:endParaRPr lang="en-US" altLang="zh-CN" dirty="0" smtClean="0"/>
          </a:p>
          <a:p>
            <a:pPr lvl="1">
              <a:lnSpc>
                <a:spcPct val="150000"/>
              </a:lnSpc>
            </a:pPr>
            <a:r>
              <a:rPr lang="zh-CN" altLang="en-US" dirty="0" smtClean="0"/>
              <a:t>随机过程，只能知道过去和现在的值，无法预测下一个值是什么，瞬时值无法预测</a:t>
            </a:r>
            <a:endParaRPr lang="en-US" altLang="zh-CN" dirty="0" smtClean="0"/>
          </a:p>
          <a:p>
            <a:pPr>
              <a:lnSpc>
                <a:spcPct val="150000"/>
              </a:lnSpc>
            </a:pPr>
            <a:r>
              <a:rPr lang="zh-CN" altLang="en-US" dirty="0" smtClean="0"/>
              <a:t>可预测特性</a:t>
            </a:r>
            <a:endParaRPr lang="en-US" altLang="zh-CN" dirty="0" smtClean="0"/>
          </a:p>
          <a:p>
            <a:pPr lvl="1">
              <a:lnSpc>
                <a:spcPct val="150000"/>
              </a:lnSpc>
            </a:pPr>
            <a:r>
              <a:rPr lang="zh-CN" altLang="en-US" dirty="0" smtClean="0"/>
              <a:t>大多数电路可以显示出固定的平均功率</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4</a:t>
            </a:fld>
            <a:endParaRPr lang="zh-CN" altLang="en-US"/>
          </a:p>
        </p:txBody>
      </p:sp>
      <p:pic>
        <p:nvPicPr>
          <p:cNvPr id="6" name="图片 5"/>
          <p:cNvPicPr>
            <a:picLocks noChangeAspect="1"/>
          </p:cNvPicPr>
          <p:nvPr/>
        </p:nvPicPr>
        <p:blipFill>
          <a:blip r:embed="rId2"/>
          <a:stretch>
            <a:fillRect/>
          </a:stretch>
        </p:blipFill>
        <p:spPr>
          <a:xfrm>
            <a:off x="7523977" y="3455377"/>
            <a:ext cx="2698545" cy="2416785"/>
          </a:xfrm>
          <a:prstGeom prst="rect">
            <a:avLst/>
          </a:prstGeom>
        </p:spPr>
      </p:pic>
    </p:spTree>
    <p:extLst>
      <p:ext uri="{BB962C8B-B14F-4D97-AF65-F5344CB8AC3E}">
        <p14:creationId xmlns:p14="http://schemas.microsoft.com/office/powerpoint/2010/main" val="12566624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噪声的统计特性</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85000" lnSpcReduction="20000"/>
              </a:bodyPr>
              <a:lstStyle/>
              <a:p>
                <a:r>
                  <a:rPr lang="zh-CN" altLang="en-US" dirty="0" smtClean="0"/>
                  <a:t>平均功率定义</a:t>
                </a:r>
                <a:endParaRPr lang="en-US" altLang="zh-CN" dirty="0" smtClean="0"/>
              </a:p>
              <a:p>
                <a:endParaRPr lang="en-US" altLang="zh-CN" dirty="0"/>
              </a:p>
              <a:p>
                <a:pPr lvl="1"/>
                <a:r>
                  <a:rPr lang="zh-CN" altLang="en-US" dirty="0" smtClean="0"/>
                  <a:t>周期信号的平均功率：</a:t>
                </a:r>
                <a:endParaRPr lang="en-US" altLang="zh-CN" dirty="0" smtClean="0"/>
              </a:p>
              <a:p>
                <a:pPr lvl="1"/>
                <a:endParaRPr lang="en-US" altLang="zh-CN" dirty="0"/>
              </a:p>
              <a:p>
                <a:pPr lvl="1"/>
                <a:r>
                  <a:rPr lang="zh-CN" altLang="en-US" dirty="0" smtClean="0"/>
                  <a:t>噪声电压的平均功率：</a:t>
                </a:r>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smtClean="0"/>
              </a:p>
              <a:p>
                <a:pPr lvl="1"/>
                <a:r>
                  <a:rPr lang="zh-CN" altLang="en-US" dirty="0" smtClean="0"/>
                  <a:t>实际功率：</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𝑎𝑣</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acc>
                          <m:accPr>
                            <m:chr m:val="̅"/>
                            <m:ctrlPr>
                              <a:rPr lang="en-US" altLang="zh-CN" b="0" i="1" smtClean="0">
                                <a:latin typeface="Cambria Math" panose="02040503050406030204" pitchFamily="18" charset="0"/>
                              </a:rPr>
                            </m:ctrlPr>
                          </m:acc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e>
                        </m:acc>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𝐿</m:t>
                            </m:r>
                          </m:sub>
                        </m:sSub>
                      </m:den>
                    </m:f>
                  </m:oMath>
                </a14:m>
                <a:endParaRPr lang="en-US" altLang="zh-CN" dirty="0" smtClean="0"/>
              </a:p>
              <a:p>
                <a:pPr lvl="1"/>
                <a:endParaRPr lang="en-US" altLang="zh-CN" dirty="0" smtClean="0"/>
              </a:p>
              <a:p>
                <a:pPr lvl="1"/>
                <a:r>
                  <a:rPr lang="zh-CN" altLang="en-US" dirty="0" smtClean="0"/>
                  <a:t>噪声的均方根电压：</a:t>
                </a:r>
                <a14:m>
                  <m:oMath xmlns:m="http://schemas.openxmlformats.org/officeDocument/2006/math">
                    <m:rad>
                      <m:radPr>
                        <m:degHide m:val="on"/>
                        <m:ctrlPr>
                          <a:rPr lang="zh-CN" altLang="en-US" i="1" smtClean="0">
                            <a:latin typeface="Cambria Math" panose="02040503050406030204" pitchFamily="18" charset="0"/>
                          </a:rPr>
                        </m:ctrlPr>
                      </m:radPr>
                      <m:deg/>
                      <m:e>
                        <m:acc>
                          <m:accPr>
                            <m:chr m:val="̅"/>
                            <m:ctrlPr>
                              <a:rPr lang="zh-CN" altLang="en-US" i="1" smtClean="0">
                                <a:latin typeface="Cambria Math" panose="02040503050406030204" pitchFamily="18" charset="0"/>
                              </a:rPr>
                            </m:ctrlPr>
                          </m:accPr>
                          <m:e>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e>
                        </m:acc>
                      </m:e>
                    </m:rad>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812" t="-3081"/>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5</a:t>
            </a:fld>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4825765" y="2291558"/>
                <a:ext cx="2453620" cy="741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𝑎𝑣</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𝑇</m:t>
                          </m:r>
                        </m:den>
                      </m:f>
                      <m:nary>
                        <m:naryPr>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/2</m:t>
                          </m:r>
                        </m:sub>
                        <m:sup>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/2</m:t>
                          </m:r>
                        </m:sup>
                        <m:e>
                          <m:f>
                            <m:fPr>
                              <m:ctrlPr>
                                <a:rPr lang="en-US" altLang="zh-CN" sz="2000" b="0" i="1" smtClean="0">
                                  <a:latin typeface="Cambria Math" panose="02040503050406030204" pitchFamily="18" charset="0"/>
                                </a:rPr>
                              </m:ctrlPr>
                            </m:fPr>
                            <m:num>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𝑥</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m:t>
                              </m:r>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𝐿</m:t>
                                  </m:r>
                                </m:sub>
                              </m:sSub>
                            </m:den>
                          </m:f>
                          <m:r>
                            <a:rPr lang="en-US" altLang="zh-CN" sz="2000" b="0" i="1" smtClean="0">
                              <a:latin typeface="Cambria Math" panose="02040503050406030204" pitchFamily="18" charset="0"/>
                            </a:rPr>
                            <m:t>𝑑𝑡</m:t>
                          </m:r>
                        </m:e>
                      </m:nary>
                    </m:oMath>
                  </m:oMathPara>
                </a14:m>
                <a:endParaRPr lang="zh-CN" altLang="en-US" sz="2000" dirty="0"/>
              </a:p>
            </p:txBody>
          </p:sp>
        </mc:Choice>
        <mc:Fallback xmlns="">
          <p:sp>
            <p:nvSpPr>
              <p:cNvPr id="6" name="文本框 5"/>
              <p:cNvSpPr txBox="1">
                <a:spLocks noRot="1" noChangeAspect="1" noMove="1" noResize="1" noEditPoints="1" noAdjustHandles="1" noChangeArrowheads="1" noChangeShapeType="1" noTextEdit="1"/>
              </p:cNvSpPr>
              <p:nvPr/>
            </p:nvSpPr>
            <p:spPr>
              <a:xfrm>
                <a:off x="4825765" y="2291558"/>
                <a:ext cx="2453620" cy="741870"/>
              </a:xfrm>
              <a:prstGeom prst="rect">
                <a:avLst/>
              </a:prstGeom>
              <a:blipFill>
                <a:blip r:embed="rId3"/>
                <a:stretch>
                  <a:fillRect/>
                </a:stretch>
              </a:blipFill>
            </p:spPr>
            <p:txBody>
              <a:bodyPr/>
              <a:lstStyle/>
              <a:p>
                <a:r>
                  <a:rPr lang="zh-CN" altLang="en-US">
                    <a:noFill/>
                  </a:rPr>
                  <a:t> </a:t>
                </a:r>
              </a:p>
            </p:txBody>
          </p:sp>
        </mc:Fallback>
      </mc:AlternateContent>
      <p:sp>
        <p:nvSpPr>
          <p:cNvPr id="8" name="文本框 7"/>
          <p:cNvSpPr txBox="1"/>
          <p:nvPr/>
        </p:nvSpPr>
        <p:spPr>
          <a:xfrm>
            <a:off x="6052574" y="4108448"/>
            <a:ext cx="773723" cy="369332"/>
          </a:xfrm>
          <a:prstGeom prst="rect">
            <a:avLst/>
          </a:prstGeom>
          <a:noFill/>
        </p:spPr>
        <p:txBody>
          <a:bodyPr wrap="square" rtlCol="0">
            <a:spAutoFit/>
          </a:bodyPr>
          <a:lstStyle/>
          <a:p>
            <a:r>
              <a:rPr lang="zh-CN" altLang="en-US" dirty="0"/>
              <a:t>简化</a:t>
            </a:r>
          </a:p>
        </p:txBody>
      </p:sp>
      <mc:AlternateContent xmlns:mc="http://schemas.openxmlformats.org/markup-compatibility/2006" xmlns:a14="http://schemas.microsoft.com/office/drawing/2010/main">
        <mc:Choice Requires="a14">
          <p:sp>
            <p:nvSpPr>
              <p:cNvPr id="9" name="文本框 8"/>
              <p:cNvSpPr txBox="1"/>
              <p:nvPr/>
            </p:nvSpPr>
            <p:spPr>
              <a:xfrm>
                <a:off x="4767120" y="4538440"/>
                <a:ext cx="3138744" cy="9773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sSup>
                            <m:sSupPr>
                              <m:ctrlPr>
                                <a:rPr lang="en-US" altLang="zh-CN" sz="2000" i="1" smtClean="0">
                                  <a:latin typeface="Cambria Math" panose="02040503050406030204" pitchFamily="18" charset="0"/>
                                </a:rPr>
                              </m:ctrlPr>
                            </m:sSupPr>
                            <m:e>
                              <m:r>
                                <a:rPr lang="en-US" altLang="zh-CN" sz="2000" b="0" i="1" smtClean="0">
                                  <a:latin typeface="Cambria Math" panose="02040503050406030204" pitchFamily="18" charset="0"/>
                                </a:rPr>
                                <m:t>𝑥</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m:t>
                          </m:r>
                        </m:e>
                      </m:acc>
                      <m:r>
                        <a:rPr lang="en-US" altLang="zh-CN" sz="2000" b="0" i="1" smtClean="0">
                          <a:latin typeface="Cambria Math" panose="02040503050406030204" pitchFamily="18" charset="0"/>
                        </a:rPr>
                        <m:t>=</m:t>
                      </m:r>
                      <m:func>
                        <m:funcPr>
                          <m:ctrlPr>
                            <a:rPr lang="en-US" altLang="zh-CN" sz="2000" i="1">
                              <a:latin typeface="Cambria Math" panose="02040503050406030204" pitchFamily="18" charset="0"/>
                            </a:rPr>
                          </m:ctrlPr>
                        </m:funcPr>
                        <m:fName>
                          <m:limLow>
                            <m:limLowPr>
                              <m:ctrlPr>
                                <a:rPr lang="en-US" altLang="zh-CN" sz="2000" i="1">
                                  <a:latin typeface="Cambria Math" panose="02040503050406030204" pitchFamily="18" charset="0"/>
                                </a:rPr>
                              </m:ctrlPr>
                            </m:limLowPr>
                            <m:e>
                              <m:r>
                                <m:rPr>
                                  <m:sty m:val="p"/>
                                </m:rPr>
                                <a:rPr lang="en-US" altLang="zh-CN" sz="2000">
                                  <a:latin typeface="Cambria Math" panose="02040503050406030204" pitchFamily="18" charset="0"/>
                                </a:rPr>
                                <m:t>lim</m:t>
                              </m:r>
                            </m:e>
                            <m:lim>
                              <m:r>
                                <a:rPr lang="en-US" altLang="zh-CN" sz="2000" i="1">
                                  <a:latin typeface="Cambria Math" panose="02040503050406030204" pitchFamily="18" charset="0"/>
                                </a:rPr>
                                <m:t>𝑇</m:t>
                              </m:r>
                              <m:r>
                                <a:rPr lang="en-US" altLang="zh-CN" sz="2000" i="1">
                                  <a:latin typeface="Cambria Math" panose="02040503050406030204" pitchFamily="18" charset="0"/>
                                  <a:ea typeface="Cambria Math" panose="02040503050406030204" pitchFamily="18" charset="0"/>
                                </a:rPr>
                                <m:t>→∞</m:t>
                              </m:r>
                            </m:lim>
                          </m:limLow>
                        </m:fName>
                        <m:e>
                          <m:f>
                            <m:fPr>
                              <m:ctrlPr>
                                <a:rPr lang="en-US" altLang="zh-CN" sz="200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1</m:t>
                              </m:r>
                            </m:num>
                            <m:den>
                              <m:r>
                                <a:rPr lang="en-US" altLang="zh-CN" sz="2000" b="0" i="1" smtClean="0">
                                  <a:latin typeface="Cambria Math" panose="02040503050406030204" pitchFamily="18" charset="0"/>
                                  <a:ea typeface="Cambria Math" panose="02040503050406030204" pitchFamily="18" charset="0"/>
                                </a:rPr>
                                <m:t>𝑇</m:t>
                              </m:r>
                            </m:den>
                          </m:f>
                          <m:nary>
                            <m:naryPr>
                              <m:limLoc m:val="undOvr"/>
                              <m:ctrlPr>
                                <a:rPr lang="en-US" altLang="zh-CN" sz="2000" i="1">
                                  <a:latin typeface="Cambria Math" panose="02040503050406030204" pitchFamily="18" charset="0"/>
                                </a:rPr>
                              </m:ctrlPr>
                            </m:naryPr>
                            <m:sub>
                              <m:r>
                                <m:rPr>
                                  <m:brk m:alnAt="24"/>
                                </m:rPr>
                                <a:rPr lang="en-US" altLang="zh-CN" sz="2000" i="1">
                                  <a:latin typeface="Cambria Math" panose="02040503050406030204" pitchFamily="18" charset="0"/>
                                </a:rPr>
                                <m:t>−</m:t>
                              </m:r>
                              <m:r>
                                <a:rPr lang="en-US" altLang="zh-CN" sz="2000" i="1">
                                  <a:latin typeface="Cambria Math" panose="02040503050406030204" pitchFamily="18" charset="0"/>
                                </a:rPr>
                                <m:t>𝑇</m:t>
                              </m:r>
                              <m:r>
                                <a:rPr lang="en-US" altLang="zh-CN" sz="2000" i="1">
                                  <a:latin typeface="Cambria Math" panose="02040503050406030204" pitchFamily="18" charset="0"/>
                                </a:rPr>
                                <m:t>/2</m:t>
                              </m:r>
                            </m:sub>
                            <m:sup>
                              <m:r>
                                <a:rPr lang="en-US" altLang="zh-CN" sz="2000" i="1">
                                  <a:latin typeface="Cambria Math" panose="02040503050406030204" pitchFamily="18" charset="0"/>
                                </a:rPr>
                                <m:t>𝑇</m:t>
                              </m:r>
                              <m:r>
                                <a:rPr lang="en-US" altLang="zh-CN" sz="2000" i="1">
                                  <a:latin typeface="Cambria Math" panose="02040503050406030204" pitchFamily="18" charset="0"/>
                                </a:rPr>
                                <m:t>/2</m:t>
                              </m:r>
                            </m:sup>
                            <m:e>
                              <m:sSup>
                                <m:sSupPr>
                                  <m:ctrlPr>
                                    <a:rPr lang="en-US" altLang="zh-CN" sz="2000" i="1" smtClean="0">
                                      <a:latin typeface="Cambria Math" panose="02040503050406030204" pitchFamily="18" charset="0"/>
                                    </a:rPr>
                                  </m:ctrlPr>
                                </m:sSupPr>
                                <m:e>
                                  <m:r>
                                    <a:rPr lang="en-US" altLang="zh-CN" sz="2000" b="0" i="1" smtClean="0">
                                      <a:latin typeface="Cambria Math" panose="02040503050406030204" pitchFamily="18" charset="0"/>
                                    </a:rPr>
                                    <m:t>𝑥</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m:t>
                              </m:r>
                              <m:r>
                                <a:rPr lang="en-US" altLang="zh-CN" sz="2000" i="1">
                                  <a:latin typeface="Cambria Math" panose="02040503050406030204" pitchFamily="18" charset="0"/>
                                </a:rPr>
                                <m:t>𝑑𝑡</m:t>
                              </m:r>
                            </m:e>
                          </m:nary>
                        </m:e>
                      </m:func>
                    </m:oMath>
                  </m:oMathPara>
                </a14:m>
                <a:endParaRPr lang="zh-CN" altLang="en-US" sz="2000" dirty="0"/>
              </a:p>
            </p:txBody>
          </p:sp>
        </mc:Choice>
        <mc:Fallback xmlns="">
          <p:sp>
            <p:nvSpPr>
              <p:cNvPr id="9" name="文本框 8"/>
              <p:cNvSpPr txBox="1">
                <a:spLocks noRot="1" noChangeAspect="1" noMove="1" noResize="1" noEditPoints="1" noAdjustHandles="1" noChangeArrowheads="1" noChangeShapeType="1" noTextEdit="1"/>
              </p:cNvSpPr>
              <p:nvPr/>
            </p:nvSpPr>
            <p:spPr>
              <a:xfrm>
                <a:off x="4767120" y="4538440"/>
                <a:ext cx="3138744" cy="977383"/>
              </a:xfrm>
              <a:prstGeom prst="rect">
                <a:avLst/>
              </a:prstGeom>
              <a:blipFill>
                <a:blip r:embed="rId4"/>
                <a:stretch>
                  <a:fillRect/>
                </a:stretch>
              </a:blipFill>
            </p:spPr>
            <p:txBody>
              <a:bodyPr/>
              <a:lstStyle/>
              <a:p>
                <a:r>
                  <a:rPr lang="zh-CN" altLang="en-US">
                    <a:noFill/>
                  </a:rPr>
                  <a:t> </a:t>
                </a:r>
              </a:p>
            </p:txBody>
          </p:sp>
        </mc:Fallback>
      </mc:AlternateContent>
      <p:sp>
        <p:nvSpPr>
          <p:cNvPr id="10" name="下箭头 9"/>
          <p:cNvSpPr/>
          <p:nvPr/>
        </p:nvSpPr>
        <p:spPr>
          <a:xfrm>
            <a:off x="5876727" y="4201209"/>
            <a:ext cx="228884" cy="2589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矩形 10"/>
              <p:cNvSpPr/>
              <p:nvPr/>
            </p:nvSpPr>
            <p:spPr>
              <a:xfrm>
                <a:off x="4762157" y="3128026"/>
                <a:ext cx="2830903" cy="9719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𝑎𝑣</m:t>
                          </m:r>
                        </m:sub>
                      </m:sSub>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lim</m:t>
                              </m:r>
                            </m:e>
                            <m:lim>
                              <m:r>
                                <a:rPr lang="en-US" altLang="zh-CN" i="1">
                                  <a:latin typeface="Cambria Math" panose="02040503050406030204" pitchFamily="18" charset="0"/>
                                </a:rPr>
                                <m:t>𝑇</m:t>
                              </m:r>
                              <m:r>
                                <a:rPr lang="en-US" altLang="zh-CN" i="1">
                                  <a:latin typeface="Cambria Math" panose="02040503050406030204" pitchFamily="18" charset="0"/>
                                  <a:ea typeface="Cambria Math" panose="02040503050406030204" pitchFamily="18" charset="0"/>
                                </a:rPr>
                                <m:t>→∞</m:t>
                              </m:r>
                            </m:lim>
                          </m:limLow>
                        </m:fName>
                        <m:e>
                          <m:f>
                            <m:fPr>
                              <m:ctrlPr>
                                <a:rPr lang="en-US" altLang="zh-CN" i="1" smtClean="0">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𝑇</m:t>
                              </m:r>
                            </m:den>
                          </m:f>
                          <m:nary>
                            <m:naryPr>
                              <m:limLoc m:val="undOvr"/>
                              <m:ctrlPr>
                                <a:rPr lang="en-US" altLang="zh-CN" i="1">
                                  <a:latin typeface="Cambria Math" panose="02040503050406030204" pitchFamily="18" charset="0"/>
                                </a:rPr>
                              </m:ctrlPr>
                            </m:naryPr>
                            <m:sub>
                              <m:r>
                                <m:rPr>
                                  <m:brk m:alnAt="24"/>
                                </m:rPr>
                                <a:rPr lang="en-US" altLang="zh-CN" i="1">
                                  <a:latin typeface="Cambria Math" panose="02040503050406030204" pitchFamily="18" charset="0"/>
                                </a:rPr>
                                <m:t>−</m:t>
                              </m:r>
                              <m:r>
                                <a:rPr lang="en-US" altLang="zh-CN" i="1">
                                  <a:latin typeface="Cambria Math" panose="02040503050406030204" pitchFamily="18" charset="0"/>
                                </a:rPr>
                                <m:t>𝑇</m:t>
                              </m:r>
                              <m:r>
                                <a:rPr lang="en-US" altLang="zh-CN" i="1">
                                  <a:latin typeface="Cambria Math" panose="02040503050406030204" pitchFamily="18" charset="0"/>
                                </a:rPr>
                                <m:t>/2</m:t>
                              </m:r>
                            </m:sub>
                            <m:sup>
                              <m:r>
                                <a:rPr lang="en-US" altLang="zh-CN" i="1">
                                  <a:latin typeface="Cambria Math" panose="02040503050406030204" pitchFamily="18" charset="0"/>
                                </a:rPr>
                                <m:t>𝑇</m:t>
                              </m:r>
                              <m:r>
                                <a:rPr lang="en-US" altLang="zh-CN" i="1">
                                  <a:latin typeface="Cambria Math" panose="02040503050406030204" pitchFamily="18" charset="0"/>
                                </a:rPr>
                                <m:t>/2</m:t>
                              </m:r>
                            </m:sup>
                            <m:e>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𝐿</m:t>
                                      </m:r>
                                    </m:sub>
                                  </m:sSub>
                                </m:den>
                              </m:f>
                              <m:r>
                                <a:rPr lang="en-US" altLang="zh-CN" i="1">
                                  <a:latin typeface="Cambria Math" panose="02040503050406030204" pitchFamily="18" charset="0"/>
                                </a:rPr>
                                <m:t>𝑑𝑡</m:t>
                              </m:r>
                            </m:e>
                          </m:nary>
                        </m:e>
                      </m:func>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4762157" y="3128026"/>
                <a:ext cx="2830903" cy="971933"/>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71053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噪声的统计特性</a:t>
            </a:r>
          </a:p>
        </p:txBody>
      </p:sp>
      <p:sp>
        <p:nvSpPr>
          <p:cNvPr id="3" name="内容占位符 2"/>
          <p:cNvSpPr>
            <a:spLocks noGrp="1"/>
          </p:cNvSpPr>
          <p:nvPr>
            <p:ph idx="1"/>
          </p:nvPr>
        </p:nvSpPr>
        <p:spPr/>
        <p:txBody>
          <a:bodyPr/>
          <a:lstStyle/>
          <a:p>
            <a:r>
              <a:rPr lang="zh-CN" altLang="en-US" dirty="0" smtClean="0"/>
              <a:t>噪声谱</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6</a:t>
            </a:fld>
            <a:endParaRPr lang="zh-CN" altLang="en-US"/>
          </a:p>
        </p:txBody>
      </p:sp>
      <p:pic>
        <p:nvPicPr>
          <p:cNvPr id="6" name="图片 5"/>
          <p:cNvPicPr>
            <a:picLocks noChangeAspect="1"/>
          </p:cNvPicPr>
          <p:nvPr/>
        </p:nvPicPr>
        <p:blipFill>
          <a:blip r:embed="rId2"/>
          <a:stretch>
            <a:fillRect/>
          </a:stretch>
        </p:blipFill>
        <p:spPr>
          <a:xfrm>
            <a:off x="111764" y="2356338"/>
            <a:ext cx="5913897" cy="3820625"/>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6223488" y="1027906"/>
                <a:ext cx="4774223" cy="5099025"/>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2400" dirty="0" smtClean="0"/>
                  <a:t>频谱，也被称为“功率谱密度”，表示在每个频率上信号具有的功率大小。</a:t>
                </a:r>
                <a:endParaRPr lang="en-US" altLang="zh-CN" sz="2400" dirty="0" smtClean="0"/>
              </a:p>
              <a:p>
                <a:pPr marL="285750" indent="-285750">
                  <a:lnSpc>
                    <a:spcPct val="150000"/>
                  </a:lnSpc>
                  <a:buFont typeface="Wingdings" panose="05000000000000000000" pitchFamily="2" charset="2"/>
                  <a:buChar char="l"/>
                </a:pPr>
                <a:r>
                  <a:rPr lang="en-US" altLang="zh-CN" sz="2400" i="1" dirty="0" err="1" smtClean="0">
                    <a:latin typeface="Times New Roman" pitchFamily="18" charset="0"/>
                    <a:cs typeface="Times New Roman" pitchFamily="18" charset="0"/>
                  </a:rPr>
                  <a:t>S</a:t>
                </a:r>
                <a:r>
                  <a:rPr lang="en-US" altLang="zh-CN" sz="2400" i="1" baseline="-25000" dirty="0" err="1" smtClean="0">
                    <a:latin typeface="Times New Roman" pitchFamily="18" charset="0"/>
                    <a:cs typeface="Times New Roman" pitchFamily="18" charset="0"/>
                  </a:rPr>
                  <a:t>x</a:t>
                </a:r>
                <a:r>
                  <a:rPr lang="en-US" altLang="zh-CN" sz="2400" i="1" dirty="0" smtClean="0">
                    <a:latin typeface="Times New Roman" pitchFamily="18" charset="0"/>
                    <a:cs typeface="Times New Roman" pitchFamily="18" charset="0"/>
                  </a:rPr>
                  <a:t>(</a:t>
                </a:r>
                <a:r>
                  <a:rPr lang="en-US" altLang="zh-CN" sz="2400" i="1" dirty="0" err="1" smtClean="0">
                    <a:latin typeface="Times New Roman" pitchFamily="18" charset="0"/>
                    <a:cs typeface="Times New Roman" pitchFamily="18" charset="0"/>
                  </a:rPr>
                  <a:t>f</a:t>
                </a:r>
                <a:r>
                  <a:rPr lang="en-US" altLang="zh-CN" sz="2400" i="1" baseline="-25000" dirty="0" err="1" smtClean="0">
                    <a:latin typeface="Times New Roman" pitchFamily="18" charset="0"/>
                    <a:cs typeface="Times New Roman" pitchFamily="18" charset="0"/>
                  </a:rPr>
                  <a:t>x</a:t>
                </a:r>
                <a:r>
                  <a:rPr lang="en-US" altLang="zh-CN" sz="2400" i="1" dirty="0" smtClean="0">
                    <a:latin typeface="Times New Roman" pitchFamily="18" charset="0"/>
                    <a:cs typeface="Times New Roman" pitchFamily="18" charset="0"/>
                  </a:rPr>
                  <a:t>)</a:t>
                </a:r>
                <a:r>
                  <a:rPr lang="zh-CN" altLang="en-US" sz="2400" dirty="0">
                    <a:latin typeface="Times New Roman" pitchFamily="18" charset="0"/>
                    <a:cs typeface="Times New Roman" pitchFamily="18" charset="0"/>
                  </a:rPr>
                  <a:t>的含义是</a:t>
                </a:r>
                <a:r>
                  <a:rPr lang="en-US" altLang="zh-CN" sz="2400" i="1" dirty="0" err="1" smtClean="0">
                    <a:latin typeface="Times New Roman" pitchFamily="18" charset="0"/>
                    <a:cs typeface="Times New Roman" pitchFamily="18" charset="0"/>
                  </a:rPr>
                  <a:t>f</a:t>
                </a:r>
                <a:r>
                  <a:rPr lang="en-US" altLang="zh-CN" sz="2400" baseline="-25000" dirty="0" err="1" smtClean="0">
                    <a:latin typeface="Times New Roman" pitchFamily="18" charset="0"/>
                    <a:cs typeface="Times New Roman" pitchFamily="18" charset="0"/>
                  </a:rPr>
                  <a:t>x</a:t>
                </a:r>
                <a:r>
                  <a:rPr lang="zh-CN" altLang="en-US" sz="2400" dirty="0" smtClean="0">
                    <a:latin typeface="Times New Roman" pitchFamily="18" charset="0"/>
                    <a:cs typeface="Times New Roman" pitchFamily="18" charset="0"/>
                  </a:rPr>
                  <a:t>频</a:t>
                </a:r>
                <a:r>
                  <a:rPr lang="zh-CN" altLang="en-US" sz="2400" dirty="0">
                    <a:latin typeface="Times New Roman" pitchFamily="18" charset="0"/>
                    <a:cs typeface="Times New Roman" pitchFamily="18" charset="0"/>
                  </a:rPr>
                  <a:t>点附近</a:t>
                </a:r>
                <a:r>
                  <a:rPr lang="en-US" altLang="zh-CN" sz="2400" dirty="0">
                    <a:latin typeface="Times New Roman" pitchFamily="18" charset="0"/>
                    <a:cs typeface="Times New Roman" pitchFamily="18" charset="0"/>
                  </a:rPr>
                  <a:t>1Hz</a:t>
                </a:r>
                <a:r>
                  <a:rPr lang="zh-CN" altLang="en-US" sz="2400" dirty="0">
                    <a:latin typeface="Times New Roman" pitchFamily="18" charset="0"/>
                    <a:cs typeface="Times New Roman" pitchFamily="18" charset="0"/>
                  </a:rPr>
                  <a:t>带宽内信号的平均功率，单位是</a:t>
                </a:r>
                <a:r>
                  <a:rPr lang="en-US" altLang="zh-CN" sz="2400" dirty="0">
                    <a:latin typeface="Times New Roman" pitchFamily="18" charset="0"/>
                    <a:cs typeface="Times New Roman" pitchFamily="18" charset="0"/>
                  </a:rPr>
                  <a:t>W/Hz</a:t>
                </a:r>
                <a:r>
                  <a:rPr lang="zh-CN" altLang="en-US" sz="2400" dirty="0" smtClean="0">
                    <a:latin typeface="Times New Roman" pitchFamily="18" charset="0"/>
                    <a:cs typeface="Times New Roman" pitchFamily="18" charset="0"/>
                  </a:rPr>
                  <a:t>。</a:t>
                </a:r>
                <a:endParaRPr lang="en-US" altLang="zh-CN" sz="2400" dirty="0" smtClean="0">
                  <a:latin typeface="Times New Roman" pitchFamily="18" charset="0"/>
                  <a:cs typeface="Times New Roman" pitchFamily="18" charset="0"/>
                </a:endParaRPr>
              </a:p>
              <a:p>
                <a:pPr marL="285750" indent="-285750">
                  <a:lnSpc>
                    <a:spcPct val="150000"/>
                  </a:lnSpc>
                  <a:buFont typeface="Wingdings" panose="05000000000000000000" pitchFamily="2" charset="2"/>
                  <a:buChar char="l"/>
                </a:pPr>
                <a:r>
                  <a:rPr lang="zh-CN" altLang="en-US" sz="2400" dirty="0" smtClean="0"/>
                  <a:t>均方值和</a:t>
                </a:r>
                <a:r>
                  <a:rPr lang="en-US" altLang="zh-CN" sz="2400" i="1" dirty="0" err="1" smtClean="0">
                    <a:latin typeface="Times New Roman" pitchFamily="18" charset="0"/>
                    <a:cs typeface="Times New Roman" pitchFamily="18" charset="0"/>
                  </a:rPr>
                  <a:t>S</a:t>
                </a:r>
                <a:r>
                  <a:rPr lang="en-US" altLang="zh-CN" sz="2400" i="1" baseline="-25000" dirty="0" err="1" smtClean="0">
                    <a:latin typeface="Times New Roman" pitchFamily="18" charset="0"/>
                    <a:cs typeface="Times New Roman" pitchFamily="18" charset="0"/>
                  </a:rPr>
                  <a:t>x</a:t>
                </a:r>
                <a:r>
                  <a:rPr lang="en-US" altLang="zh-CN" sz="2400" i="1" dirty="0" smtClean="0">
                    <a:latin typeface="Times New Roman" pitchFamily="18" charset="0"/>
                    <a:cs typeface="Times New Roman" pitchFamily="18" charset="0"/>
                  </a:rPr>
                  <a:t>(</a:t>
                </a:r>
                <a:r>
                  <a:rPr lang="en-US" altLang="zh-CN" sz="2400" i="1" dirty="0" err="1" smtClean="0">
                    <a:latin typeface="Times New Roman" pitchFamily="18" charset="0"/>
                    <a:cs typeface="Times New Roman" pitchFamily="18" charset="0"/>
                  </a:rPr>
                  <a:t>f</a:t>
                </a:r>
                <a:r>
                  <a:rPr lang="en-US" altLang="zh-CN" sz="2400" i="1" baseline="-25000" dirty="0" err="1" smtClean="0">
                    <a:latin typeface="Times New Roman" pitchFamily="18" charset="0"/>
                    <a:cs typeface="Times New Roman" pitchFamily="18" charset="0"/>
                  </a:rPr>
                  <a:t>x</a:t>
                </a:r>
                <a:r>
                  <a:rPr lang="en-US" altLang="zh-CN" sz="2400" i="1" dirty="0" smtClean="0">
                    <a:latin typeface="Times New Roman" pitchFamily="18" charset="0"/>
                    <a:cs typeface="Times New Roman" pitchFamily="18" charset="0"/>
                  </a:rPr>
                  <a:t>)</a:t>
                </a:r>
                <a:r>
                  <a:rPr lang="zh-CN" altLang="en-US" sz="2400" dirty="0" smtClean="0">
                    <a:latin typeface="Times New Roman" pitchFamily="18" charset="0"/>
                    <a:cs typeface="Times New Roman" pitchFamily="18" charset="0"/>
                  </a:rPr>
                  <a:t>的关系：</a:t>
                </a:r>
                <a:endParaRPr lang="en-US" altLang="zh-CN" sz="2400" dirty="0" smtClean="0">
                  <a:latin typeface="Times New Roman" pitchFamily="18" charset="0"/>
                  <a:cs typeface="Times New Roman" pitchFamily="18" charset="0"/>
                </a:endParaRPr>
              </a:p>
              <a:p>
                <a:pPr marL="285750" indent="-285750">
                  <a:lnSpc>
                    <a:spcPct val="150000"/>
                  </a:lnSpc>
                  <a:buFont typeface="Wingdings" panose="05000000000000000000" pitchFamily="2" charset="2"/>
                  <a:buChar char="l"/>
                </a:pPr>
                <a:r>
                  <a:rPr lang="zh-CN" altLang="en-US" sz="2400" dirty="0" smtClean="0">
                    <a:latin typeface="Times New Roman" pitchFamily="18" charset="0"/>
                    <a:cs typeface="Times New Roman" pitchFamily="18" charset="0"/>
                  </a:rPr>
                  <a:t>功率谱密度的单位是</a:t>
                </a:r>
                <a14:m>
                  <m:oMath xmlns:m="http://schemas.openxmlformats.org/officeDocument/2006/math">
                    <m:f>
                      <m:fPr>
                        <m:type m:val="lin"/>
                        <m:ctrlPr>
                          <a:rPr lang="zh-CN" altLang="en-US" sz="2400" i="1" smtClean="0">
                            <a:latin typeface="Cambria Math" panose="02040503050406030204" pitchFamily="18" charset="0"/>
                            <a:cs typeface="Times New Roman" pitchFamily="18" charset="0"/>
                          </a:rPr>
                        </m:ctrlPr>
                      </m:fPr>
                      <m:num>
                        <m:sSup>
                          <m:sSupPr>
                            <m:ctrlPr>
                              <a:rPr lang="en-US" altLang="zh-CN" sz="2400" i="1" smtClean="0">
                                <a:latin typeface="Cambria Math" panose="02040503050406030204" pitchFamily="18" charset="0"/>
                                <a:cs typeface="Times New Roman" pitchFamily="18" charset="0"/>
                              </a:rPr>
                            </m:ctrlPr>
                          </m:sSupPr>
                          <m:e>
                            <m:r>
                              <m:rPr>
                                <m:sty m:val="p"/>
                              </m:rPr>
                              <a:rPr lang="en-US" altLang="zh-CN" sz="2400" b="0" i="0" smtClean="0">
                                <a:latin typeface="Cambria Math" panose="02040503050406030204" pitchFamily="18" charset="0"/>
                                <a:cs typeface="Times New Roman" pitchFamily="18" charset="0"/>
                              </a:rPr>
                              <m:t>V</m:t>
                            </m:r>
                          </m:e>
                          <m:sup>
                            <m:r>
                              <a:rPr lang="en-US" altLang="zh-CN" sz="2400" b="0" i="0" smtClean="0">
                                <a:latin typeface="Cambria Math" panose="02040503050406030204" pitchFamily="18" charset="0"/>
                                <a:cs typeface="Times New Roman" pitchFamily="18" charset="0"/>
                              </a:rPr>
                              <m:t>2</m:t>
                            </m:r>
                          </m:sup>
                        </m:sSup>
                      </m:num>
                      <m:den>
                        <m:r>
                          <m:rPr>
                            <m:sty m:val="p"/>
                          </m:rPr>
                          <a:rPr lang="en-US" altLang="zh-CN" sz="2400" b="0" i="0" smtClean="0">
                            <a:latin typeface="Cambria Math" panose="02040503050406030204" pitchFamily="18" charset="0"/>
                            <a:cs typeface="Times New Roman" pitchFamily="18" charset="0"/>
                          </a:rPr>
                          <m:t>Hz</m:t>
                        </m:r>
                      </m:den>
                    </m:f>
                  </m:oMath>
                </a14:m>
                <a:r>
                  <a:rPr lang="zh-CN" altLang="en-US" sz="2400" dirty="0" smtClean="0"/>
                  <a:t>，噪声电压的单位是</a:t>
                </a:r>
                <a14:m>
                  <m:oMath xmlns:m="http://schemas.openxmlformats.org/officeDocument/2006/math">
                    <m:r>
                      <m:rPr>
                        <m:sty m:val="p"/>
                      </m:rPr>
                      <a:rPr lang="en-US" altLang="zh-CN" sz="2400" b="0" i="0" smtClean="0">
                        <a:latin typeface="Cambria Math" panose="02040503050406030204" pitchFamily="18" charset="0"/>
                      </a:rPr>
                      <m:t>V</m:t>
                    </m:r>
                    <m:r>
                      <a:rPr lang="en-US" altLang="zh-CN" sz="2400" b="0" i="0" smtClean="0">
                        <a:latin typeface="Cambria Math" panose="02040503050406030204" pitchFamily="18" charset="0"/>
                      </a:rPr>
                      <m:t>/</m:t>
                    </m:r>
                    <m:sSup>
                      <m:sSupPr>
                        <m:ctrlPr>
                          <a:rPr lang="en-US" altLang="zh-CN" sz="2400" b="0" i="1" smtClean="0">
                            <a:latin typeface="Cambria Math" panose="02040503050406030204" pitchFamily="18" charset="0"/>
                          </a:rPr>
                        </m:ctrlPr>
                      </m:sSupPr>
                      <m:e>
                        <m:r>
                          <m:rPr>
                            <m:sty m:val="p"/>
                          </m:rPr>
                          <a:rPr lang="en-US" altLang="zh-CN" sz="2400" b="0" i="0" smtClean="0">
                            <a:latin typeface="Cambria Math" panose="02040503050406030204" pitchFamily="18" charset="0"/>
                          </a:rPr>
                          <m:t>Hz</m:t>
                        </m:r>
                      </m:e>
                      <m:sup>
                        <m:r>
                          <a:rPr lang="en-US" altLang="zh-CN" sz="2400" b="0" i="0" smtClean="0">
                            <a:latin typeface="Cambria Math" panose="02040503050406030204" pitchFamily="18" charset="0"/>
                          </a:rPr>
                          <m:t>1/2</m:t>
                        </m:r>
                      </m:sup>
                    </m:sSup>
                  </m:oMath>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6223488" y="1027906"/>
                <a:ext cx="4774223" cy="5099025"/>
              </a:xfrm>
              <a:prstGeom prst="rect">
                <a:avLst/>
              </a:prstGeom>
              <a:blipFill>
                <a:blip r:embed="rId3"/>
                <a:stretch>
                  <a:fillRect l="-1788" r="-1149" b="-43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9611069" y="4372158"/>
                <a:ext cx="2054858" cy="5993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latin typeface="Cambria Math" panose="02040503050406030204" pitchFamily="18" charset="0"/>
                            </a:rPr>
                          </m:ctrlPr>
                        </m:accPr>
                        <m:e>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e>
                      </m:acc>
                      <m:r>
                        <a:rPr lang="en-US" altLang="zh-CN" b="0" i="1" smtClean="0">
                          <a:latin typeface="Cambria Math" panose="02040503050406030204" pitchFamily="18" charset="0"/>
                        </a:rPr>
                        <m:t>=</m:t>
                      </m:r>
                      <m:nary>
                        <m:naryPr>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0</m:t>
                          </m:r>
                        </m:sub>
                        <m:sup>
                          <m:r>
                            <a:rPr lang="en-US" altLang="zh-CN" b="0" i="1" smtClean="0">
                              <a:latin typeface="Cambria Math" panose="02040503050406030204" pitchFamily="18" charset="0"/>
                              <a:ea typeface="Cambria Math" panose="02040503050406030204" pitchFamily="18" charset="0"/>
                            </a:rPr>
                            <m:t>∞</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𝑥</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𝑓</m:t>
                              </m:r>
                            </m:e>
                          </m:d>
                          <m:r>
                            <a:rPr lang="en-US" altLang="zh-CN" b="0" i="1" smtClean="0">
                              <a:latin typeface="Cambria Math" panose="02040503050406030204" pitchFamily="18" charset="0"/>
                            </a:rPr>
                            <m:t>𝑑𝑓</m:t>
                          </m:r>
                        </m:e>
                      </m:nary>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9611069" y="4372158"/>
                <a:ext cx="2054858" cy="599331"/>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51286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噪声的统计特性</a:t>
            </a:r>
          </a:p>
        </p:txBody>
      </p:sp>
      <p:sp>
        <p:nvSpPr>
          <p:cNvPr id="3" name="内容占位符 2"/>
          <p:cNvSpPr>
            <a:spLocks noGrp="1"/>
          </p:cNvSpPr>
          <p:nvPr>
            <p:ph idx="1"/>
          </p:nvPr>
        </p:nvSpPr>
        <p:spPr>
          <a:xfrm>
            <a:off x="943707" y="4037134"/>
            <a:ext cx="10515600" cy="2501778"/>
          </a:xfrm>
        </p:spPr>
        <p:txBody>
          <a:bodyPr>
            <a:normAutofit/>
          </a:bodyPr>
          <a:lstStyle/>
          <a:p>
            <a:pPr>
              <a:lnSpc>
                <a:spcPct val="100000"/>
              </a:lnSpc>
            </a:pPr>
            <a:r>
              <a:rPr lang="zh-CN" altLang="en-US" sz="2400" dirty="0"/>
              <a:t>白噪声是指功率谱密度为常数的噪声。</a:t>
            </a:r>
          </a:p>
          <a:p>
            <a:pPr>
              <a:lnSpc>
                <a:spcPct val="100000"/>
              </a:lnSpc>
            </a:pPr>
            <a:r>
              <a:rPr lang="zh-CN" altLang="en-US" sz="2400" dirty="0"/>
              <a:t>有色噪声指功率谱密度随频率变化的噪声。</a:t>
            </a:r>
          </a:p>
          <a:p>
            <a:pPr>
              <a:lnSpc>
                <a:spcPct val="100000"/>
              </a:lnSpc>
            </a:pPr>
            <a:r>
              <a:rPr lang="zh-CN" altLang="en-US" sz="2400" dirty="0"/>
              <a:t>常见的白噪声：电阻热噪声、晶体管沟道热噪声。</a:t>
            </a:r>
          </a:p>
          <a:p>
            <a:pPr>
              <a:lnSpc>
                <a:spcPct val="100000"/>
              </a:lnSpc>
            </a:pPr>
            <a:r>
              <a:rPr lang="zh-CN" altLang="en-US" sz="2400" dirty="0"/>
              <a:t>常见的有色噪声：闪烁噪声</a:t>
            </a:r>
            <a:r>
              <a:rPr lang="en-US" altLang="zh-CN" sz="2400" dirty="0"/>
              <a:t>(1/f</a:t>
            </a:r>
            <a:r>
              <a:rPr lang="zh-CN" altLang="en-US" sz="2400" dirty="0"/>
              <a:t>噪声</a:t>
            </a:r>
            <a:r>
              <a:rPr lang="en-US" altLang="zh-CN" sz="2400" dirty="0"/>
              <a:t>)</a:t>
            </a:r>
          </a:p>
          <a:p>
            <a:pPr>
              <a:lnSpc>
                <a:spcPct val="100000"/>
              </a:lnSpc>
            </a:pPr>
            <a:endParaRPr lang="zh-CN" altLang="en-US" sz="2400"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7</a:t>
            </a:fld>
            <a:endParaRPr lang="zh-CN" altLang="en-US"/>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473" y="1870075"/>
            <a:ext cx="8145462" cy="174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4188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噪声的统计特性</a:t>
            </a:r>
          </a:p>
        </p:txBody>
      </p:sp>
      <p:sp>
        <p:nvSpPr>
          <p:cNvPr id="3" name="内容占位符 2"/>
          <p:cNvSpPr>
            <a:spLocks noGrp="1"/>
          </p:cNvSpPr>
          <p:nvPr>
            <p:ph idx="1"/>
          </p:nvPr>
        </p:nvSpPr>
        <p:spPr/>
        <p:txBody>
          <a:bodyPr/>
          <a:lstStyle/>
          <a:p>
            <a:r>
              <a:rPr lang="zh-CN" altLang="en-US" dirty="0" smtClean="0"/>
              <a:t>定理</a:t>
            </a:r>
            <a:endParaRPr lang="en-US" altLang="zh-CN" dirty="0" smtClean="0"/>
          </a:p>
          <a:p>
            <a:pPr lvl="1">
              <a:lnSpc>
                <a:spcPct val="150000"/>
              </a:lnSpc>
            </a:pPr>
            <a:r>
              <a:rPr lang="zh-CN" altLang="en-US" dirty="0">
                <a:latin typeface="Times New Roman" pitchFamily="18" charset="0"/>
                <a:cs typeface="Times New Roman" pitchFamily="18" charset="0"/>
              </a:rPr>
              <a:t>功率谱为</a:t>
            </a:r>
            <a:r>
              <a:rPr lang="en-US" altLang="zh-CN" dirty="0">
                <a:latin typeface="Times New Roman" pitchFamily="18" charset="0"/>
                <a:cs typeface="Times New Roman" pitchFamily="18" charset="0"/>
              </a:rPr>
              <a:t>S</a:t>
            </a:r>
            <a:r>
              <a:rPr lang="en-US" altLang="zh-CN" baseline="-25000" dirty="0">
                <a:latin typeface="Times New Roman" pitchFamily="18" charset="0"/>
                <a:cs typeface="Times New Roman" pitchFamily="18" charset="0"/>
              </a:rPr>
              <a:t>X</a:t>
            </a:r>
            <a:r>
              <a:rPr lang="en-US" altLang="zh-CN" dirty="0">
                <a:latin typeface="Times New Roman" pitchFamily="18" charset="0"/>
                <a:cs typeface="Times New Roman" pitchFamily="18" charset="0"/>
              </a:rPr>
              <a:t>(</a:t>
            </a:r>
            <a:r>
              <a:rPr lang="en-US" altLang="zh-CN" i="1" dirty="0">
                <a:latin typeface="Times New Roman" pitchFamily="18" charset="0"/>
                <a:cs typeface="Times New Roman" pitchFamily="18" charset="0"/>
              </a:rPr>
              <a:t>f</a:t>
            </a:r>
            <a:r>
              <a:rPr lang="en-US" altLang="zh-CN" dirty="0">
                <a:latin typeface="Times New Roman" pitchFamily="18" charset="0"/>
                <a:cs typeface="Times New Roman" pitchFamily="18" charset="0"/>
              </a:rPr>
              <a:t>)</a:t>
            </a:r>
            <a:r>
              <a:rPr lang="zh-CN" altLang="en-US" dirty="0">
                <a:latin typeface="Times New Roman" pitchFamily="18" charset="0"/>
                <a:cs typeface="Times New Roman" pitchFamily="18" charset="0"/>
              </a:rPr>
              <a:t>的噪声经过传递函数为</a:t>
            </a:r>
            <a:r>
              <a:rPr lang="en-US" altLang="zh-CN" dirty="0">
                <a:latin typeface="Times New Roman" pitchFamily="18" charset="0"/>
                <a:cs typeface="Times New Roman" pitchFamily="18" charset="0"/>
              </a:rPr>
              <a:t>H(f)</a:t>
            </a:r>
            <a:r>
              <a:rPr lang="zh-CN" altLang="en-US" dirty="0">
                <a:latin typeface="Times New Roman" pitchFamily="18" charset="0"/>
                <a:cs typeface="Times New Roman" pitchFamily="18" charset="0"/>
              </a:rPr>
              <a:t>的线性时不变系统后，输出功率谱密度</a:t>
            </a:r>
            <a:r>
              <a:rPr lang="en-US" altLang="zh-CN" dirty="0">
                <a:latin typeface="Times New Roman" pitchFamily="18" charset="0"/>
                <a:cs typeface="Times New Roman" pitchFamily="18" charset="0"/>
              </a:rPr>
              <a:t>S</a:t>
            </a:r>
            <a:r>
              <a:rPr lang="en-US" altLang="zh-CN" baseline="-25000" dirty="0">
                <a:latin typeface="Times New Roman" pitchFamily="18" charset="0"/>
                <a:cs typeface="Times New Roman" pitchFamily="18" charset="0"/>
              </a:rPr>
              <a:t>Y</a:t>
            </a:r>
            <a:r>
              <a:rPr lang="en-US" altLang="zh-CN" dirty="0">
                <a:latin typeface="Times New Roman" pitchFamily="18" charset="0"/>
                <a:cs typeface="Times New Roman" pitchFamily="18" charset="0"/>
              </a:rPr>
              <a:t>(</a:t>
            </a:r>
            <a:r>
              <a:rPr lang="en-US" altLang="zh-CN" i="1" dirty="0">
                <a:latin typeface="Times New Roman" pitchFamily="18" charset="0"/>
                <a:cs typeface="Times New Roman" pitchFamily="18" charset="0"/>
              </a:rPr>
              <a:t>f</a:t>
            </a:r>
            <a:r>
              <a:rPr lang="en-US" altLang="zh-CN" dirty="0">
                <a:latin typeface="Times New Roman" pitchFamily="18" charset="0"/>
                <a:cs typeface="Times New Roman" pitchFamily="18" charset="0"/>
              </a:rPr>
              <a:t>)</a:t>
            </a:r>
            <a:r>
              <a:rPr lang="zh-CN" altLang="en-US" dirty="0">
                <a:latin typeface="Times New Roman" pitchFamily="18" charset="0"/>
                <a:cs typeface="Times New Roman" pitchFamily="18" charset="0"/>
              </a:rPr>
              <a:t>为：</a:t>
            </a:r>
            <a:endParaRPr lang="en-US" altLang="zh-CN" dirty="0">
              <a:solidFill>
                <a:srgbClr val="000000"/>
              </a:solidFill>
              <a:latin typeface="Times New Roman" pitchFamily="18" charset="0"/>
              <a:cs typeface="Times New Roman" pitchFamily="18" charset="0"/>
            </a:endParaRPr>
          </a:p>
          <a:p>
            <a:pPr lvl="1"/>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8</a:t>
            </a:fld>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4134070" y="3499338"/>
                <a:ext cx="298588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𝑆</m:t>
                          </m:r>
                        </m:e>
                        <m:sub>
                          <m:r>
                            <a:rPr lang="en-US" altLang="zh-CN" sz="2400" b="0" i="1" smtClean="0">
                              <a:latin typeface="Cambria Math" panose="02040503050406030204" pitchFamily="18" charset="0"/>
                            </a:rPr>
                            <m:t>𝑌</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𝑓</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𝑆</m:t>
                          </m:r>
                        </m:e>
                        <m:sub>
                          <m:r>
                            <a:rPr lang="en-US" altLang="zh-CN" sz="2400" b="0" i="1" smtClean="0">
                              <a:latin typeface="Cambria Math" panose="02040503050406030204" pitchFamily="18" charset="0"/>
                            </a:rPr>
                            <m:t>𝑋</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𝑓</m:t>
                          </m:r>
                        </m:e>
                      </m:d>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i="1">
                              <a:latin typeface="Cambria Math" panose="02040503050406030204" pitchFamily="18" charset="0"/>
                            </a:rPr>
                            <m:t>𝐻</m:t>
                          </m:r>
                          <m:r>
                            <a:rPr lang="en-US" altLang="zh-CN" sz="2400" i="1">
                              <a:latin typeface="Cambria Math" panose="02040503050406030204" pitchFamily="18" charset="0"/>
                            </a:rPr>
                            <m:t>(</m:t>
                          </m:r>
                          <m:r>
                            <a:rPr lang="en-US" altLang="zh-CN" sz="2400" i="1">
                              <a:latin typeface="Cambria Math" panose="02040503050406030204" pitchFamily="18" charset="0"/>
                            </a:rPr>
                            <m:t>𝑓</m:t>
                          </m:r>
                          <m:r>
                            <a:rPr lang="en-US" altLang="zh-CN" sz="2400" i="1">
                              <a:latin typeface="Cambria Math" panose="02040503050406030204" pitchFamily="18" charset="0"/>
                            </a:rPr>
                            <m:t>)|</m:t>
                          </m:r>
                        </m:e>
                        <m:sup>
                          <m:r>
                            <a:rPr lang="en-US" altLang="zh-CN" sz="2400" b="0" i="1" smtClean="0">
                              <a:latin typeface="Cambria Math" panose="02040503050406030204" pitchFamily="18" charset="0"/>
                            </a:rPr>
                            <m:t>2</m:t>
                          </m:r>
                        </m:sup>
                      </m:sSup>
                    </m:oMath>
                  </m:oMathPara>
                </a14:m>
                <a:endParaRPr lang="zh-CN" altLang="en-US" sz="2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4134070" y="3499338"/>
                <a:ext cx="2985882" cy="369332"/>
              </a:xfrm>
              <a:prstGeom prst="rect">
                <a:avLst/>
              </a:prstGeom>
              <a:blipFill>
                <a:blip r:embed="rId2"/>
                <a:stretch>
                  <a:fillRect l="-1633" r="-204" b="-344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4274525" y="4048057"/>
                <a:ext cx="2704971" cy="3990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𝐻</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𝑓</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i="1">
                              <a:latin typeface="Cambria Math" panose="02040503050406030204" pitchFamily="18" charset="0"/>
                            </a:rPr>
                            <m:t>|</m:t>
                          </m:r>
                        </m:e>
                        <m:sub>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2</m:t>
                          </m:r>
                          <m:r>
                            <a:rPr lang="zh-CN" altLang="en-US" sz="2400" b="0" i="1" smtClean="0">
                              <a:latin typeface="Cambria Math" panose="02040503050406030204" pitchFamily="18" charset="0"/>
                            </a:rPr>
                            <m:t>𝜋</m:t>
                          </m:r>
                          <m:r>
                            <a:rPr lang="en-US" altLang="zh-CN" sz="2400" b="0" i="1" smtClean="0">
                              <a:latin typeface="Cambria Math" panose="02040503050406030204" pitchFamily="18" charset="0"/>
                            </a:rPr>
                            <m:t>𝑓</m:t>
                          </m:r>
                        </m:sub>
                      </m:sSub>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4274525" y="4048057"/>
                <a:ext cx="2704971" cy="399084"/>
              </a:xfrm>
              <a:prstGeom prst="rect">
                <a:avLst/>
              </a:prstGeom>
              <a:blipFill>
                <a:blip r:embed="rId3"/>
                <a:stretch>
                  <a:fillRect l="-1802" r="-1126" b="-25758"/>
                </a:stretch>
              </a:blipFill>
            </p:spPr>
            <p:txBody>
              <a:bodyPr/>
              <a:lstStyle/>
              <a:p>
                <a:r>
                  <a:rPr lang="zh-CN" altLang="en-US">
                    <a:noFill/>
                  </a:rPr>
                  <a:t> </a:t>
                </a:r>
              </a:p>
            </p:txBody>
          </p:sp>
        </mc:Fallback>
      </mc:AlternateContent>
      <p:pic>
        <p:nvPicPr>
          <p:cNvPr id="8" name="图片 7"/>
          <p:cNvPicPr>
            <a:picLocks noChangeAspect="1"/>
          </p:cNvPicPr>
          <p:nvPr/>
        </p:nvPicPr>
        <p:blipFill>
          <a:blip r:embed="rId4"/>
          <a:stretch>
            <a:fillRect/>
          </a:stretch>
        </p:blipFill>
        <p:spPr>
          <a:xfrm>
            <a:off x="1558437" y="4554261"/>
            <a:ext cx="9150594" cy="1757639"/>
          </a:xfrm>
          <a:prstGeom prst="rect">
            <a:avLst/>
          </a:prstGeom>
        </p:spPr>
      </p:pic>
    </p:spTree>
    <p:extLst>
      <p:ext uri="{BB962C8B-B14F-4D97-AF65-F5344CB8AC3E}">
        <p14:creationId xmlns:p14="http://schemas.microsoft.com/office/powerpoint/2010/main" val="3913838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噪声的统计特性</a:t>
            </a:r>
          </a:p>
        </p:txBody>
      </p:sp>
      <p:sp>
        <p:nvSpPr>
          <p:cNvPr id="3" name="内容占位符 2"/>
          <p:cNvSpPr>
            <a:spLocks noGrp="1"/>
          </p:cNvSpPr>
          <p:nvPr>
            <p:ph idx="1"/>
          </p:nvPr>
        </p:nvSpPr>
        <p:spPr/>
        <p:txBody>
          <a:bodyPr>
            <a:normAutofit/>
          </a:bodyPr>
          <a:lstStyle/>
          <a:p>
            <a:pPr>
              <a:lnSpc>
                <a:spcPct val="150000"/>
              </a:lnSpc>
            </a:pPr>
            <a:r>
              <a:rPr lang="zh-CN" altLang="en-US" sz="2400" dirty="0">
                <a:latin typeface="Times New Roman" pitchFamily="18" charset="0"/>
                <a:cs typeface="Times New Roman" pitchFamily="18" charset="0"/>
              </a:rPr>
              <a:t>概率论中的中心极限定理指出：具有任意概率密度函数的多个不相关的随机过程相叠加，和的概率密度函数趋近于高斯分布函数。</a:t>
            </a:r>
            <a:endParaRPr lang="en-US" altLang="zh-CN" sz="2400" dirty="0">
              <a:solidFill>
                <a:srgbClr val="000000"/>
              </a:solidFill>
              <a:latin typeface="Times New Roman" pitchFamily="18" charset="0"/>
              <a:cs typeface="Times New Roman" pitchFamily="18" charset="0"/>
            </a:endParaRPr>
          </a:p>
          <a:p>
            <a:endParaRPr lang="en-US" altLang="zh-CN" dirty="0" smtClean="0"/>
          </a:p>
          <a:p>
            <a:endParaRPr lang="en-US" altLang="zh-CN" dirty="0"/>
          </a:p>
          <a:p>
            <a:pPr>
              <a:lnSpc>
                <a:spcPct val="150000"/>
              </a:lnSpc>
            </a:pPr>
            <a:r>
              <a:rPr lang="zh-CN" altLang="en-US" sz="2400" dirty="0">
                <a:latin typeface="Times New Roman" pitchFamily="18" charset="0"/>
                <a:cs typeface="Times New Roman" pitchFamily="18" charset="0"/>
              </a:rPr>
              <a:t>对于电子线路系统，其输出噪声也会具有高斯分布的特性，分布函数中的</a:t>
            </a:r>
            <a:r>
              <a:rPr lang="en-US" altLang="zh-CN" sz="2400" dirty="0">
                <a:latin typeface="Symbol" panose="05050102010706020507" pitchFamily="18" charset="2"/>
                <a:cs typeface="Times New Roman" pitchFamily="18" charset="0"/>
              </a:rPr>
              <a:t>s</a:t>
            </a:r>
            <a:r>
              <a:rPr lang="zh-CN" altLang="en-US" sz="2400" dirty="0">
                <a:latin typeface="Times New Roman" pitchFamily="18" charset="0"/>
                <a:cs typeface="Times New Roman" pitchFamily="18" charset="0"/>
              </a:rPr>
              <a:t>就是我们得到的均方根电压，而噪声的最大值可由</a:t>
            </a:r>
            <a:r>
              <a:rPr lang="en-US" altLang="zh-CN" sz="2400" dirty="0">
                <a:solidFill>
                  <a:srgbClr val="FF0000"/>
                </a:solidFill>
                <a:latin typeface="Times New Roman" pitchFamily="18" charset="0"/>
                <a:cs typeface="Times New Roman" pitchFamily="18" charset="0"/>
              </a:rPr>
              <a:t>3</a:t>
            </a:r>
            <a:r>
              <a:rPr lang="en-US" altLang="zh-CN" sz="2400" dirty="0">
                <a:solidFill>
                  <a:srgbClr val="FF0000"/>
                </a:solidFill>
                <a:latin typeface="Symbol" panose="05050102010706020507" pitchFamily="18" charset="2"/>
                <a:cs typeface="Times New Roman" pitchFamily="18" charset="0"/>
              </a:rPr>
              <a:t>s</a:t>
            </a:r>
            <a:r>
              <a:rPr lang="zh-CN" altLang="en-US" sz="2400" dirty="0">
                <a:latin typeface="Times New Roman" pitchFamily="18" charset="0"/>
                <a:cs typeface="Times New Roman" pitchFamily="18" charset="0"/>
              </a:rPr>
              <a:t>近似估计。</a:t>
            </a:r>
            <a:endParaRPr lang="en-US" altLang="zh-CN" sz="2400" dirty="0">
              <a:solidFill>
                <a:srgbClr val="000000"/>
              </a:solidFill>
              <a:latin typeface="Times New Roman" pitchFamily="18" charset="0"/>
              <a:cs typeface="Times New Roman" pitchFamily="18" charset="0"/>
            </a:endParaRPr>
          </a:p>
          <a:p>
            <a:endParaRPr lang="en-US" altLang="zh-CN" dirty="0" smtClean="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9</a:t>
            </a:fld>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234984747"/>
              </p:ext>
            </p:extLst>
          </p:nvPr>
        </p:nvGraphicFramePr>
        <p:xfrm>
          <a:off x="4320932" y="3258225"/>
          <a:ext cx="2950308" cy="713593"/>
        </p:xfrm>
        <a:graphic>
          <a:graphicData uri="http://schemas.openxmlformats.org/presentationml/2006/ole">
            <mc:AlternateContent xmlns:mc="http://schemas.openxmlformats.org/markup-compatibility/2006">
              <mc:Choice xmlns:v="urn:schemas-microsoft-com:vml" Requires="v">
                <p:oleObj spid="_x0000_s14764" name="Equation" r:id="rId3" imgW="1841400" imgH="444240" progId="Equation.DSMT4">
                  <p:embed/>
                </p:oleObj>
              </mc:Choice>
              <mc:Fallback>
                <p:oleObj name="Equation" r:id="rId3" imgW="1841400" imgH="444240" progId="Equation.DSMT4">
                  <p:embed/>
                  <p:pic>
                    <p:nvPicPr>
                      <p:cNvPr id="5" name="对象 4"/>
                      <p:cNvPicPr>
                        <a:picLocks noChangeAspect="1" noChangeArrowheads="1"/>
                      </p:cNvPicPr>
                      <p:nvPr/>
                    </p:nvPicPr>
                    <p:blipFill>
                      <a:blip r:embed="rId4"/>
                      <a:srcRect/>
                      <a:stretch>
                        <a:fillRect/>
                      </a:stretch>
                    </p:blipFill>
                    <p:spPr bwMode="auto">
                      <a:xfrm>
                        <a:off x="4320932" y="3258225"/>
                        <a:ext cx="2950308" cy="713593"/>
                      </a:xfrm>
                      <a:prstGeom prst="rect">
                        <a:avLst/>
                      </a:prstGeom>
                      <a:noFill/>
                      <a:ln>
                        <a:noFill/>
                      </a:ln>
                      <a:extLst/>
                    </p:spPr>
                  </p:pic>
                </p:oleObj>
              </mc:Fallback>
            </mc:AlternateContent>
          </a:graphicData>
        </a:graphic>
      </p:graphicFrame>
      <p:graphicFrame>
        <p:nvGraphicFramePr>
          <p:cNvPr id="7" name="对象 6">
            <a:extLst>
              <a:ext uri="{FF2B5EF4-FFF2-40B4-BE49-F238E27FC236}">
                <a16:creationId xmlns:a16="http://schemas.microsoft.com/office/drawing/2014/main" id="{60C6CFC2-D37A-4273-A207-2ED8340E17E5}"/>
              </a:ext>
            </a:extLst>
          </p:cNvPr>
          <p:cNvGraphicFramePr>
            <a:graphicFrameLocks noChangeAspect="1"/>
          </p:cNvGraphicFramePr>
          <p:nvPr>
            <p:extLst>
              <p:ext uri="{D42A27DB-BD31-4B8C-83A1-F6EECF244321}">
                <p14:modId xmlns:p14="http://schemas.microsoft.com/office/powerpoint/2010/main" val="2841520907"/>
              </p:ext>
            </p:extLst>
          </p:nvPr>
        </p:nvGraphicFramePr>
        <p:xfrm>
          <a:off x="3429977" y="5311641"/>
          <a:ext cx="6034730" cy="774952"/>
        </p:xfrm>
        <a:graphic>
          <a:graphicData uri="http://schemas.openxmlformats.org/presentationml/2006/ole">
            <mc:AlternateContent xmlns:mc="http://schemas.openxmlformats.org/markup-compatibility/2006">
              <mc:Choice xmlns:v="urn:schemas-microsoft-com:vml" Requires="v">
                <p:oleObj spid="_x0000_s14765" r:id="rId5" imgW="3492500" imgH="444500" progId="Equation.DSMT4">
                  <p:embed/>
                </p:oleObj>
              </mc:Choice>
              <mc:Fallback>
                <p:oleObj r:id="rId5" imgW="3492500" imgH="444500" progId="Equation.DSMT4">
                  <p:embed/>
                  <p:pic>
                    <p:nvPicPr>
                      <p:cNvPr id="7" name="对象 6">
                        <a:extLst>
                          <a:ext uri="{FF2B5EF4-FFF2-40B4-BE49-F238E27FC236}">
                            <a16:creationId xmlns:a16="http://schemas.microsoft.com/office/drawing/2014/main" id="{60C6CFC2-D37A-4273-A207-2ED8340E17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977" y="5311641"/>
                        <a:ext cx="6034730" cy="774952"/>
                      </a:xfrm>
                      <a:prstGeom prst="rect">
                        <a:avLst/>
                      </a:prstGeom>
                      <a:noFill/>
                    </p:spPr>
                  </p:pic>
                </p:oleObj>
              </mc:Fallback>
            </mc:AlternateContent>
          </a:graphicData>
        </a:graphic>
      </p:graphicFrame>
    </p:spTree>
    <p:extLst>
      <p:ext uri="{BB962C8B-B14F-4D97-AF65-F5344CB8AC3E}">
        <p14:creationId xmlns:p14="http://schemas.microsoft.com/office/powerpoint/2010/main" val="470193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噪声的统计特性</a:t>
            </a:r>
          </a:p>
        </p:txBody>
      </p:sp>
      <p:sp>
        <p:nvSpPr>
          <p:cNvPr id="3" name="内容占位符 2"/>
          <p:cNvSpPr>
            <a:spLocks noGrp="1"/>
          </p:cNvSpPr>
          <p:nvPr>
            <p:ph idx="1"/>
          </p:nvPr>
        </p:nvSpPr>
        <p:spPr/>
        <p:txBody>
          <a:bodyPr/>
          <a:lstStyle/>
          <a:p>
            <a:pPr>
              <a:lnSpc>
                <a:spcPct val="150000"/>
              </a:lnSpc>
            </a:pPr>
            <a:r>
              <a:rPr lang="zh-CN" altLang="en-US" dirty="0" smtClean="0"/>
              <a:t>相关噪声和非相关噪声</a:t>
            </a:r>
            <a:endParaRPr lang="en-US" altLang="zh-CN" dirty="0" smtClean="0"/>
          </a:p>
          <a:p>
            <a:pPr lvl="1">
              <a:lnSpc>
                <a:spcPct val="150000"/>
              </a:lnSpc>
            </a:pPr>
            <a:r>
              <a:rPr lang="zh-CN" altLang="en-US" dirty="0"/>
              <a:t>两</a:t>
            </a:r>
            <a:r>
              <a:rPr lang="zh-CN" altLang="en-US" dirty="0" smtClean="0"/>
              <a:t>个随机噪声的电压叠加没有意义，只能平均功率求和，但是要考虑是否相关</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10</a:t>
            </a:fld>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1938772" y="3709490"/>
                <a:ext cx="8314456" cy="741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𝑎𝑣</m:t>
                          </m:r>
                        </m:sub>
                      </m:sSub>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limLow>
                            <m:limLowPr>
                              <m:ctrlPr>
                                <a:rPr lang="en-US" altLang="zh-CN" sz="2000" b="0" i="1" smtClean="0">
                                  <a:latin typeface="Cambria Math" panose="02040503050406030204" pitchFamily="18" charset="0"/>
                                </a:rPr>
                              </m:ctrlPr>
                            </m:limLowPr>
                            <m:e>
                              <m:r>
                                <m:rPr>
                                  <m:sty m:val="p"/>
                                </m:rPr>
                                <a:rPr lang="en-US" altLang="zh-CN" sz="2000" b="0" i="0" smtClean="0">
                                  <a:latin typeface="Cambria Math" panose="02040503050406030204" pitchFamily="18" charset="0"/>
                                </a:rPr>
                                <m:t>lim</m:t>
                              </m:r>
                            </m:e>
                            <m:lim>
                              <m:r>
                                <a:rPr lang="en-US" altLang="zh-CN" sz="2000" b="0" i="1" smtClean="0">
                                  <a:latin typeface="Cambria Math" panose="02040503050406030204" pitchFamily="18" charset="0"/>
                                </a:rPr>
                                <m:t>𝑇</m:t>
                              </m:r>
                              <m:r>
                                <a:rPr lang="en-US" altLang="zh-CN" sz="2000" b="0" i="1" smtClean="0">
                                  <a:latin typeface="Cambria Math" panose="02040503050406030204" pitchFamily="18" charset="0"/>
                                  <a:ea typeface="Cambria Math" panose="02040503050406030204" pitchFamily="18" charset="0"/>
                                </a:rPr>
                                <m:t>→∞</m:t>
                              </m:r>
                            </m:lim>
                          </m:limLow>
                        </m:fName>
                        <m:e>
                          <m:nary>
                            <m:naryPr>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/2</m:t>
                              </m:r>
                            </m:sub>
                            <m:sup>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/2</m:t>
                              </m:r>
                            </m:sup>
                            <m:e>
                              <m:sSup>
                                <m:sSupPr>
                                  <m:ctrlPr>
                                    <a:rPr lang="en-US" altLang="zh-CN" sz="2000" b="0" i="1" smtClean="0">
                                      <a:latin typeface="Cambria Math" panose="02040503050406030204" pitchFamily="18" charset="0"/>
                                    </a:rPr>
                                  </m:ctrlPr>
                                </m:sSupPr>
                                <m:e>
                                  <m:d>
                                    <m:dPr>
                                      <m:begChr m:val="["/>
                                      <m:endChr m:val="]"/>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𝑡</m:t>
                                          </m:r>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m:t>
                                      </m:r>
                                    </m:e>
                                  </m:d>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𝑑𝑡</m:t>
                              </m:r>
                            </m:e>
                          </m:nary>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𝑎𝑣</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𝑎𝑣</m:t>
                              </m:r>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limLow>
                                <m:limLowPr>
                                  <m:ctrlPr>
                                    <a:rPr lang="en-US" altLang="zh-CN" sz="2000" b="0" i="1" smtClean="0">
                                      <a:latin typeface="Cambria Math" panose="02040503050406030204" pitchFamily="18" charset="0"/>
                                    </a:rPr>
                                  </m:ctrlPr>
                                </m:limLowPr>
                                <m:e>
                                  <m:r>
                                    <m:rPr>
                                      <m:sty m:val="p"/>
                                    </m:rPr>
                                    <a:rPr lang="en-US" altLang="zh-CN" sz="2000" b="0" i="0" smtClean="0">
                                      <a:latin typeface="Cambria Math" panose="02040503050406030204" pitchFamily="18" charset="0"/>
                                    </a:rPr>
                                    <m:t>lim</m:t>
                                  </m:r>
                                </m:e>
                                <m:lim>
                                  <m:r>
                                    <a:rPr lang="en-US" altLang="zh-CN" sz="2000" b="0" i="1" smtClean="0">
                                      <a:latin typeface="Cambria Math" panose="02040503050406030204" pitchFamily="18" charset="0"/>
                                    </a:rPr>
                                    <m:t>𝑇</m:t>
                                  </m:r>
                                  <m:r>
                                    <a:rPr lang="en-US" altLang="zh-CN" sz="2000" b="0" i="1" smtClean="0">
                                      <a:latin typeface="Cambria Math" panose="02040503050406030204" pitchFamily="18" charset="0"/>
                                      <a:ea typeface="Cambria Math" panose="02040503050406030204" pitchFamily="18" charset="0"/>
                                    </a:rPr>
                                    <m:t>→∞</m:t>
                                  </m:r>
                                </m:lim>
                              </m:limLow>
                            </m:fName>
                            <m:e>
                              <m:nary>
                                <m:naryPr>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m:t>
                                  </m:r>
                                  <m:r>
                                    <a:rPr lang="en-US" altLang="zh-CN" sz="2000" i="1">
                                      <a:latin typeface="Cambria Math" panose="02040503050406030204" pitchFamily="18" charset="0"/>
                                    </a:rPr>
                                    <m:t>𝑇</m:t>
                                  </m:r>
                                  <m:r>
                                    <a:rPr lang="en-US" altLang="zh-CN" sz="2000" i="1">
                                      <a:latin typeface="Cambria Math" panose="02040503050406030204" pitchFamily="18" charset="0"/>
                                    </a:rPr>
                                    <m:t>/2</m:t>
                                  </m:r>
                                </m:sub>
                                <m:sup>
                                  <m:r>
                                    <a:rPr lang="en-US" altLang="zh-CN" sz="2000" i="1">
                                      <a:latin typeface="Cambria Math" panose="02040503050406030204" pitchFamily="18" charset="0"/>
                                    </a:rPr>
                                    <m:t>𝑇</m:t>
                                  </m:r>
                                  <m:r>
                                    <a:rPr lang="en-US" altLang="zh-CN" sz="2000" i="1">
                                      <a:latin typeface="Cambria Math" panose="02040503050406030204" pitchFamily="18" charset="0"/>
                                    </a:rPr>
                                    <m:t>/2</m:t>
                                  </m:r>
                                </m:sup>
                                <m:e>
                                  <m:r>
                                    <a:rPr lang="en-US" altLang="zh-CN" sz="2000" i="1">
                                      <a:latin typeface="Cambria Math" panose="02040503050406030204" pitchFamily="18" charset="0"/>
                                    </a:rPr>
                                    <m:t>2</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r>
                                    <a:rPr lang="en-US" altLang="zh-CN" sz="2000" i="1">
                                      <a:latin typeface="Cambria Math" panose="02040503050406030204" pitchFamily="18" charset="0"/>
                                    </a:rPr>
                                    <m:t>𝑡</m:t>
                                  </m:r>
                                  <m:r>
                                    <a:rPr lang="en-US" altLang="zh-CN" sz="2000" i="1">
                                      <a:latin typeface="Cambria Math" panose="02040503050406030204" pitchFamily="18" charset="0"/>
                                    </a:rPr>
                                    <m:t>)</m:t>
                                  </m:r>
                                  <m:r>
                                    <a:rPr lang="en-US" altLang="zh-CN" sz="2000" i="1">
                                      <a:latin typeface="Cambria Math" panose="02040503050406030204" pitchFamily="18" charset="0"/>
                                    </a:rPr>
                                    <m:t>𝑑𝑡</m:t>
                                  </m:r>
                                </m:e>
                              </m:nary>
                            </m:e>
                          </m:func>
                        </m:e>
                      </m:func>
                    </m:oMath>
                  </m:oMathPara>
                </a14:m>
                <a:endParaRPr lang="zh-CN" altLang="en-US" sz="2000" dirty="0"/>
              </a:p>
            </p:txBody>
          </p:sp>
        </mc:Choice>
        <mc:Fallback xmlns="">
          <p:sp>
            <p:nvSpPr>
              <p:cNvPr id="6" name="文本框 5"/>
              <p:cNvSpPr txBox="1">
                <a:spLocks noRot="1" noChangeAspect="1" noMove="1" noResize="1" noEditPoints="1" noAdjustHandles="1" noChangeArrowheads="1" noChangeShapeType="1" noTextEdit="1"/>
              </p:cNvSpPr>
              <p:nvPr/>
            </p:nvSpPr>
            <p:spPr>
              <a:xfrm>
                <a:off x="1938772" y="3709490"/>
                <a:ext cx="8314456" cy="741870"/>
              </a:xfrm>
              <a:prstGeom prst="rect">
                <a:avLst/>
              </a:prstGeom>
              <a:blipFill>
                <a:blip r:embed="rId2"/>
                <a:stretch>
                  <a:fillRect/>
                </a:stretch>
              </a:blipFill>
            </p:spPr>
            <p:txBody>
              <a:bodyPr/>
              <a:lstStyle/>
              <a:p>
                <a:r>
                  <a:rPr lang="zh-CN" altLang="en-US">
                    <a:noFill/>
                  </a:rPr>
                  <a:t> </a:t>
                </a:r>
              </a:p>
            </p:txBody>
          </p:sp>
        </mc:Fallback>
      </mc:AlternateContent>
      <p:sp>
        <p:nvSpPr>
          <p:cNvPr id="7" name="文本框 6"/>
          <p:cNvSpPr txBox="1"/>
          <p:nvPr/>
        </p:nvSpPr>
        <p:spPr>
          <a:xfrm>
            <a:off x="7737231" y="4528038"/>
            <a:ext cx="2127738" cy="369332"/>
          </a:xfrm>
          <a:prstGeom prst="rect">
            <a:avLst/>
          </a:prstGeom>
          <a:noFill/>
        </p:spPr>
        <p:txBody>
          <a:bodyPr wrap="square" rtlCol="0">
            <a:spAutoFit/>
          </a:bodyPr>
          <a:lstStyle/>
          <a:p>
            <a:pPr algn="ctr"/>
            <a:r>
              <a:rPr lang="zh-CN" altLang="en-US" b="1" dirty="0" smtClean="0"/>
              <a:t>相关项</a:t>
            </a:r>
            <a:endParaRPr lang="zh-CN" altLang="en-US" b="1" dirty="0"/>
          </a:p>
        </p:txBody>
      </p:sp>
      <p:sp>
        <p:nvSpPr>
          <p:cNvPr id="9" name="矩形 8"/>
          <p:cNvSpPr/>
          <p:nvPr/>
        </p:nvSpPr>
        <p:spPr>
          <a:xfrm>
            <a:off x="1099039" y="4836201"/>
            <a:ext cx="10401300" cy="1430456"/>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2000" dirty="0"/>
              <a:t>如果</a:t>
            </a:r>
            <a:r>
              <a:rPr lang="en-US" altLang="zh-CN" sz="2000" dirty="0"/>
              <a:t>x1(t)</a:t>
            </a:r>
            <a:r>
              <a:rPr lang="zh-CN" altLang="en-US" sz="2000" dirty="0"/>
              <a:t>和</a:t>
            </a:r>
            <a:r>
              <a:rPr lang="en-US" altLang="zh-CN" sz="2000" dirty="0"/>
              <a:t>x2(t)</a:t>
            </a:r>
            <a:r>
              <a:rPr lang="zh-CN" altLang="en-US" sz="2000" dirty="0"/>
              <a:t>不相关，则相关项趋于</a:t>
            </a:r>
            <a:r>
              <a:rPr lang="en-US" altLang="zh-CN" sz="2000" dirty="0"/>
              <a:t>0</a:t>
            </a:r>
            <a:r>
              <a:rPr lang="zh-CN" altLang="en-US" sz="2000" dirty="0"/>
              <a:t>，和的平均功率等于各自平均功率之和，即功率可以直接叠加。</a:t>
            </a:r>
          </a:p>
          <a:p>
            <a:pPr marL="342900" indent="-342900">
              <a:lnSpc>
                <a:spcPct val="150000"/>
              </a:lnSpc>
              <a:buFont typeface="Arial" panose="020B0604020202020204" pitchFamily="34" charset="0"/>
              <a:buChar char="•"/>
            </a:pPr>
            <a:r>
              <a:rPr lang="zh-CN" altLang="en-US" sz="2000" dirty="0"/>
              <a:t>如果</a:t>
            </a:r>
            <a:r>
              <a:rPr lang="en-US" altLang="zh-CN" sz="2000" dirty="0"/>
              <a:t>x1(t)</a:t>
            </a:r>
            <a:r>
              <a:rPr lang="zh-CN" altLang="en-US" sz="2000" dirty="0"/>
              <a:t>和</a:t>
            </a:r>
            <a:r>
              <a:rPr lang="en-US" altLang="zh-CN" sz="2000" dirty="0"/>
              <a:t>x2(t)</a:t>
            </a:r>
            <a:r>
              <a:rPr lang="zh-CN" altLang="en-US" sz="2000" dirty="0"/>
              <a:t>相关，则需要考虑相关项。</a:t>
            </a:r>
          </a:p>
        </p:txBody>
      </p:sp>
    </p:spTree>
    <p:extLst>
      <p:ext uri="{BB962C8B-B14F-4D97-AF65-F5344CB8AC3E}">
        <p14:creationId xmlns:p14="http://schemas.microsoft.com/office/powerpoint/2010/main" val="3539370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3" name="内容占位符 2"/>
          <p:cNvSpPr>
            <a:spLocks noGrp="1"/>
          </p:cNvSpPr>
          <p:nvPr>
            <p:ph idx="1"/>
          </p:nvPr>
        </p:nvSpPr>
        <p:spPr/>
        <p:txBody>
          <a:bodyPr>
            <a:normAutofit fontScale="85000" lnSpcReduction="10000"/>
          </a:bodyPr>
          <a:lstStyle/>
          <a:p>
            <a:pPr algn="just">
              <a:lnSpc>
                <a:spcPct val="150000"/>
              </a:lnSpc>
              <a:buFont typeface="Wingdings" panose="05000000000000000000" pitchFamily="2" charset="2"/>
              <a:buChar char="l"/>
            </a:pPr>
            <a:r>
              <a:rPr lang="en-US" altLang="zh-CN" sz="3600" b="1" dirty="0"/>
              <a:t> </a:t>
            </a:r>
            <a:r>
              <a:rPr lang="zh-CN" altLang="en-US" sz="3200" dirty="0" smtClean="0"/>
              <a:t>噪声的统计特性</a:t>
            </a:r>
            <a:endParaRPr lang="en-US" altLang="zh-CN" sz="3200" dirty="0" smtClean="0"/>
          </a:p>
          <a:p>
            <a:pPr algn="just">
              <a:lnSpc>
                <a:spcPct val="150000"/>
              </a:lnSpc>
              <a:buFont typeface="Wingdings" panose="05000000000000000000" pitchFamily="2" charset="2"/>
              <a:buChar char="l"/>
            </a:pPr>
            <a:r>
              <a:rPr lang="en-US" altLang="zh-CN" sz="3200" dirty="0"/>
              <a:t> </a:t>
            </a:r>
            <a:r>
              <a:rPr lang="en-US" altLang="zh-CN" sz="3200" b="1" dirty="0" smtClean="0"/>
              <a:t>MOS</a:t>
            </a:r>
            <a:r>
              <a:rPr lang="zh-CN" altLang="en-US" sz="3200" b="1" dirty="0" smtClean="0"/>
              <a:t>集成电路中的噪声类型</a:t>
            </a:r>
            <a:endParaRPr lang="en-US" altLang="zh-CN" sz="3200" b="1" dirty="0" smtClean="0"/>
          </a:p>
          <a:p>
            <a:pPr algn="just">
              <a:lnSpc>
                <a:spcPct val="150000"/>
              </a:lnSpc>
              <a:buFont typeface="Wingdings" panose="05000000000000000000" pitchFamily="2" charset="2"/>
              <a:buChar char="l"/>
            </a:pPr>
            <a:r>
              <a:rPr lang="en-US" altLang="zh-CN" sz="3200" dirty="0"/>
              <a:t> </a:t>
            </a:r>
            <a:r>
              <a:rPr lang="zh-CN" altLang="en-US" sz="3200" dirty="0" smtClean="0"/>
              <a:t>电路中的噪声表示</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a:t>单</a:t>
            </a:r>
            <a:r>
              <a:rPr lang="zh-CN" altLang="en-US" sz="3200" dirty="0" smtClean="0"/>
              <a:t>级放大器中的噪声</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a:t>电流</a:t>
            </a:r>
            <a:r>
              <a:rPr lang="zh-CN" altLang="en-US" sz="3200" dirty="0" smtClean="0"/>
              <a:t>镜中的噪声</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smtClean="0"/>
              <a:t>差动对的噪声</a:t>
            </a:r>
            <a:endParaRPr lang="en-US" altLang="zh-CN" sz="2400" dirty="0" smtClean="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11</a:t>
            </a:fld>
            <a:endParaRPr lang="zh-CN" altLang="en-US"/>
          </a:p>
        </p:txBody>
      </p:sp>
    </p:spTree>
    <p:extLst>
      <p:ext uri="{BB962C8B-B14F-4D97-AF65-F5344CB8AC3E}">
        <p14:creationId xmlns:p14="http://schemas.microsoft.com/office/powerpoint/2010/main" val="4237238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MOS</a:t>
            </a:r>
            <a:r>
              <a:rPr lang="zh-CN" altLang="en-US" dirty="0"/>
              <a:t>集成电路中的噪声类型</a:t>
            </a:r>
          </a:p>
        </p:txBody>
      </p:sp>
      <p:sp>
        <p:nvSpPr>
          <p:cNvPr id="3" name="内容占位符 2"/>
          <p:cNvSpPr>
            <a:spLocks noGrp="1"/>
          </p:cNvSpPr>
          <p:nvPr>
            <p:ph idx="1"/>
          </p:nvPr>
        </p:nvSpPr>
        <p:spPr>
          <a:xfrm>
            <a:off x="838200" y="1825625"/>
            <a:ext cx="5668108" cy="4351338"/>
          </a:xfrm>
        </p:spPr>
        <p:txBody>
          <a:bodyPr/>
          <a:lstStyle/>
          <a:p>
            <a:r>
              <a:rPr lang="zh-CN" altLang="en-US" dirty="0" smtClean="0"/>
              <a:t>电阻热噪声</a:t>
            </a:r>
            <a:endParaRPr lang="en-US" altLang="zh-CN" dirty="0" smtClean="0"/>
          </a:p>
          <a:p>
            <a:pPr lvl="1" algn="just">
              <a:lnSpc>
                <a:spcPct val="150000"/>
              </a:lnSpc>
            </a:pPr>
            <a:r>
              <a:rPr lang="zh-CN" altLang="en-US" sz="2000" dirty="0">
                <a:latin typeface="Times New Roman" pitchFamily="18" charset="0"/>
                <a:cs typeface="Times New Roman" pitchFamily="18" charset="0"/>
              </a:rPr>
              <a:t>电阻热噪声是由电子的热运动引起的，热噪声是白噪声，其功率谱密度在高达</a:t>
            </a:r>
            <a:r>
              <a:rPr lang="en-US" altLang="zh-CN" sz="2000" dirty="0">
                <a:latin typeface="Times New Roman" pitchFamily="18" charset="0"/>
                <a:cs typeface="Times New Roman" pitchFamily="18" charset="0"/>
              </a:rPr>
              <a:t>100THz</a:t>
            </a:r>
            <a:r>
              <a:rPr lang="zh-CN" altLang="en-US" sz="2000" dirty="0">
                <a:latin typeface="Times New Roman" pitchFamily="18" charset="0"/>
                <a:cs typeface="Times New Roman" pitchFamily="18" charset="0"/>
              </a:rPr>
              <a:t>的范围内都是平坦的，并且与绝对温度成正比：</a:t>
            </a:r>
            <a:r>
              <a:rPr lang="en-US" altLang="zh-CN" sz="2000" dirty="0">
                <a:latin typeface="Times New Roman" pitchFamily="18" charset="0"/>
                <a:cs typeface="Times New Roman" pitchFamily="18" charset="0"/>
              </a:rPr>
              <a:t>(</a:t>
            </a:r>
            <a:r>
              <a:rPr lang="en-US" altLang="zh-CN" sz="2000" i="1" dirty="0">
                <a:latin typeface="Times New Roman" pitchFamily="18" charset="0"/>
                <a:cs typeface="Times New Roman" pitchFamily="18" charset="0"/>
              </a:rPr>
              <a:t>k</a:t>
            </a:r>
            <a:r>
              <a:rPr lang="en-US" altLang="zh-CN" sz="2000" dirty="0">
                <a:latin typeface="Times New Roman" pitchFamily="18" charset="0"/>
                <a:cs typeface="Times New Roman" pitchFamily="18" charset="0"/>
              </a:rPr>
              <a:t>=1.38×10</a:t>
            </a:r>
            <a:r>
              <a:rPr lang="en-US" altLang="zh-CN" sz="2000" baseline="30000" dirty="0">
                <a:latin typeface="Times New Roman" pitchFamily="18" charset="0"/>
                <a:cs typeface="Times New Roman" pitchFamily="18" charset="0"/>
              </a:rPr>
              <a:t>-23</a:t>
            </a:r>
            <a:r>
              <a:rPr lang="en-US" altLang="zh-CN" sz="2000" dirty="0">
                <a:latin typeface="Times New Roman" pitchFamily="18" charset="0"/>
                <a:cs typeface="Times New Roman" pitchFamily="18" charset="0"/>
              </a:rPr>
              <a:t>J/K,T</a:t>
            </a:r>
            <a:r>
              <a:rPr lang="zh-CN" altLang="en-US" sz="2000" dirty="0">
                <a:latin typeface="Times New Roman" pitchFamily="18" charset="0"/>
                <a:cs typeface="Times New Roman" pitchFamily="18" charset="0"/>
              </a:rPr>
              <a:t>是绝对温度，</a:t>
            </a:r>
            <a:r>
              <a:rPr lang="en-US" altLang="zh-CN" sz="2000" dirty="0">
                <a:latin typeface="Times New Roman" pitchFamily="18" charset="0"/>
                <a:cs typeface="Times New Roman" pitchFamily="18" charset="0"/>
              </a:rPr>
              <a:t>R</a:t>
            </a:r>
            <a:r>
              <a:rPr lang="zh-CN" altLang="en-US" sz="2000" dirty="0">
                <a:latin typeface="Times New Roman" pitchFamily="18" charset="0"/>
                <a:cs typeface="Times New Roman" pitchFamily="18" charset="0"/>
              </a:rPr>
              <a:t>是阻值</a:t>
            </a:r>
            <a:r>
              <a:rPr lang="en-US" altLang="zh-CN" sz="2000" dirty="0" smtClean="0">
                <a:latin typeface="Times New Roman" pitchFamily="18" charset="0"/>
                <a:cs typeface="Times New Roman" pitchFamily="18" charset="0"/>
              </a:rPr>
              <a:t>)</a:t>
            </a:r>
          </a:p>
          <a:p>
            <a:pPr lvl="1" algn="just">
              <a:lnSpc>
                <a:spcPct val="150000"/>
              </a:lnSpc>
            </a:pPr>
            <a:r>
              <a:rPr lang="zh-CN" altLang="en-US" sz="2000" dirty="0" smtClean="0">
                <a:solidFill>
                  <a:srgbClr val="000000"/>
                </a:solidFill>
                <a:latin typeface="Times New Roman" pitchFamily="18" charset="0"/>
                <a:cs typeface="Times New Roman" pitchFamily="18" charset="0"/>
              </a:rPr>
              <a:t>带噪电阻的等效电路模型</a:t>
            </a:r>
            <a:endParaRPr lang="en-US" altLang="zh-CN" sz="2000" dirty="0">
              <a:solidFill>
                <a:srgbClr val="000000"/>
              </a:solidFill>
              <a:latin typeface="Times New Roman" pitchFamily="18" charset="0"/>
              <a:cs typeface="Times New Roman" pitchFamily="18" charset="0"/>
            </a:endParaRPr>
          </a:p>
          <a:p>
            <a:pPr lvl="1"/>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12</a:t>
            </a:fld>
            <a:endParaRPr lang="zh-CN" altLang="en-US"/>
          </a:p>
        </p:txBody>
      </p:sp>
      <p:pic>
        <p:nvPicPr>
          <p:cNvPr id="6" name="图片 5"/>
          <p:cNvPicPr>
            <a:picLocks noChangeAspect="1"/>
          </p:cNvPicPr>
          <p:nvPr/>
        </p:nvPicPr>
        <p:blipFill>
          <a:blip r:embed="rId3"/>
          <a:stretch>
            <a:fillRect/>
          </a:stretch>
        </p:blipFill>
        <p:spPr>
          <a:xfrm>
            <a:off x="6588736" y="1825625"/>
            <a:ext cx="5365872" cy="2516055"/>
          </a:xfrm>
          <a:prstGeom prst="rect">
            <a:avLst/>
          </a:prstGeom>
        </p:spPr>
      </p:pic>
      <p:sp>
        <p:nvSpPr>
          <p:cNvPr id="8" name="矩形 7"/>
          <p:cNvSpPr/>
          <p:nvPr/>
        </p:nvSpPr>
        <p:spPr>
          <a:xfrm>
            <a:off x="2989016" y="5579202"/>
            <a:ext cx="803453" cy="285559"/>
          </a:xfrm>
          <a:prstGeom prst="rect">
            <a:avLst/>
          </a:prstGeom>
        </p:spPr>
        <p:txBody>
          <a:bodyPr wrap="none">
            <a:spAutoFit/>
          </a:bodyPr>
          <a:lstStyle/>
          <a:p>
            <a:r>
              <a:rPr lang="zh-CN" altLang="en-US" dirty="0">
                <a:latin typeface="Times New Roman" pitchFamily="18" charset="0"/>
                <a:cs typeface="Times New Roman" pitchFamily="18" charset="0"/>
              </a:rPr>
              <a:t>有噪电阻</a:t>
            </a:r>
            <a:endParaRPr lang="zh-CN" altLang="en-US" dirty="0"/>
          </a:p>
        </p:txBody>
      </p:sp>
      <p:sp>
        <p:nvSpPr>
          <p:cNvPr id="9" name="矩形 8"/>
          <p:cNvSpPr/>
          <p:nvPr/>
        </p:nvSpPr>
        <p:spPr>
          <a:xfrm>
            <a:off x="4749505" y="5824997"/>
            <a:ext cx="803453" cy="285559"/>
          </a:xfrm>
          <a:prstGeom prst="rect">
            <a:avLst/>
          </a:prstGeom>
        </p:spPr>
        <p:txBody>
          <a:bodyPr wrap="none">
            <a:spAutoFit/>
          </a:bodyPr>
          <a:lstStyle/>
          <a:p>
            <a:r>
              <a:rPr lang="zh-CN" altLang="en-US" dirty="0">
                <a:latin typeface="Times New Roman" pitchFamily="18" charset="0"/>
                <a:cs typeface="Times New Roman" pitchFamily="18" charset="0"/>
              </a:rPr>
              <a:t>无噪电阻</a:t>
            </a:r>
            <a:endParaRPr lang="zh-CN" altLang="en-US" dirty="0"/>
          </a:p>
        </p:txBody>
      </p:sp>
      <p:sp>
        <p:nvSpPr>
          <p:cNvPr id="10" name="矩形 9"/>
          <p:cNvSpPr/>
          <p:nvPr/>
        </p:nvSpPr>
        <p:spPr>
          <a:xfrm>
            <a:off x="6989130" y="5824997"/>
            <a:ext cx="803453" cy="285559"/>
          </a:xfrm>
          <a:prstGeom prst="rect">
            <a:avLst/>
          </a:prstGeom>
        </p:spPr>
        <p:txBody>
          <a:bodyPr wrap="none">
            <a:spAutoFit/>
          </a:bodyPr>
          <a:lstStyle/>
          <a:p>
            <a:r>
              <a:rPr lang="zh-CN" altLang="en-US" dirty="0">
                <a:latin typeface="Times New Roman" pitchFamily="18" charset="0"/>
                <a:cs typeface="Times New Roman" pitchFamily="18" charset="0"/>
              </a:rPr>
              <a:t>无噪电阻</a:t>
            </a:r>
            <a:endParaRPr lang="zh-CN" altLang="en-US" dirty="0"/>
          </a:p>
        </p:txBody>
      </p:sp>
      <p:pic>
        <p:nvPicPr>
          <p:cNvPr id="11"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4983" y="5159724"/>
            <a:ext cx="647808" cy="114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0882" y="5018200"/>
            <a:ext cx="1139959" cy="12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92583" y="5154300"/>
            <a:ext cx="1153693" cy="1135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4" name="对象 13"/>
          <p:cNvGraphicFramePr>
            <a:graphicFrameLocks noChangeAspect="1"/>
          </p:cNvGraphicFramePr>
          <p:nvPr>
            <p:extLst>
              <p:ext uri="{D42A27DB-BD31-4B8C-83A1-F6EECF244321}">
                <p14:modId xmlns:p14="http://schemas.microsoft.com/office/powerpoint/2010/main" val="2378965487"/>
              </p:ext>
            </p:extLst>
          </p:nvPr>
        </p:nvGraphicFramePr>
        <p:xfrm>
          <a:off x="6020112" y="5383843"/>
          <a:ext cx="1034090" cy="365677"/>
        </p:xfrm>
        <a:graphic>
          <a:graphicData uri="http://schemas.openxmlformats.org/presentationml/2006/ole">
            <mc:AlternateContent xmlns:mc="http://schemas.openxmlformats.org/markup-compatibility/2006">
              <mc:Choice xmlns:v="urn:schemas-microsoft-com:vml" Requires="v">
                <p:oleObj spid="_x0000_s15760" name="Equation" r:id="rId7" imgW="812520" imgH="266400" progId="Equation.DSMT4">
                  <p:embed/>
                </p:oleObj>
              </mc:Choice>
              <mc:Fallback>
                <p:oleObj name="Equation" r:id="rId7" imgW="812520" imgH="266400" progId="Equation.DSMT4">
                  <p:embed/>
                  <p:pic>
                    <p:nvPicPr>
                      <p:cNvPr id="14" name="对象 13"/>
                      <p:cNvPicPr>
                        <a:picLocks noChangeAspect="1" noChangeArrowheads="1"/>
                      </p:cNvPicPr>
                      <p:nvPr/>
                    </p:nvPicPr>
                    <p:blipFill>
                      <a:blip r:embed="rId8"/>
                      <a:srcRect/>
                      <a:stretch>
                        <a:fillRect/>
                      </a:stretch>
                    </p:blipFill>
                    <p:spPr bwMode="auto">
                      <a:xfrm>
                        <a:off x="6020112" y="5383843"/>
                        <a:ext cx="1034090" cy="365677"/>
                      </a:xfrm>
                      <a:prstGeom prst="rect">
                        <a:avLst/>
                      </a:prstGeom>
                      <a:noFill/>
                      <a:ln>
                        <a:noFill/>
                      </a:ln>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21357117"/>
              </p:ext>
            </p:extLst>
          </p:nvPr>
        </p:nvGraphicFramePr>
        <p:xfrm>
          <a:off x="8726525" y="5373515"/>
          <a:ext cx="1525303" cy="319760"/>
        </p:xfrm>
        <a:graphic>
          <a:graphicData uri="http://schemas.openxmlformats.org/presentationml/2006/ole">
            <mc:AlternateContent xmlns:mc="http://schemas.openxmlformats.org/markup-compatibility/2006">
              <mc:Choice xmlns:v="urn:schemas-microsoft-com:vml" Requires="v">
                <p:oleObj spid="_x0000_s15761" name="Equation" r:id="rId9" imgW="1371600" imgH="266400" progId="Equation.DSMT4">
                  <p:embed/>
                </p:oleObj>
              </mc:Choice>
              <mc:Fallback>
                <p:oleObj name="Equation" r:id="rId9" imgW="1371600" imgH="266400" progId="Equation.DSMT4">
                  <p:embed/>
                  <p:pic>
                    <p:nvPicPr>
                      <p:cNvPr id="15" name="对象 14"/>
                      <p:cNvPicPr>
                        <a:picLocks noChangeAspect="1" noChangeArrowheads="1"/>
                      </p:cNvPicPr>
                      <p:nvPr/>
                    </p:nvPicPr>
                    <p:blipFill>
                      <a:blip r:embed="rId10"/>
                      <a:srcRect/>
                      <a:stretch>
                        <a:fillRect/>
                      </a:stretch>
                    </p:blipFill>
                    <p:spPr bwMode="auto">
                      <a:xfrm>
                        <a:off x="8726525" y="5373515"/>
                        <a:ext cx="1525303" cy="319760"/>
                      </a:xfrm>
                      <a:prstGeom prst="rect">
                        <a:avLst/>
                      </a:prstGeom>
                      <a:noFill/>
                      <a:ln>
                        <a:noFill/>
                      </a:ln>
                    </p:spPr>
                  </p:pic>
                </p:oleObj>
              </mc:Fallback>
            </mc:AlternateContent>
          </a:graphicData>
        </a:graphic>
      </p:graphicFrame>
      <p:sp>
        <p:nvSpPr>
          <p:cNvPr id="7" name="文本框 6"/>
          <p:cNvSpPr txBox="1"/>
          <p:nvPr/>
        </p:nvSpPr>
        <p:spPr>
          <a:xfrm>
            <a:off x="7959956" y="2353191"/>
            <a:ext cx="3301376" cy="369332"/>
          </a:xfrm>
          <a:prstGeom prst="rect">
            <a:avLst/>
          </a:prstGeom>
          <a:noFill/>
        </p:spPr>
        <p:txBody>
          <a:bodyPr wrap="square" rtlCol="0">
            <a:spAutoFit/>
          </a:bodyPr>
          <a:lstStyle/>
          <a:p>
            <a:r>
              <a:rPr lang="zh-CN" altLang="en-US" b="1" dirty="0" smtClean="0"/>
              <a:t>单边谱密度，单位：</a:t>
            </a:r>
            <a:r>
              <a:rPr lang="en-US" altLang="zh-CN" b="1" dirty="0" smtClean="0"/>
              <a:t>V</a:t>
            </a:r>
            <a:r>
              <a:rPr lang="en-US" altLang="zh-CN" b="1" baseline="30000" dirty="0" smtClean="0"/>
              <a:t>2</a:t>
            </a:r>
            <a:r>
              <a:rPr lang="en-US" altLang="zh-CN" b="1" dirty="0" smtClean="0"/>
              <a:t>/Hz</a:t>
            </a:r>
            <a:endParaRPr lang="zh-CN" altLang="en-US" b="1" dirty="0"/>
          </a:p>
        </p:txBody>
      </p:sp>
    </p:spTree>
    <p:extLst>
      <p:ext uri="{BB962C8B-B14F-4D97-AF65-F5344CB8AC3E}">
        <p14:creationId xmlns:p14="http://schemas.microsoft.com/office/powerpoint/2010/main" val="293361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MOS</a:t>
            </a:r>
            <a:r>
              <a:rPr lang="zh-CN" altLang="en-US" dirty="0"/>
              <a:t>集成电路中的噪声类型</a:t>
            </a:r>
          </a:p>
        </p:txBody>
      </p:sp>
      <p:sp>
        <p:nvSpPr>
          <p:cNvPr id="3" name="内容占位符 2"/>
          <p:cNvSpPr>
            <a:spLocks noGrp="1"/>
          </p:cNvSpPr>
          <p:nvPr>
            <p:ph idx="1"/>
          </p:nvPr>
        </p:nvSpPr>
        <p:spPr/>
        <p:txBody>
          <a:bodyPr/>
          <a:lstStyle/>
          <a:p>
            <a:r>
              <a:rPr lang="zh-CN" altLang="en-US" dirty="0" smtClean="0"/>
              <a:t>电阻热噪声（举例）</a:t>
            </a:r>
            <a:endParaRPr lang="en-US" altLang="zh-CN" dirty="0" smtClean="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13</a:t>
            </a:fld>
            <a:endParaRPr lang="zh-CN" altLang="en-US"/>
          </a:p>
        </p:txBody>
      </p:sp>
      <p:sp>
        <p:nvSpPr>
          <p:cNvPr id="6" name="TextBox 1"/>
          <p:cNvSpPr txBox="1"/>
          <p:nvPr/>
        </p:nvSpPr>
        <p:spPr>
          <a:xfrm>
            <a:off x="914399" y="2362688"/>
            <a:ext cx="9768255" cy="969496"/>
          </a:xfrm>
          <a:prstGeom prst="rect">
            <a:avLst/>
          </a:prstGeom>
          <a:noFill/>
        </p:spPr>
        <p:txBody>
          <a:bodyPr wrap="square" lIns="0" tIns="0" rIns="0" rtlCol="0">
            <a:spAutoFit/>
          </a:bodyPr>
          <a:lstStyle/>
          <a:p>
            <a:pPr marL="457200" indent="-457200">
              <a:lnSpc>
                <a:spcPct val="150000"/>
              </a:lnSpc>
              <a:buFont typeface="Arial" panose="020B0604020202020204" pitchFamily="34" charset="0"/>
              <a:buChar char="•"/>
              <a:tabLst>
                <a:tab pos="1320800" algn="l"/>
              </a:tabLst>
            </a:pPr>
            <a:r>
              <a:rPr lang="zh-CN" altLang="en-US" sz="2000" dirty="0">
                <a:latin typeface="Times New Roman" pitchFamily="18" charset="0"/>
                <a:cs typeface="Times New Roman" pitchFamily="18" charset="0"/>
              </a:rPr>
              <a:t>计算</a:t>
            </a:r>
            <a:r>
              <a:rPr lang="en-US" altLang="zh-CN" sz="2000" dirty="0">
                <a:latin typeface="Times New Roman" pitchFamily="18" charset="0"/>
                <a:cs typeface="Times New Roman" pitchFamily="18" charset="0"/>
              </a:rPr>
              <a:t>1k</a:t>
            </a:r>
            <a:r>
              <a:rPr lang="en-US" altLang="zh-CN" sz="2000" dirty="0">
                <a:latin typeface="Symbol" panose="05050102010706020507" pitchFamily="18" charset="2"/>
                <a:cs typeface="Times New Roman" pitchFamily="18" charset="0"/>
              </a:rPr>
              <a:t>W</a:t>
            </a:r>
            <a:r>
              <a:rPr lang="zh-CN" altLang="en-US" sz="2000" dirty="0">
                <a:latin typeface="Times New Roman" pitchFamily="18" charset="0"/>
                <a:cs typeface="Times New Roman" pitchFamily="18" charset="0"/>
              </a:rPr>
              <a:t>电阻，在室温</a:t>
            </a:r>
            <a:r>
              <a:rPr lang="en-US" altLang="zh-CN" sz="2000" dirty="0">
                <a:latin typeface="Times New Roman" pitchFamily="18" charset="0"/>
                <a:cs typeface="Times New Roman" pitchFamily="18" charset="0"/>
              </a:rPr>
              <a:t>27</a:t>
            </a:r>
            <a:r>
              <a:rPr lang="zh-CN" altLang="en-US" sz="2000" dirty="0">
                <a:latin typeface="Times New Roman" pitchFamily="18" charset="0"/>
                <a:cs typeface="Times New Roman" pitchFamily="18" charset="0"/>
              </a:rPr>
              <a:t>摄氏度下的噪声功率谱密度。：</a:t>
            </a:r>
            <a:r>
              <a:rPr lang="en-US" altLang="zh-CN" sz="2000" dirty="0">
                <a:latin typeface="Times New Roman" pitchFamily="18" charset="0"/>
                <a:cs typeface="Times New Roman" pitchFamily="18" charset="0"/>
              </a:rPr>
              <a:t>(</a:t>
            </a:r>
            <a:r>
              <a:rPr lang="zh-CN" altLang="en-US" sz="2000" dirty="0">
                <a:latin typeface="Times New Roman" pitchFamily="18" charset="0"/>
                <a:cs typeface="Times New Roman" pitchFamily="18" charset="0"/>
              </a:rPr>
              <a:t>波尔兹曼常数：</a:t>
            </a:r>
            <a:r>
              <a:rPr lang="en-US" altLang="zh-CN" sz="2000" i="1" dirty="0">
                <a:latin typeface="Times New Roman" pitchFamily="18" charset="0"/>
                <a:cs typeface="Times New Roman" pitchFamily="18" charset="0"/>
              </a:rPr>
              <a:t>k</a:t>
            </a:r>
            <a:r>
              <a:rPr lang="en-US" altLang="zh-CN" sz="2000" dirty="0">
                <a:latin typeface="Times New Roman" pitchFamily="18" charset="0"/>
                <a:cs typeface="Times New Roman" pitchFamily="18" charset="0"/>
              </a:rPr>
              <a:t>=1.38×10</a:t>
            </a:r>
            <a:r>
              <a:rPr lang="en-US" altLang="zh-CN" sz="2000" baseline="30000" dirty="0">
                <a:latin typeface="Times New Roman" pitchFamily="18" charset="0"/>
                <a:cs typeface="Times New Roman" pitchFamily="18" charset="0"/>
              </a:rPr>
              <a:t>-23</a:t>
            </a:r>
            <a:r>
              <a:rPr lang="en-US" altLang="zh-CN" sz="2000" dirty="0">
                <a:latin typeface="Times New Roman" pitchFamily="18" charset="0"/>
                <a:cs typeface="Times New Roman" pitchFamily="18" charset="0"/>
              </a:rPr>
              <a:t>J/K)</a:t>
            </a:r>
            <a:endParaRPr lang="en-US" altLang="zh-CN" sz="2000" dirty="0">
              <a:solidFill>
                <a:srgbClr val="000000"/>
              </a:solidFill>
              <a:latin typeface="Times New Roman" pitchFamily="18" charset="0"/>
              <a:cs typeface="Times New Roman"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583206391"/>
              </p:ext>
            </p:extLst>
          </p:nvPr>
        </p:nvGraphicFramePr>
        <p:xfrm>
          <a:off x="2739534" y="3274204"/>
          <a:ext cx="5672993" cy="442812"/>
        </p:xfrm>
        <a:graphic>
          <a:graphicData uri="http://schemas.openxmlformats.org/presentationml/2006/ole">
            <mc:AlternateContent xmlns:mc="http://schemas.openxmlformats.org/markup-compatibility/2006">
              <mc:Choice xmlns:v="urn:schemas-microsoft-com:vml" Requires="v">
                <p:oleObj spid="_x0000_s16775" name="Equation" r:id="rId3" imgW="3060360" imgH="241200" progId="Equation.DSMT4">
                  <p:embed/>
                </p:oleObj>
              </mc:Choice>
              <mc:Fallback>
                <p:oleObj name="Equation" r:id="rId3" imgW="3060360" imgH="241200" progId="Equation.DSMT4">
                  <p:embed/>
                  <p:pic>
                    <p:nvPicPr>
                      <p:cNvPr id="7" name="对象 6"/>
                      <p:cNvPicPr>
                        <a:picLocks noChangeAspect="1" noChangeArrowheads="1"/>
                      </p:cNvPicPr>
                      <p:nvPr/>
                    </p:nvPicPr>
                    <p:blipFill>
                      <a:blip r:embed="rId4"/>
                      <a:srcRect/>
                      <a:stretch>
                        <a:fillRect/>
                      </a:stretch>
                    </p:blipFill>
                    <p:spPr bwMode="auto">
                      <a:xfrm>
                        <a:off x="2739534" y="3274204"/>
                        <a:ext cx="5672993" cy="442812"/>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77796AC-CFA7-41A7-877C-5F371F40DD36}"/>
                  </a:ext>
                </a:extLst>
              </p:cNvPr>
              <p:cNvSpPr txBox="1"/>
              <p:nvPr/>
            </p:nvSpPr>
            <p:spPr>
              <a:xfrm>
                <a:off x="2998662" y="3717016"/>
                <a:ext cx="5154735" cy="4650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𝜈</m:t>
                          </m:r>
                        </m:e>
                        <m:sub>
                          <m:r>
                            <m:rPr>
                              <m:sty m:val="p"/>
                            </m:rPr>
                            <a:rPr lang="en-US" altLang="zh-CN" sz="2000" i="1">
                              <a:latin typeface="Cambria Math" panose="02040503050406030204" pitchFamily="18" charset="0"/>
                            </a:rPr>
                            <m:t>n</m:t>
                          </m:r>
                        </m:sub>
                      </m:sSub>
                      <m:r>
                        <a:rPr lang="en-US" altLang="zh-CN" sz="2000" i="1">
                          <a:latin typeface="Cambria Math" panose="02040503050406030204" pitchFamily="18" charset="0"/>
                        </a:rPr>
                        <m:t>=</m:t>
                      </m:r>
                      <m:rad>
                        <m:radPr>
                          <m:degHide m:val="on"/>
                          <m:ctrlPr>
                            <a:rPr lang="en-US" altLang="zh-CN" sz="2000" i="1" smtClean="0">
                              <a:latin typeface="Cambria Math" panose="02040503050406030204" pitchFamily="18" charset="0"/>
                            </a:rPr>
                          </m:ctrlPr>
                        </m:radPr>
                        <m:deg/>
                        <m:e>
                          <m:sSub>
                            <m:sSubPr>
                              <m:ctrlPr>
                                <a:rPr lang="en-US" altLang="zh-CN" sz="2000" i="1" smtClean="0">
                                  <a:latin typeface="Cambria Math" panose="02040503050406030204" pitchFamily="18" charset="0"/>
                                </a:rPr>
                              </m:ctrlPr>
                            </m:sSubPr>
                            <m:e>
                              <m:r>
                                <m:rPr>
                                  <m:sty m:val="p"/>
                                </m:rPr>
                                <a:rPr lang="en-US" altLang="zh-CN" sz="2000" i="1">
                                  <a:latin typeface="Cambria Math" panose="02040503050406030204" pitchFamily="18" charset="0"/>
                                </a:rPr>
                                <m:t>S</m:t>
                              </m:r>
                            </m:e>
                            <m:sub>
                              <m:r>
                                <m:rPr>
                                  <m:sty m:val="p"/>
                                </m:rPr>
                                <a:rPr lang="en-US" altLang="zh-CN" sz="2000" i="1">
                                  <a:latin typeface="Cambria Math" panose="02040503050406030204" pitchFamily="18" charset="0"/>
                                </a:rPr>
                                <m:t>R</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𝑓</m:t>
                          </m:r>
                          <m:r>
                            <a:rPr lang="en-US" altLang="zh-CN" sz="2000" b="0" i="1" smtClean="0">
                              <a:latin typeface="Cambria Math" panose="02040503050406030204" pitchFamily="18" charset="0"/>
                            </a:rPr>
                            <m:t>)</m:t>
                          </m:r>
                        </m:e>
                      </m:rad>
                      <m:r>
                        <a:rPr lang="en-US" altLang="zh-CN" sz="2000" i="1">
                          <a:latin typeface="Cambria Math" panose="02040503050406030204" pitchFamily="18" charset="0"/>
                        </a:rPr>
                        <m:t>=</m:t>
                      </m:r>
                      <m:r>
                        <a:rPr lang="en-US" altLang="zh-CN" sz="2000" b="0" i="1" smtClean="0">
                          <a:latin typeface="Cambria Math" panose="02040503050406030204" pitchFamily="18" charset="0"/>
                        </a:rPr>
                        <m:t>4.1</m:t>
                      </m:r>
                      <m:f>
                        <m:fPr>
                          <m:type m:val="lin"/>
                          <m:ctrlPr>
                            <a:rPr lang="en-US" altLang="zh-CN" sz="2000" i="1" smtClean="0">
                              <a:latin typeface="Cambria Math" panose="02040503050406030204" pitchFamily="18" charset="0"/>
                            </a:rPr>
                          </m:ctrlPr>
                        </m:fPr>
                        <m:num>
                          <m:r>
                            <a:rPr lang="en-US" altLang="zh-CN" sz="2000" b="0" i="1" smtClean="0">
                              <a:latin typeface="Cambria Math" panose="02040503050406030204" pitchFamily="18" charset="0"/>
                            </a:rPr>
                            <m:t>𝑛𝑉</m:t>
                          </m:r>
                        </m:num>
                        <m:den>
                          <m:rad>
                            <m:radPr>
                              <m:degHide m:val="on"/>
                              <m:ctrlPr>
                                <a:rPr lang="en-US" altLang="zh-CN" sz="2000" i="1" smtClean="0">
                                  <a:latin typeface="Cambria Math" panose="02040503050406030204" pitchFamily="18" charset="0"/>
                                </a:rPr>
                              </m:ctrlPr>
                            </m:radPr>
                            <m:deg/>
                            <m:e>
                              <m:r>
                                <a:rPr lang="en-US" altLang="zh-CN" sz="2000" b="0" i="1" smtClean="0">
                                  <a:latin typeface="Cambria Math" panose="02040503050406030204" pitchFamily="18" charset="0"/>
                                </a:rPr>
                                <m:t>𝐻𝑧</m:t>
                              </m:r>
                            </m:e>
                          </m:rad>
                        </m:den>
                      </m:f>
                    </m:oMath>
                  </m:oMathPara>
                </a14:m>
                <a:endParaRPr lang="zh-CN" altLang="en-US" sz="2000" dirty="0"/>
              </a:p>
            </p:txBody>
          </p:sp>
        </mc:Choice>
        <mc:Fallback xmlns="">
          <p:sp>
            <p:nvSpPr>
              <p:cNvPr id="8" name="文本框 7">
                <a:extLst>
                  <a:ext uri="{FF2B5EF4-FFF2-40B4-BE49-F238E27FC236}">
                    <a16:creationId xmlns:a16="http://schemas.microsoft.com/office/drawing/2014/main" id="{B77796AC-CFA7-41A7-877C-5F371F40DD36}"/>
                  </a:ext>
                </a:extLst>
              </p:cNvPr>
              <p:cNvSpPr txBox="1">
                <a:spLocks noRot="1" noChangeAspect="1" noMove="1" noResize="1" noEditPoints="1" noAdjustHandles="1" noChangeArrowheads="1" noChangeShapeType="1" noTextEdit="1"/>
              </p:cNvSpPr>
              <p:nvPr/>
            </p:nvSpPr>
            <p:spPr>
              <a:xfrm>
                <a:off x="2998662" y="3717016"/>
                <a:ext cx="5154735" cy="465064"/>
              </a:xfrm>
              <a:prstGeom prst="rect">
                <a:avLst/>
              </a:prstGeom>
              <a:blipFill>
                <a:blip r:embed="rId5"/>
                <a:stretch>
                  <a:fillRect t="-89474" b="-152632"/>
                </a:stretch>
              </a:blipFill>
            </p:spPr>
            <p:txBody>
              <a:bodyPr/>
              <a:lstStyle/>
              <a:p>
                <a:r>
                  <a:rPr lang="zh-CN" altLang="en-US">
                    <a:noFill/>
                  </a:rPr>
                  <a:t> </a:t>
                </a:r>
              </a:p>
            </p:txBody>
          </p:sp>
        </mc:Fallback>
      </mc:AlternateContent>
      <p:sp>
        <p:nvSpPr>
          <p:cNvPr id="9" name="矩形 8"/>
          <p:cNvSpPr/>
          <p:nvPr/>
        </p:nvSpPr>
        <p:spPr>
          <a:xfrm>
            <a:off x="838200" y="4178830"/>
            <a:ext cx="8812823" cy="553998"/>
          </a:xfrm>
          <a:prstGeom prst="rect">
            <a:avLst/>
          </a:prstGeom>
        </p:spPr>
        <p:txBody>
          <a:bodyPr wrap="square">
            <a:spAutoFit/>
          </a:bodyPr>
          <a:lstStyle/>
          <a:p>
            <a:pPr marL="457200" indent="-457200">
              <a:lnSpc>
                <a:spcPct val="150000"/>
              </a:lnSpc>
              <a:buFont typeface="Arial" panose="020B0604020202020204" pitchFamily="34" charset="0"/>
              <a:buChar char="•"/>
              <a:tabLst>
                <a:tab pos="1320800" algn="l"/>
              </a:tabLst>
            </a:pPr>
            <a:r>
              <a:rPr lang="zh-CN" altLang="en-US" sz="2000" dirty="0">
                <a:latin typeface="Times New Roman" pitchFamily="18" charset="0"/>
                <a:cs typeface="Times New Roman" pitchFamily="18" charset="0"/>
              </a:rPr>
              <a:t>计算该条件下，电阻在</a:t>
            </a:r>
            <a:r>
              <a:rPr lang="en-US" altLang="zh-CN" sz="2000" dirty="0">
                <a:latin typeface="Times New Roman" pitchFamily="18" charset="0"/>
                <a:cs typeface="Times New Roman" pitchFamily="18" charset="0"/>
              </a:rPr>
              <a:t>1kHz</a:t>
            </a:r>
            <a:r>
              <a:rPr lang="zh-CN" altLang="en-US" sz="2000" dirty="0">
                <a:latin typeface="Times New Roman" pitchFamily="18" charset="0"/>
                <a:cs typeface="Times New Roman" pitchFamily="18" charset="0"/>
              </a:rPr>
              <a:t>内的均方噪声电压和噪声电压的瞬时最大值。</a:t>
            </a:r>
            <a:endParaRPr lang="en-US" altLang="zh-CN" sz="2000" dirty="0">
              <a:solidFill>
                <a:srgbClr val="000000"/>
              </a:solidFill>
              <a:latin typeface="Times New Roman" pitchFamily="18" charset="0"/>
              <a:cs typeface="Times New Roman" pitchFamily="18" charset="0"/>
            </a:endParaRPr>
          </a:p>
        </p:txBody>
      </p:sp>
      <p:graphicFrame>
        <p:nvGraphicFramePr>
          <p:cNvPr id="10" name="对象 9">
            <a:extLst>
              <a:ext uri="{FF2B5EF4-FFF2-40B4-BE49-F238E27FC236}">
                <a16:creationId xmlns:a16="http://schemas.microsoft.com/office/drawing/2014/main" id="{52154D00-864E-4A23-A832-4425DFA3D3DD}"/>
              </a:ext>
            </a:extLst>
          </p:cNvPr>
          <p:cNvGraphicFramePr>
            <a:graphicFrameLocks noChangeAspect="1"/>
          </p:cNvGraphicFramePr>
          <p:nvPr>
            <p:extLst>
              <p:ext uri="{D42A27DB-BD31-4B8C-83A1-F6EECF244321}">
                <p14:modId xmlns:p14="http://schemas.microsoft.com/office/powerpoint/2010/main" val="785569478"/>
              </p:ext>
            </p:extLst>
          </p:nvPr>
        </p:nvGraphicFramePr>
        <p:xfrm>
          <a:off x="2565687" y="4737978"/>
          <a:ext cx="6425234" cy="1618372"/>
        </p:xfrm>
        <a:graphic>
          <a:graphicData uri="http://schemas.openxmlformats.org/presentationml/2006/ole">
            <mc:AlternateContent xmlns:mc="http://schemas.openxmlformats.org/markup-compatibility/2006">
              <mc:Choice xmlns:v="urn:schemas-microsoft-com:vml" Requires="v">
                <p:oleObj spid="_x0000_s16776" r:id="rId6" imgW="3187700" imgH="952500" progId="Equation.DSMT4">
                  <p:embed/>
                </p:oleObj>
              </mc:Choice>
              <mc:Fallback>
                <p:oleObj r:id="rId6" imgW="3187700" imgH="952500" progId="Equation.DSMT4">
                  <p:embed/>
                  <p:pic>
                    <p:nvPicPr>
                      <p:cNvPr id="12" name="对象 11">
                        <a:extLst>
                          <a:ext uri="{FF2B5EF4-FFF2-40B4-BE49-F238E27FC236}">
                            <a16:creationId xmlns:a16="http://schemas.microsoft.com/office/drawing/2014/main" id="{52154D00-864E-4A23-A832-4425DFA3D3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5687" y="4737978"/>
                        <a:ext cx="6425234" cy="1618372"/>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1" name="文本框 10"/>
              <p:cNvSpPr txBox="1"/>
              <p:nvPr/>
            </p:nvSpPr>
            <p:spPr>
              <a:xfrm>
                <a:off x="5778304" y="5909632"/>
                <a:ext cx="2611933" cy="3211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𝑉</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𝑚𝑎𝑥</m:t>
                          </m:r>
                        </m:sub>
                      </m:sSub>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rPr>
                        <m:t>3</m:t>
                      </m:r>
                      <m:acc>
                        <m:accPr>
                          <m:chr m:val="̅"/>
                          <m:ctrlPr>
                            <a:rPr lang="en-US" altLang="zh-CN" sz="2000" b="0" i="1" smtClean="0">
                              <a:latin typeface="Cambria Math" panose="02040503050406030204" pitchFamily="18" charset="0"/>
                            </a:rPr>
                          </m:ctrlPr>
                        </m:acc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sub>
                          </m:sSub>
                        </m:e>
                      </m:acc>
                      <m:r>
                        <a:rPr lang="en-US" altLang="zh-CN" sz="2000" b="0" i="1" smtClean="0">
                          <a:latin typeface="Cambria Math" panose="02040503050406030204" pitchFamily="18" charset="0"/>
                        </a:rPr>
                        <m:t>=0.39</m:t>
                      </m:r>
                      <m:r>
                        <a:rPr lang="zh-CN" altLang="en-US" sz="2000" b="0" i="1" smtClean="0">
                          <a:latin typeface="Cambria Math" panose="02040503050406030204" pitchFamily="18" charset="0"/>
                        </a:rPr>
                        <m:t>𝜇</m:t>
                      </m:r>
                      <m:r>
                        <a:rPr lang="en-US" altLang="zh-CN" sz="2000" b="0" i="1" smtClean="0">
                          <a:latin typeface="Cambria Math" panose="02040503050406030204" pitchFamily="18" charset="0"/>
                        </a:rPr>
                        <m:t>𝑉</m:t>
                      </m:r>
                    </m:oMath>
                  </m:oMathPara>
                </a14:m>
                <a:endParaRPr lang="zh-CN" altLang="en-US" sz="20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5778304" y="5909632"/>
                <a:ext cx="2611933" cy="321178"/>
              </a:xfrm>
              <a:prstGeom prst="rect">
                <a:avLst/>
              </a:prstGeom>
              <a:blipFill>
                <a:blip r:embed="rId8"/>
                <a:stretch>
                  <a:fillRect l="-1636" r="-1168" b="-18868"/>
                </a:stretch>
              </a:blipFill>
            </p:spPr>
            <p:txBody>
              <a:bodyPr/>
              <a:lstStyle/>
              <a:p>
                <a:r>
                  <a:rPr lang="zh-CN" altLang="en-US">
                    <a:noFill/>
                  </a:rPr>
                  <a:t> </a:t>
                </a:r>
              </a:p>
            </p:txBody>
          </p:sp>
        </mc:Fallback>
      </mc:AlternateContent>
      <p:sp>
        <p:nvSpPr>
          <p:cNvPr id="12" name="右箭头 11"/>
          <p:cNvSpPr/>
          <p:nvPr/>
        </p:nvSpPr>
        <p:spPr>
          <a:xfrm>
            <a:off x="5244611" y="6005146"/>
            <a:ext cx="250581" cy="2256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90698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MOS</a:t>
            </a:r>
            <a:r>
              <a:rPr lang="zh-CN" altLang="en-US" dirty="0"/>
              <a:t>集成电路中的噪声类型</a:t>
            </a:r>
          </a:p>
        </p:txBody>
      </p:sp>
      <p:sp>
        <p:nvSpPr>
          <p:cNvPr id="3" name="内容占位符 2"/>
          <p:cNvSpPr>
            <a:spLocks noGrp="1"/>
          </p:cNvSpPr>
          <p:nvPr>
            <p:ph idx="1"/>
          </p:nvPr>
        </p:nvSpPr>
        <p:spPr/>
        <p:txBody>
          <a:bodyPr/>
          <a:lstStyle/>
          <a:p>
            <a:r>
              <a:rPr lang="zh-CN" altLang="en-US" dirty="0" smtClean="0"/>
              <a:t>电阻热噪声（举例）</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14</a:t>
            </a:fld>
            <a:endParaRPr lang="zh-CN" altLang="en-US"/>
          </a:p>
        </p:txBody>
      </p:sp>
      <p:pic>
        <p:nvPicPr>
          <p:cNvPr id="6" name="图片 5"/>
          <p:cNvPicPr>
            <a:picLocks noChangeAspect="1"/>
          </p:cNvPicPr>
          <p:nvPr/>
        </p:nvPicPr>
        <p:blipFill>
          <a:blip r:embed="rId2"/>
          <a:stretch>
            <a:fillRect/>
          </a:stretch>
        </p:blipFill>
        <p:spPr>
          <a:xfrm>
            <a:off x="2272445" y="2427043"/>
            <a:ext cx="7400925" cy="2162175"/>
          </a:xfrm>
          <a:prstGeom prst="rect">
            <a:avLst/>
          </a:prstGeom>
        </p:spPr>
      </p:pic>
      <p:pic>
        <p:nvPicPr>
          <p:cNvPr id="7" name="图片 6"/>
          <p:cNvPicPr>
            <a:picLocks noChangeAspect="1"/>
          </p:cNvPicPr>
          <p:nvPr/>
        </p:nvPicPr>
        <p:blipFill>
          <a:blip r:embed="rId3"/>
          <a:stretch>
            <a:fillRect/>
          </a:stretch>
        </p:blipFill>
        <p:spPr>
          <a:xfrm>
            <a:off x="2481629" y="4687765"/>
            <a:ext cx="2990850" cy="1390650"/>
          </a:xfrm>
          <a:prstGeom prst="rect">
            <a:avLst/>
          </a:prstGeom>
        </p:spPr>
      </p:pic>
      <p:pic>
        <p:nvPicPr>
          <p:cNvPr id="8" name="图片 7"/>
          <p:cNvPicPr>
            <a:picLocks noChangeAspect="1"/>
          </p:cNvPicPr>
          <p:nvPr/>
        </p:nvPicPr>
        <p:blipFill>
          <a:blip r:embed="rId4"/>
          <a:stretch>
            <a:fillRect/>
          </a:stretch>
        </p:blipFill>
        <p:spPr>
          <a:xfrm>
            <a:off x="5850914" y="4737894"/>
            <a:ext cx="2828925" cy="1019175"/>
          </a:xfrm>
          <a:prstGeom prst="rect">
            <a:avLst/>
          </a:prstGeom>
        </p:spPr>
      </p:pic>
    </p:spTree>
    <p:extLst>
      <p:ext uri="{BB962C8B-B14F-4D97-AF65-F5344CB8AC3E}">
        <p14:creationId xmlns:p14="http://schemas.microsoft.com/office/powerpoint/2010/main" val="1738525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MOS</a:t>
            </a:r>
            <a:r>
              <a:rPr lang="zh-CN" altLang="en-US" dirty="0"/>
              <a:t>集成电路中的噪声类型</a:t>
            </a:r>
          </a:p>
        </p:txBody>
      </p:sp>
      <p:sp>
        <p:nvSpPr>
          <p:cNvPr id="3" name="内容占位符 2"/>
          <p:cNvSpPr>
            <a:spLocks noGrp="1"/>
          </p:cNvSpPr>
          <p:nvPr>
            <p:ph idx="1"/>
          </p:nvPr>
        </p:nvSpPr>
        <p:spPr/>
        <p:txBody>
          <a:bodyPr/>
          <a:lstStyle/>
          <a:p>
            <a:r>
              <a:rPr lang="zh-CN" altLang="en-US" dirty="0"/>
              <a:t>电阻热噪声（举例</a:t>
            </a:r>
            <a:r>
              <a:rPr lang="zh-CN" altLang="en-US" dirty="0" smtClean="0"/>
              <a:t>）</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15</a:t>
            </a:fld>
            <a:endParaRPr lang="zh-CN" altLang="en-US"/>
          </a:p>
        </p:txBody>
      </p:sp>
      <p:grpSp>
        <p:nvGrpSpPr>
          <p:cNvPr id="37" name="组合 36"/>
          <p:cNvGrpSpPr/>
          <p:nvPr/>
        </p:nvGrpSpPr>
        <p:grpSpPr>
          <a:xfrm>
            <a:off x="1820008" y="2282948"/>
            <a:ext cx="8282354" cy="4028952"/>
            <a:chOff x="88900" y="1187450"/>
            <a:chExt cx="10463213" cy="5508402"/>
          </a:xfrm>
        </p:grpSpPr>
        <p:graphicFrame>
          <p:nvGraphicFramePr>
            <p:cNvPr id="38" name="对象 37"/>
            <p:cNvGraphicFramePr>
              <a:graphicFrameLocks noChangeAspect="1"/>
            </p:cNvGraphicFramePr>
            <p:nvPr>
              <p:extLst>
                <p:ext uri="{D42A27DB-BD31-4B8C-83A1-F6EECF244321}">
                  <p14:modId xmlns:p14="http://schemas.microsoft.com/office/powerpoint/2010/main" val="3857963378"/>
                </p:ext>
              </p:extLst>
            </p:nvPr>
          </p:nvGraphicFramePr>
          <p:xfrm>
            <a:off x="1841500" y="3397250"/>
            <a:ext cx="2286000" cy="785374"/>
          </p:xfrm>
          <a:graphic>
            <a:graphicData uri="http://schemas.openxmlformats.org/presentationml/2006/ole">
              <mc:AlternateContent xmlns:mc="http://schemas.openxmlformats.org/markup-compatibility/2006">
                <mc:Choice xmlns:v="urn:schemas-microsoft-com:vml" Requires="v">
                  <p:oleObj spid="_x0000_s26798" name="Equation" r:id="rId3" imgW="1206360" imgH="419040" progId="Equation.DSMT4">
                    <p:embed/>
                  </p:oleObj>
                </mc:Choice>
                <mc:Fallback>
                  <p:oleObj name="Equation" r:id="rId3" imgW="1206360" imgH="419040" progId="Equation.DSMT4">
                    <p:embed/>
                    <p:pic>
                      <p:nvPicPr>
                        <p:cNvPr id="7" name="对象 6"/>
                        <p:cNvPicPr>
                          <a:picLocks noChangeAspect="1" noChangeArrowheads="1"/>
                        </p:cNvPicPr>
                        <p:nvPr/>
                      </p:nvPicPr>
                      <p:blipFill>
                        <a:blip r:embed="rId4"/>
                        <a:srcRect/>
                        <a:stretch>
                          <a:fillRect/>
                        </a:stretch>
                      </p:blipFill>
                      <p:spPr bwMode="auto">
                        <a:xfrm>
                          <a:off x="1841500" y="3397250"/>
                          <a:ext cx="2286000" cy="785374"/>
                        </a:xfrm>
                        <a:prstGeom prst="rect">
                          <a:avLst/>
                        </a:prstGeom>
                        <a:noFill/>
                        <a:ln>
                          <a:noFill/>
                        </a:ln>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1063770287"/>
                </p:ext>
              </p:extLst>
            </p:nvPr>
          </p:nvGraphicFramePr>
          <p:xfrm>
            <a:off x="4508500" y="1311655"/>
            <a:ext cx="419100" cy="592138"/>
          </p:xfrm>
          <a:graphic>
            <a:graphicData uri="http://schemas.openxmlformats.org/presentationml/2006/ole">
              <mc:AlternateContent xmlns:mc="http://schemas.openxmlformats.org/markup-compatibility/2006">
                <mc:Choice xmlns:v="urn:schemas-microsoft-com:vml" Requires="v">
                  <p:oleObj spid="_x0000_s26799" name="Equation" r:id="rId5" imgW="177480" imgH="253800" progId="Equation.DSMT4">
                    <p:embed/>
                  </p:oleObj>
                </mc:Choice>
                <mc:Fallback>
                  <p:oleObj name="Equation" r:id="rId5" imgW="177480" imgH="253800" progId="Equation.DSMT4">
                    <p:embed/>
                    <p:pic>
                      <p:nvPicPr>
                        <p:cNvPr id="3" name="对象 2"/>
                        <p:cNvPicPr>
                          <a:picLocks noChangeAspect="1" noChangeArrowheads="1"/>
                        </p:cNvPicPr>
                        <p:nvPr/>
                      </p:nvPicPr>
                      <p:blipFill>
                        <a:blip r:embed="rId6"/>
                        <a:srcRect/>
                        <a:stretch>
                          <a:fillRect/>
                        </a:stretch>
                      </p:blipFill>
                      <p:spPr bwMode="auto">
                        <a:xfrm>
                          <a:off x="4508500" y="1311655"/>
                          <a:ext cx="4191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8500" y="1423987"/>
              <a:ext cx="1646238"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右箭头 41"/>
            <p:cNvSpPr/>
            <p:nvPr/>
          </p:nvSpPr>
          <p:spPr>
            <a:xfrm>
              <a:off x="2603500" y="2167026"/>
              <a:ext cx="457200" cy="914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41700" y="1582737"/>
              <a:ext cx="1841500" cy="185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4" name="对象 43"/>
            <p:cNvGraphicFramePr>
              <a:graphicFrameLocks noChangeAspect="1"/>
            </p:cNvGraphicFramePr>
            <p:nvPr>
              <p:extLst>
                <p:ext uri="{D42A27DB-BD31-4B8C-83A1-F6EECF244321}">
                  <p14:modId xmlns:p14="http://schemas.microsoft.com/office/powerpoint/2010/main" val="670897042"/>
                </p:ext>
              </p:extLst>
            </p:nvPr>
          </p:nvGraphicFramePr>
          <p:xfrm>
            <a:off x="2070100" y="1187450"/>
            <a:ext cx="2065338" cy="561975"/>
          </p:xfrm>
          <a:graphic>
            <a:graphicData uri="http://schemas.openxmlformats.org/presentationml/2006/ole">
              <mc:AlternateContent xmlns:mc="http://schemas.openxmlformats.org/markup-compatibility/2006">
                <mc:Choice xmlns:v="urn:schemas-microsoft-com:vml" Requires="v">
                  <p:oleObj spid="_x0000_s26800" name="Equation" r:id="rId9" imgW="876240" imgH="241200" progId="Equation.DSMT4">
                    <p:embed/>
                  </p:oleObj>
                </mc:Choice>
                <mc:Fallback>
                  <p:oleObj name="Equation" r:id="rId9" imgW="876240" imgH="241200" progId="Equation.DSMT4">
                    <p:embed/>
                    <p:pic>
                      <p:nvPicPr>
                        <p:cNvPr id="9" name="对象 8"/>
                        <p:cNvPicPr>
                          <a:picLocks noChangeAspect="1" noChangeArrowheads="1"/>
                        </p:cNvPicPr>
                        <p:nvPr/>
                      </p:nvPicPr>
                      <p:blipFill>
                        <a:blip r:embed="rId10"/>
                        <a:srcRect/>
                        <a:stretch>
                          <a:fillRect/>
                        </a:stretch>
                      </p:blipFill>
                      <p:spPr bwMode="auto">
                        <a:xfrm>
                          <a:off x="2070100" y="1187450"/>
                          <a:ext cx="206533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5" name="直接箭头连接符 44"/>
            <p:cNvCxnSpPr/>
            <p:nvPr/>
          </p:nvCxnSpPr>
          <p:spPr>
            <a:xfrm>
              <a:off x="3060700" y="1735137"/>
              <a:ext cx="381000" cy="5334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6" name="对象 45"/>
            <p:cNvGraphicFramePr>
              <a:graphicFrameLocks noChangeAspect="1"/>
            </p:cNvGraphicFramePr>
            <p:nvPr>
              <p:extLst>
                <p:ext uri="{D42A27DB-BD31-4B8C-83A1-F6EECF244321}">
                  <p14:modId xmlns:p14="http://schemas.microsoft.com/office/powerpoint/2010/main" val="2184712714"/>
                </p:ext>
              </p:extLst>
            </p:nvPr>
          </p:nvGraphicFramePr>
          <p:xfrm>
            <a:off x="8153400" y="1348167"/>
            <a:ext cx="419100" cy="592138"/>
          </p:xfrm>
          <a:graphic>
            <a:graphicData uri="http://schemas.openxmlformats.org/presentationml/2006/ole">
              <mc:AlternateContent xmlns:mc="http://schemas.openxmlformats.org/markup-compatibility/2006">
                <mc:Choice xmlns:v="urn:schemas-microsoft-com:vml" Requires="v">
                  <p:oleObj spid="_x0000_s26801" name="Equation" r:id="rId11" imgW="177480" imgH="253800" progId="Equation.DSMT4">
                    <p:embed/>
                  </p:oleObj>
                </mc:Choice>
                <mc:Fallback>
                  <p:oleObj name="Equation" r:id="rId11" imgW="177480" imgH="253800" progId="Equation.DSMT4">
                    <p:embed/>
                    <p:pic>
                      <p:nvPicPr>
                        <p:cNvPr id="18" name="对象 17"/>
                        <p:cNvPicPr>
                          <a:picLocks noChangeAspect="1" noChangeArrowheads="1"/>
                        </p:cNvPicPr>
                        <p:nvPr/>
                      </p:nvPicPr>
                      <p:blipFill>
                        <a:blip r:embed="rId6"/>
                        <a:srcRect/>
                        <a:stretch>
                          <a:fillRect/>
                        </a:stretch>
                      </p:blipFill>
                      <p:spPr bwMode="auto">
                        <a:xfrm>
                          <a:off x="8153400" y="1348167"/>
                          <a:ext cx="4191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8"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86600" y="1619249"/>
              <a:ext cx="1841500" cy="185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9" name="对象 48"/>
            <p:cNvGraphicFramePr>
              <a:graphicFrameLocks noChangeAspect="1"/>
            </p:cNvGraphicFramePr>
            <p:nvPr>
              <p:extLst>
                <p:ext uri="{D42A27DB-BD31-4B8C-83A1-F6EECF244321}">
                  <p14:modId xmlns:p14="http://schemas.microsoft.com/office/powerpoint/2010/main" val="1140100630"/>
                </p:ext>
              </p:extLst>
            </p:nvPr>
          </p:nvGraphicFramePr>
          <p:xfrm>
            <a:off x="5715000" y="1223962"/>
            <a:ext cx="2065338" cy="561975"/>
          </p:xfrm>
          <a:graphic>
            <a:graphicData uri="http://schemas.openxmlformats.org/presentationml/2006/ole">
              <mc:AlternateContent xmlns:mc="http://schemas.openxmlformats.org/markup-compatibility/2006">
                <mc:Choice xmlns:v="urn:schemas-microsoft-com:vml" Requires="v">
                  <p:oleObj spid="_x0000_s26802" name="Equation" r:id="rId12" imgW="876240" imgH="241200" progId="Equation.DSMT4">
                    <p:embed/>
                  </p:oleObj>
                </mc:Choice>
                <mc:Fallback>
                  <p:oleObj name="Equation" r:id="rId12" imgW="876240" imgH="241200" progId="Equation.DSMT4">
                    <p:embed/>
                    <p:pic>
                      <p:nvPicPr>
                        <p:cNvPr id="24" name="对象 23"/>
                        <p:cNvPicPr>
                          <a:picLocks noChangeAspect="1" noChangeArrowheads="1"/>
                        </p:cNvPicPr>
                        <p:nvPr/>
                      </p:nvPicPr>
                      <p:blipFill>
                        <a:blip r:embed="rId13"/>
                        <a:srcRect/>
                        <a:stretch>
                          <a:fillRect/>
                        </a:stretch>
                      </p:blipFill>
                      <p:spPr bwMode="auto">
                        <a:xfrm>
                          <a:off x="5715000" y="1223962"/>
                          <a:ext cx="206533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0" name="直接箭头连接符 49"/>
            <p:cNvCxnSpPr/>
            <p:nvPr/>
          </p:nvCxnSpPr>
          <p:spPr>
            <a:xfrm>
              <a:off x="6705600" y="1771649"/>
              <a:ext cx="381000" cy="5334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5575300" y="1263650"/>
              <a:ext cx="0" cy="5105400"/>
            </a:xfrm>
            <a:prstGeom prst="line">
              <a:avLst/>
            </a:prstGeom>
            <a:ln w="2540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rot="19310960">
              <a:off x="7834640" y="1589042"/>
              <a:ext cx="762000" cy="1657439"/>
            </a:xfrm>
            <a:prstGeom prst="ellipse">
              <a:avLst/>
            </a:prstGeom>
            <a:solidFill>
              <a:schemeClr val="accent1">
                <a:alpha val="0"/>
              </a:schemeClr>
            </a:solid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箭头连接符 52"/>
            <p:cNvCxnSpPr/>
            <p:nvPr/>
          </p:nvCxnSpPr>
          <p:spPr>
            <a:xfrm flipV="1">
              <a:off x="8788027" y="2159759"/>
              <a:ext cx="381000" cy="29057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54" name="对象 53"/>
            <p:cNvGraphicFramePr>
              <a:graphicFrameLocks noChangeAspect="1"/>
            </p:cNvGraphicFramePr>
            <p:nvPr>
              <p:extLst>
                <p:ext uri="{D42A27DB-BD31-4B8C-83A1-F6EECF244321}">
                  <p14:modId xmlns:p14="http://schemas.microsoft.com/office/powerpoint/2010/main" val="3876611950"/>
                </p:ext>
              </p:extLst>
            </p:nvPr>
          </p:nvGraphicFramePr>
          <p:xfrm>
            <a:off x="9385300" y="1876425"/>
            <a:ext cx="1166813" cy="650875"/>
          </p:xfrm>
          <a:graphic>
            <a:graphicData uri="http://schemas.openxmlformats.org/presentationml/2006/ole">
              <mc:AlternateContent xmlns:mc="http://schemas.openxmlformats.org/markup-compatibility/2006">
                <mc:Choice xmlns:v="urn:schemas-microsoft-com:vml" Requires="v">
                  <p:oleObj spid="_x0000_s26803" name="Equation" r:id="rId14" imgW="495000" imgH="279360" progId="Equation.DSMT4">
                    <p:embed/>
                  </p:oleObj>
                </mc:Choice>
                <mc:Fallback>
                  <p:oleObj name="Equation" r:id="rId14" imgW="495000" imgH="279360" progId="Equation.DSMT4">
                    <p:embed/>
                    <p:pic>
                      <p:nvPicPr>
                        <p:cNvPr id="17" name="对象 16"/>
                        <p:cNvPicPr>
                          <a:picLocks noChangeAspect="1" noChangeArrowheads="1"/>
                        </p:cNvPicPr>
                        <p:nvPr/>
                      </p:nvPicPr>
                      <p:blipFill>
                        <a:blip r:embed="rId15"/>
                        <a:srcRect/>
                        <a:stretch>
                          <a:fillRect/>
                        </a:stretch>
                      </p:blipFill>
                      <p:spPr bwMode="auto">
                        <a:xfrm>
                          <a:off x="9385300" y="1876425"/>
                          <a:ext cx="1166813"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对象 54"/>
            <p:cNvGraphicFramePr>
              <a:graphicFrameLocks noChangeAspect="1"/>
            </p:cNvGraphicFramePr>
            <p:nvPr>
              <p:extLst>
                <p:ext uri="{D42A27DB-BD31-4B8C-83A1-F6EECF244321}">
                  <p14:modId xmlns:p14="http://schemas.microsoft.com/office/powerpoint/2010/main" val="2573276366"/>
                </p:ext>
              </p:extLst>
            </p:nvPr>
          </p:nvGraphicFramePr>
          <p:xfrm>
            <a:off x="1841500" y="4311650"/>
            <a:ext cx="2438400" cy="895638"/>
          </p:xfrm>
          <a:graphic>
            <a:graphicData uri="http://schemas.openxmlformats.org/presentationml/2006/ole">
              <mc:AlternateContent xmlns:mc="http://schemas.openxmlformats.org/markup-compatibility/2006">
                <mc:Choice xmlns:v="urn:schemas-microsoft-com:vml" Requires="v">
                  <p:oleObj spid="_x0000_s26804" name="Equation" r:id="rId16" imgW="1333440" imgH="495000" progId="Equation.DSMT4">
                    <p:embed/>
                  </p:oleObj>
                </mc:Choice>
                <mc:Fallback>
                  <p:oleObj name="Equation" r:id="rId16" imgW="1333440" imgH="495000" progId="Equation.DSMT4">
                    <p:embed/>
                    <p:pic>
                      <p:nvPicPr>
                        <p:cNvPr id="27" name="对象 26"/>
                        <p:cNvPicPr>
                          <a:picLocks noChangeAspect="1" noChangeArrowheads="1"/>
                        </p:cNvPicPr>
                        <p:nvPr/>
                      </p:nvPicPr>
                      <p:blipFill>
                        <a:blip r:embed="rId17"/>
                        <a:srcRect/>
                        <a:stretch>
                          <a:fillRect/>
                        </a:stretch>
                      </p:blipFill>
                      <p:spPr bwMode="auto">
                        <a:xfrm>
                          <a:off x="1841500" y="4311650"/>
                          <a:ext cx="2438400" cy="895638"/>
                        </a:xfrm>
                        <a:prstGeom prst="rect">
                          <a:avLst/>
                        </a:prstGeom>
                        <a:noFill/>
                        <a:ln>
                          <a:noFill/>
                        </a:ln>
                      </p:spPr>
                    </p:pic>
                  </p:oleObj>
                </mc:Fallback>
              </mc:AlternateContent>
            </a:graphicData>
          </a:graphic>
        </p:graphicFrame>
        <p:cxnSp>
          <p:nvCxnSpPr>
            <p:cNvPr id="56" name="直接箭头连接符 55"/>
            <p:cNvCxnSpPr/>
            <p:nvPr/>
          </p:nvCxnSpPr>
          <p:spPr>
            <a:xfrm flipH="1" flipV="1">
              <a:off x="1826696" y="4237683"/>
              <a:ext cx="518042" cy="189383"/>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117528" y="3954688"/>
              <a:ext cx="1903896" cy="565988"/>
            </a:xfrm>
            <a:prstGeom prst="rect">
              <a:avLst/>
            </a:prstGeom>
          </p:spPr>
          <p:txBody>
            <a:bodyPr wrap="none">
              <a:spAutoFit/>
            </a:bodyPr>
            <a:lstStyle/>
            <a:p>
              <a:r>
                <a:rPr lang="zh-CN" altLang="en-US" sz="2000" dirty="0">
                  <a:solidFill>
                    <a:srgbClr val="FF0000"/>
                  </a:solidFill>
                </a:rPr>
                <a:t>求模平方！</a:t>
              </a:r>
            </a:p>
          </p:txBody>
        </p:sp>
        <p:graphicFrame>
          <p:nvGraphicFramePr>
            <p:cNvPr id="58" name="对象 57"/>
            <p:cNvGraphicFramePr>
              <a:graphicFrameLocks noChangeAspect="1"/>
            </p:cNvGraphicFramePr>
            <p:nvPr>
              <p:extLst>
                <p:ext uri="{D42A27DB-BD31-4B8C-83A1-F6EECF244321}">
                  <p14:modId xmlns:p14="http://schemas.microsoft.com/office/powerpoint/2010/main" val="1060214524"/>
                </p:ext>
              </p:extLst>
            </p:nvPr>
          </p:nvGraphicFramePr>
          <p:xfrm>
            <a:off x="1384300" y="5230524"/>
            <a:ext cx="3657600" cy="1443326"/>
          </p:xfrm>
          <a:graphic>
            <a:graphicData uri="http://schemas.openxmlformats.org/presentationml/2006/ole">
              <mc:AlternateContent xmlns:mc="http://schemas.openxmlformats.org/markup-compatibility/2006">
                <mc:Choice xmlns:v="urn:schemas-microsoft-com:vml" Requires="v">
                  <p:oleObj spid="_x0000_s26805" name="Equation" r:id="rId18" imgW="2095200" imgH="838080" progId="Equation.DSMT4">
                    <p:embed/>
                  </p:oleObj>
                </mc:Choice>
                <mc:Fallback>
                  <p:oleObj name="Equation" r:id="rId18" imgW="2095200" imgH="838080" progId="Equation.DSMT4">
                    <p:embed/>
                    <p:pic>
                      <p:nvPicPr>
                        <p:cNvPr id="30720" name="对象 30719"/>
                        <p:cNvPicPr>
                          <a:picLocks noChangeAspect="1" noChangeArrowheads="1"/>
                        </p:cNvPicPr>
                        <p:nvPr/>
                      </p:nvPicPr>
                      <p:blipFill>
                        <a:blip r:embed="rId19"/>
                        <a:srcRect/>
                        <a:stretch>
                          <a:fillRect/>
                        </a:stretch>
                      </p:blipFill>
                      <p:spPr bwMode="auto">
                        <a:xfrm>
                          <a:off x="1384300" y="5230524"/>
                          <a:ext cx="3657600" cy="1443326"/>
                        </a:xfrm>
                        <a:prstGeom prst="rect">
                          <a:avLst/>
                        </a:prstGeom>
                        <a:noFill/>
                        <a:ln>
                          <a:noFill/>
                        </a:ln>
                      </p:spPr>
                    </p:pic>
                  </p:oleObj>
                </mc:Fallback>
              </mc:AlternateContent>
            </a:graphicData>
          </a:graphic>
        </p:graphicFrame>
        <p:graphicFrame>
          <p:nvGraphicFramePr>
            <p:cNvPr id="59" name="对象 58"/>
            <p:cNvGraphicFramePr>
              <a:graphicFrameLocks noChangeAspect="1"/>
            </p:cNvGraphicFramePr>
            <p:nvPr>
              <p:extLst>
                <p:ext uri="{D42A27DB-BD31-4B8C-83A1-F6EECF244321}">
                  <p14:modId xmlns:p14="http://schemas.microsoft.com/office/powerpoint/2010/main" val="1500882125"/>
                </p:ext>
              </p:extLst>
            </p:nvPr>
          </p:nvGraphicFramePr>
          <p:xfrm>
            <a:off x="5940425" y="3625851"/>
            <a:ext cx="1997076" cy="412749"/>
          </p:xfrm>
          <a:graphic>
            <a:graphicData uri="http://schemas.openxmlformats.org/presentationml/2006/ole">
              <mc:AlternateContent xmlns:mc="http://schemas.openxmlformats.org/markup-compatibility/2006">
                <mc:Choice xmlns:v="urn:schemas-microsoft-com:vml" Requires="v">
                  <p:oleObj spid="_x0000_s26806" name="Equation" r:id="rId20" imgW="1091880" imgH="228600" progId="Equation.DSMT4">
                    <p:embed/>
                  </p:oleObj>
                </mc:Choice>
                <mc:Fallback>
                  <p:oleObj name="Equation" r:id="rId20" imgW="1091880" imgH="228600" progId="Equation.DSMT4">
                    <p:embed/>
                    <p:pic>
                      <p:nvPicPr>
                        <p:cNvPr id="30725" name="对象 30724"/>
                        <p:cNvPicPr>
                          <a:picLocks noChangeAspect="1" noChangeArrowheads="1"/>
                        </p:cNvPicPr>
                        <p:nvPr/>
                      </p:nvPicPr>
                      <p:blipFill>
                        <a:blip r:embed="rId21"/>
                        <a:srcRect/>
                        <a:stretch>
                          <a:fillRect/>
                        </a:stretch>
                      </p:blipFill>
                      <p:spPr bwMode="auto">
                        <a:xfrm>
                          <a:off x="5940425" y="3625851"/>
                          <a:ext cx="1997076" cy="41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 name="对象 59"/>
            <p:cNvGraphicFramePr>
              <a:graphicFrameLocks noChangeAspect="1"/>
            </p:cNvGraphicFramePr>
            <p:nvPr>
              <p:extLst>
                <p:ext uri="{D42A27DB-BD31-4B8C-83A1-F6EECF244321}">
                  <p14:modId xmlns:p14="http://schemas.microsoft.com/office/powerpoint/2010/main" val="342520816"/>
                </p:ext>
              </p:extLst>
            </p:nvPr>
          </p:nvGraphicFramePr>
          <p:xfrm>
            <a:off x="5949950" y="4311650"/>
            <a:ext cx="2901950" cy="871538"/>
          </p:xfrm>
          <a:graphic>
            <a:graphicData uri="http://schemas.openxmlformats.org/presentationml/2006/ole">
              <mc:AlternateContent xmlns:mc="http://schemas.openxmlformats.org/markup-compatibility/2006">
                <mc:Choice xmlns:v="urn:schemas-microsoft-com:vml" Requires="v">
                  <p:oleObj spid="_x0000_s26807" name="Equation" r:id="rId22" imgW="1587240" imgH="482400" progId="Equation.DSMT4">
                    <p:embed/>
                  </p:oleObj>
                </mc:Choice>
                <mc:Fallback>
                  <p:oleObj name="Equation" r:id="rId22" imgW="1587240" imgH="482400" progId="Equation.DSMT4">
                    <p:embed/>
                    <p:pic>
                      <p:nvPicPr>
                        <p:cNvPr id="30726" name="对象 30725"/>
                        <p:cNvPicPr>
                          <a:picLocks noChangeAspect="1" noChangeArrowheads="1"/>
                        </p:cNvPicPr>
                        <p:nvPr/>
                      </p:nvPicPr>
                      <p:blipFill>
                        <a:blip r:embed="rId23"/>
                        <a:srcRect/>
                        <a:stretch>
                          <a:fillRect/>
                        </a:stretch>
                      </p:blipFill>
                      <p:spPr bwMode="auto">
                        <a:xfrm>
                          <a:off x="5949950" y="4311650"/>
                          <a:ext cx="2901950"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 name="对象 60"/>
            <p:cNvGraphicFramePr>
              <a:graphicFrameLocks noChangeAspect="1"/>
            </p:cNvGraphicFramePr>
            <p:nvPr>
              <p:extLst>
                <p:ext uri="{D42A27DB-BD31-4B8C-83A1-F6EECF244321}">
                  <p14:modId xmlns:p14="http://schemas.microsoft.com/office/powerpoint/2010/main" val="464670530"/>
                </p:ext>
              </p:extLst>
            </p:nvPr>
          </p:nvGraphicFramePr>
          <p:xfrm>
            <a:off x="5956300" y="5226050"/>
            <a:ext cx="4114800" cy="701018"/>
          </p:xfrm>
          <a:graphic>
            <a:graphicData uri="http://schemas.openxmlformats.org/presentationml/2006/ole">
              <mc:AlternateContent xmlns:mc="http://schemas.openxmlformats.org/markup-compatibility/2006">
                <mc:Choice xmlns:v="urn:schemas-microsoft-com:vml" Requires="v">
                  <p:oleObj spid="_x0000_s26808" name="Equation" r:id="rId24" imgW="2425680" imgH="419040" progId="Equation.DSMT4">
                    <p:embed/>
                  </p:oleObj>
                </mc:Choice>
                <mc:Fallback>
                  <p:oleObj name="Equation" r:id="rId24" imgW="2425680" imgH="419040" progId="Equation.DSMT4">
                    <p:embed/>
                    <p:pic>
                      <p:nvPicPr>
                        <p:cNvPr id="30727" name="对象 30726"/>
                        <p:cNvPicPr>
                          <a:picLocks noChangeAspect="1" noChangeArrowheads="1"/>
                        </p:cNvPicPr>
                        <p:nvPr/>
                      </p:nvPicPr>
                      <p:blipFill>
                        <a:blip r:embed="rId25"/>
                        <a:srcRect/>
                        <a:stretch>
                          <a:fillRect/>
                        </a:stretch>
                      </p:blipFill>
                      <p:spPr bwMode="auto">
                        <a:xfrm>
                          <a:off x="5956300" y="5226050"/>
                          <a:ext cx="4114800" cy="701018"/>
                        </a:xfrm>
                        <a:prstGeom prst="rect">
                          <a:avLst/>
                        </a:prstGeom>
                        <a:noFill/>
                        <a:ln>
                          <a:noFill/>
                        </a:ln>
                      </p:spPr>
                    </p:pic>
                  </p:oleObj>
                </mc:Fallback>
              </mc:AlternateContent>
            </a:graphicData>
          </a:graphic>
        </p:graphicFrame>
        <p:graphicFrame>
          <p:nvGraphicFramePr>
            <p:cNvPr id="62" name="对象 61"/>
            <p:cNvGraphicFramePr>
              <a:graphicFrameLocks noChangeAspect="1"/>
            </p:cNvGraphicFramePr>
            <p:nvPr>
              <p:extLst>
                <p:ext uri="{D42A27DB-BD31-4B8C-83A1-F6EECF244321}">
                  <p14:modId xmlns:p14="http://schemas.microsoft.com/office/powerpoint/2010/main" val="1974486240"/>
                </p:ext>
              </p:extLst>
            </p:nvPr>
          </p:nvGraphicFramePr>
          <p:xfrm>
            <a:off x="6069013" y="5992813"/>
            <a:ext cx="2325687" cy="658812"/>
          </p:xfrm>
          <a:graphic>
            <a:graphicData uri="http://schemas.openxmlformats.org/presentationml/2006/ole">
              <mc:AlternateContent xmlns:mc="http://schemas.openxmlformats.org/markup-compatibility/2006">
                <mc:Choice xmlns:v="urn:schemas-microsoft-com:vml" Requires="v">
                  <p:oleObj spid="_x0000_s26809" name="Equation" r:id="rId26" imgW="1371600" imgH="393480" progId="Equation.DSMT4">
                    <p:embed/>
                  </p:oleObj>
                </mc:Choice>
                <mc:Fallback>
                  <p:oleObj name="Equation" r:id="rId26" imgW="1371600" imgH="393480" progId="Equation.DSMT4">
                    <p:embed/>
                    <p:pic>
                      <p:nvPicPr>
                        <p:cNvPr id="30730" name="对象 30729"/>
                        <p:cNvPicPr>
                          <a:picLocks noChangeAspect="1" noChangeArrowheads="1"/>
                        </p:cNvPicPr>
                        <p:nvPr/>
                      </p:nvPicPr>
                      <p:blipFill>
                        <a:blip r:embed="rId27"/>
                        <a:srcRect/>
                        <a:stretch>
                          <a:fillRect/>
                        </a:stretch>
                      </p:blipFill>
                      <p:spPr bwMode="auto">
                        <a:xfrm>
                          <a:off x="6069013" y="5992813"/>
                          <a:ext cx="2325687" cy="65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 name="矩形 62"/>
            <p:cNvSpPr/>
            <p:nvPr/>
          </p:nvSpPr>
          <p:spPr>
            <a:xfrm>
              <a:off x="2246946" y="6042248"/>
              <a:ext cx="1004254" cy="65360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箭头连接符 63"/>
            <p:cNvCxnSpPr/>
            <p:nvPr/>
          </p:nvCxnSpPr>
          <p:spPr>
            <a:xfrm flipH="1" flipV="1">
              <a:off x="1755852" y="5883823"/>
              <a:ext cx="390448" cy="15842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88900" y="5614253"/>
              <a:ext cx="1903895" cy="1001363"/>
            </a:xfrm>
            <a:prstGeom prst="rect">
              <a:avLst/>
            </a:prstGeom>
          </p:spPr>
          <p:txBody>
            <a:bodyPr wrap="none">
              <a:spAutoFit/>
            </a:bodyPr>
            <a:lstStyle/>
            <a:p>
              <a:r>
                <a:rPr lang="zh-CN" altLang="en-US" sz="2000" dirty="0">
                  <a:solidFill>
                    <a:srgbClr val="FF0000"/>
                  </a:solidFill>
                </a:rPr>
                <a:t>一阶系统</a:t>
              </a:r>
              <a:endParaRPr lang="en-US" altLang="zh-CN" sz="2000" dirty="0">
                <a:solidFill>
                  <a:srgbClr val="FF0000"/>
                </a:solidFill>
              </a:endParaRPr>
            </a:p>
            <a:p>
              <a:r>
                <a:rPr lang="zh-CN" altLang="en-US" sz="2000" dirty="0">
                  <a:solidFill>
                    <a:srgbClr val="FF0000"/>
                  </a:solidFill>
                </a:rPr>
                <a:t>噪声带宽！</a:t>
              </a:r>
            </a:p>
          </p:txBody>
        </p:sp>
        <p:sp>
          <p:nvSpPr>
            <p:cNvPr id="66" name="矩形 65"/>
            <p:cNvSpPr/>
            <p:nvPr/>
          </p:nvSpPr>
          <p:spPr>
            <a:xfrm>
              <a:off x="850900" y="1487785"/>
              <a:ext cx="437152" cy="565988"/>
            </a:xfrm>
            <a:prstGeom prst="rect">
              <a:avLst/>
            </a:prstGeom>
          </p:spPr>
          <p:txBody>
            <a:bodyPr wrap="square">
              <a:spAutoFit/>
            </a:bodyPr>
            <a:lstStyle/>
            <a:p>
              <a:r>
                <a:rPr lang="en-US" altLang="zh-CN" sz="2000" b="1" dirty="0">
                  <a:solidFill>
                    <a:srgbClr val="FF0000"/>
                  </a:solidFill>
                  <a:latin typeface="Arial" panose="020B0604020202020204" pitchFamily="34" charset="0"/>
                  <a:ea typeface="黑体" panose="02010609060101010101" pitchFamily="49" charset="-122"/>
                  <a:cs typeface="Arial" panose="020B0604020202020204" pitchFamily="34" charset="0"/>
                </a:rPr>
                <a:t>A</a:t>
              </a:r>
              <a:endParaRPr lang="zh-CN" altLang="en-US" sz="2000" b="1" dirty="0">
                <a:solidFill>
                  <a:srgbClr val="FF0000"/>
                </a:solidFill>
                <a:latin typeface="Arial" panose="020B0604020202020204" pitchFamily="34" charset="0"/>
                <a:ea typeface="黑体" panose="02010609060101010101" pitchFamily="49" charset="-122"/>
                <a:cs typeface="Arial" panose="020B0604020202020204" pitchFamily="34" charset="0"/>
              </a:endParaRPr>
            </a:p>
          </p:txBody>
        </p:sp>
        <p:sp>
          <p:nvSpPr>
            <p:cNvPr id="67" name="矩形 66"/>
            <p:cNvSpPr/>
            <p:nvPr/>
          </p:nvSpPr>
          <p:spPr>
            <a:xfrm>
              <a:off x="4940707" y="1803060"/>
              <a:ext cx="437152" cy="565988"/>
            </a:xfrm>
            <a:prstGeom prst="rect">
              <a:avLst/>
            </a:prstGeom>
          </p:spPr>
          <p:txBody>
            <a:bodyPr wrap="square">
              <a:spAutoFit/>
            </a:bodyPr>
            <a:lstStyle/>
            <a:p>
              <a:r>
                <a:rPr lang="en-US" altLang="zh-CN" sz="2000" b="1" dirty="0">
                  <a:solidFill>
                    <a:srgbClr val="FF0000"/>
                  </a:solidFill>
                  <a:latin typeface="Arial" panose="020B0604020202020204" pitchFamily="34" charset="0"/>
                  <a:ea typeface="黑体" panose="02010609060101010101" pitchFamily="49" charset="-122"/>
                  <a:cs typeface="Arial" panose="020B0604020202020204" pitchFamily="34" charset="0"/>
                </a:rPr>
                <a:t>A</a:t>
              </a:r>
              <a:endParaRPr lang="zh-CN" altLang="en-US" sz="2000" b="1" dirty="0">
                <a:solidFill>
                  <a:srgbClr val="FF0000"/>
                </a:solidFill>
                <a:latin typeface="Arial" panose="020B0604020202020204" pitchFamily="34" charset="0"/>
                <a:ea typeface="黑体" panose="02010609060101010101" pitchFamily="49" charset="-122"/>
                <a:cs typeface="Arial" panose="020B0604020202020204" pitchFamily="34" charset="0"/>
              </a:endParaRPr>
            </a:p>
          </p:txBody>
        </p:sp>
        <p:sp>
          <p:nvSpPr>
            <p:cNvPr id="68" name="矩形 67"/>
            <p:cNvSpPr/>
            <p:nvPr/>
          </p:nvSpPr>
          <p:spPr>
            <a:xfrm>
              <a:off x="3464832" y="1572228"/>
              <a:ext cx="437152" cy="565988"/>
            </a:xfrm>
            <a:prstGeom prst="rect">
              <a:avLst/>
            </a:prstGeom>
          </p:spPr>
          <p:txBody>
            <a:bodyPr wrap="square">
              <a:spAutoFit/>
            </a:bodyPr>
            <a:lstStyle/>
            <a:p>
              <a:r>
                <a:rPr lang="en-US" altLang="zh-CN" sz="2000" b="1" dirty="0">
                  <a:solidFill>
                    <a:srgbClr val="FF0000"/>
                  </a:solidFill>
                  <a:latin typeface="Arial" panose="020B0604020202020204" pitchFamily="34" charset="0"/>
                  <a:ea typeface="黑体" panose="02010609060101010101" pitchFamily="49" charset="-122"/>
                  <a:cs typeface="Arial" panose="020B0604020202020204" pitchFamily="34" charset="0"/>
                </a:rPr>
                <a:t>S</a:t>
              </a:r>
              <a:endParaRPr lang="zh-CN" altLang="en-US" sz="2000" b="1" dirty="0">
                <a:solidFill>
                  <a:srgbClr val="FF0000"/>
                </a:solidFill>
                <a:latin typeface="Arial" panose="020B0604020202020204" pitchFamily="34" charset="0"/>
                <a:ea typeface="黑体" panose="02010609060101010101" pitchFamily="49" charset="-122"/>
                <a:cs typeface="Arial" panose="020B0604020202020204" pitchFamily="34" charset="0"/>
              </a:endParaRPr>
            </a:p>
          </p:txBody>
        </p:sp>
      </p:grpSp>
    </p:spTree>
    <p:extLst>
      <p:ext uri="{BB962C8B-B14F-4D97-AF65-F5344CB8AC3E}">
        <p14:creationId xmlns:p14="http://schemas.microsoft.com/office/powerpoint/2010/main" val="565166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MOS</a:t>
            </a:r>
            <a:r>
              <a:rPr lang="zh-CN" altLang="en-US" dirty="0"/>
              <a:t>集成电路中的噪声类型</a:t>
            </a:r>
          </a:p>
        </p:txBody>
      </p:sp>
      <p:sp>
        <p:nvSpPr>
          <p:cNvPr id="3" name="内容占位符 2"/>
          <p:cNvSpPr>
            <a:spLocks noGrp="1"/>
          </p:cNvSpPr>
          <p:nvPr>
            <p:ph idx="1"/>
          </p:nvPr>
        </p:nvSpPr>
        <p:spPr/>
        <p:txBody>
          <a:bodyPr/>
          <a:lstStyle/>
          <a:p>
            <a:r>
              <a:rPr lang="en-US" altLang="zh-CN" dirty="0" smtClean="0"/>
              <a:t>MOS</a:t>
            </a:r>
            <a:r>
              <a:rPr lang="zh-CN" altLang="en-US" dirty="0" smtClean="0"/>
              <a:t>晶体管热噪声</a:t>
            </a:r>
            <a:endParaRPr lang="en-US" altLang="zh-CN" dirty="0" smtClean="0"/>
          </a:p>
          <a:p>
            <a:pPr lvl="1">
              <a:lnSpc>
                <a:spcPct val="150000"/>
              </a:lnSpc>
            </a:pPr>
            <a:r>
              <a:rPr lang="en-US" altLang="zh-CN" dirty="0" smtClean="0"/>
              <a:t>MOS</a:t>
            </a:r>
            <a:r>
              <a:rPr lang="zh-CN" altLang="en-US" dirty="0" smtClean="0"/>
              <a:t>晶体管热噪声主要来自沟道中的载流子随机热运动，沟道热噪声是白噪声。对于工作在</a:t>
            </a:r>
            <a:r>
              <a:rPr lang="zh-CN" altLang="en-US" dirty="0" smtClean="0">
                <a:solidFill>
                  <a:srgbClr val="FF0000"/>
                </a:solidFill>
              </a:rPr>
              <a:t>饱和区</a:t>
            </a:r>
            <a:r>
              <a:rPr lang="zh-CN" altLang="en-US" dirty="0" smtClean="0"/>
              <a:t>的</a:t>
            </a:r>
            <a:r>
              <a:rPr lang="zh-CN" altLang="en-US" dirty="0" smtClean="0">
                <a:solidFill>
                  <a:srgbClr val="FF0000"/>
                </a:solidFill>
              </a:rPr>
              <a:t>长沟道</a:t>
            </a:r>
            <a:r>
              <a:rPr lang="en-US" altLang="zh-CN" dirty="0" smtClean="0"/>
              <a:t>MOS</a:t>
            </a:r>
            <a:r>
              <a:rPr lang="zh-CN" altLang="en-US" dirty="0" smtClean="0"/>
              <a:t>器件的沟道噪声可以用一个连接在漏源两端的电流源来模拟。</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16</a:t>
            </a:fld>
            <a:endParaRPr lang="zh-CN" altLang="en-US"/>
          </a:p>
        </p:txBody>
      </p:sp>
      <p:pic>
        <p:nvPicPr>
          <p:cNvPr id="6" name="图片 5"/>
          <p:cNvPicPr>
            <a:picLocks noChangeAspect="1"/>
          </p:cNvPicPr>
          <p:nvPr/>
        </p:nvPicPr>
        <p:blipFill>
          <a:blip r:embed="rId2"/>
          <a:stretch>
            <a:fillRect/>
          </a:stretch>
        </p:blipFill>
        <p:spPr>
          <a:xfrm>
            <a:off x="2364398" y="4085431"/>
            <a:ext cx="3067050" cy="2181225"/>
          </a:xfrm>
          <a:prstGeom prst="rect">
            <a:avLst/>
          </a:prstGeom>
        </p:spPr>
      </p:pic>
      <p:sp>
        <p:nvSpPr>
          <p:cNvPr id="7" name="文本框 6"/>
          <p:cNvSpPr txBox="1"/>
          <p:nvPr/>
        </p:nvSpPr>
        <p:spPr>
          <a:xfrm>
            <a:off x="5917223" y="4633546"/>
            <a:ext cx="3722077" cy="830997"/>
          </a:xfrm>
          <a:prstGeom prst="rect">
            <a:avLst/>
          </a:prstGeom>
          <a:noFill/>
        </p:spPr>
        <p:txBody>
          <a:bodyPr wrap="square" rtlCol="0">
            <a:spAutoFit/>
          </a:bodyPr>
          <a:lstStyle/>
          <a:p>
            <a:r>
              <a:rPr lang="el-GR" altLang="zh-CN" sz="2400" dirty="0">
                <a:latin typeface="Calibri" panose="020F0502020204030204" pitchFamily="34" charset="0"/>
                <a:cs typeface="Calibri" panose="020F0502020204030204" pitchFamily="34" charset="0"/>
              </a:rPr>
              <a:t>ϒ</a:t>
            </a:r>
            <a:r>
              <a:rPr lang="zh-CN" altLang="en-US" sz="2400" dirty="0" smtClean="0">
                <a:latin typeface="Calibri" panose="020F0502020204030204" pitchFamily="34" charset="0"/>
                <a:cs typeface="Calibri" panose="020F0502020204030204" pitchFamily="34" charset="0"/>
              </a:rPr>
              <a:t>：系数</a:t>
            </a:r>
            <a:endParaRPr lang="en-US" altLang="zh-CN" sz="2400" dirty="0" smtClean="0">
              <a:latin typeface="Calibri" panose="020F0502020204030204" pitchFamily="34" charset="0"/>
              <a:cs typeface="Calibri" panose="020F0502020204030204" pitchFamily="34" charset="0"/>
            </a:endParaRPr>
          </a:p>
          <a:p>
            <a:r>
              <a:rPr lang="en-US" altLang="zh-CN" sz="2400" dirty="0" smtClean="0">
                <a:latin typeface="Calibri" panose="020F0502020204030204" pitchFamily="34" charset="0"/>
                <a:cs typeface="Calibri" panose="020F0502020204030204" pitchFamily="34" charset="0"/>
              </a:rPr>
              <a:t>g</a:t>
            </a:r>
            <a:r>
              <a:rPr lang="en-US" altLang="zh-CN" sz="2400" baseline="-25000" dirty="0" smtClean="0">
                <a:latin typeface="Calibri" panose="020F0502020204030204" pitchFamily="34" charset="0"/>
                <a:cs typeface="Calibri" panose="020F0502020204030204" pitchFamily="34" charset="0"/>
              </a:rPr>
              <a:t>m</a:t>
            </a:r>
            <a:r>
              <a:rPr lang="zh-CN" altLang="en-US" sz="2400" dirty="0" smtClean="0">
                <a:latin typeface="Calibri" panose="020F0502020204030204" pitchFamily="34" charset="0"/>
                <a:cs typeface="Calibri" panose="020F0502020204030204" pitchFamily="34" charset="0"/>
              </a:rPr>
              <a:t>：</a:t>
            </a:r>
            <a:r>
              <a:rPr lang="en-US" altLang="zh-CN" sz="2400" dirty="0" smtClean="0">
                <a:latin typeface="Calibri" panose="020F0502020204030204" pitchFamily="34" charset="0"/>
                <a:cs typeface="Calibri" panose="020F0502020204030204" pitchFamily="34" charset="0"/>
              </a:rPr>
              <a:t>MOS</a:t>
            </a:r>
            <a:r>
              <a:rPr lang="zh-CN" altLang="en-US" sz="2400" dirty="0" smtClean="0">
                <a:latin typeface="Calibri" panose="020F0502020204030204" pitchFamily="34" charset="0"/>
                <a:cs typeface="Calibri" panose="020F0502020204030204" pitchFamily="34" charset="0"/>
              </a:rPr>
              <a:t>管饱和区跨导</a:t>
            </a:r>
            <a:endParaRPr lang="zh-CN" altLang="en-US" sz="2400" dirty="0"/>
          </a:p>
        </p:txBody>
      </p:sp>
    </p:spTree>
    <p:extLst>
      <p:ext uri="{BB962C8B-B14F-4D97-AF65-F5344CB8AC3E}">
        <p14:creationId xmlns:p14="http://schemas.microsoft.com/office/powerpoint/2010/main" val="3031164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MOS</a:t>
            </a:r>
            <a:r>
              <a:rPr lang="zh-CN" altLang="en-US" dirty="0"/>
              <a:t>集成电路中的噪声类型</a:t>
            </a:r>
          </a:p>
        </p:txBody>
      </p:sp>
      <p:sp>
        <p:nvSpPr>
          <p:cNvPr id="3" name="内容占位符 2"/>
          <p:cNvSpPr>
            <a:spLocks noGrp="1"/>
          </p:cNvSpPr>
          <p:nvPr>
            <p:ph idx="1"/>
          </p:nvPr>
        </p:nvSpPr>
        <p:spPr/>
        <p:txBody>
          <a:bodyPr/>
          <a:lstStyle/>
          <a:p>
            <a:r>
              <a:rPr lang="en-US" altLang="zh-CN" dirty="0" smtClean="0"/>
              <a:t>MOS</a:t>
            </a:r>
            <a:r>
              <a:rPr lang="zh-CN" altLang="en-US" dirty="0" smtClean="0"/>
              <a:t>管热噪声（举例）</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17</a:t>
            </a:fld>
            <a:endParaRPr lang="zh-CN" altLang="en-US"/>
          </a:p>
        </p:txBody>
      </p:sp>
      <p:pic>
        <p:nvPicPr>
          <p:cNvPr id="6" name="图片 5"/>
          <p:cNvPicPr>
            <a:picLocks noChangeAspect="1"/>
          </p:cNvPicPr>
          <p:nvPr/>
        </p:nvPicPr>
        <p:blipFill>
          <a:blip r:embed="rId2"/>
          <a:stretch>
            <a:fillRect/>
          </a:stretch>
        </p:blipFill>
        <p:spPr>
          <a:xfrm>
            <a:off x="750455" y="2351209"/>
            <a:ext cx="4788699" cy="3825754"/>
          </a:xfrm>
          <a:prstGeom prst="rect">
            <a:avLst/>
          </a:prstGeom>
        </p:spPr>
      </p:pic>
      <p:sp>
        <p:nvSpPr>
          <p:cNvPr id="7" name="文本框 6"/>
          <p:cNvSpPr txBox="1"/>
          <p:nvPr/>
        </p:nvSpPr>
        <p:spPr>
          <a:xfrm>
            <a:off x="6535615" y="1825625"/>
            <a:ext cx="4149969" cy="1477328"/>
          </a:xfrm>
          <a:prstGeom prst="rect">
            <a:avLst/>
          </a:prstGeom>
          <a:noFill/>
        </p:spPr>
        <p:txBody>
          <a:bodyPr wrap="square" rtlCol="0">
            <a:spAutoFit/>
          </a:bodyPr>
          <a:lstStyle/>
          <a:p>
            <a:pPr marL="342900" indent="-342900">
              <a:lnSpc>
                <a:spcPct val="150000"/>
              </a:lnSpc>
              <a:buAutoNum type="alphaLcParenBoth"/>
            </a:pPr>
            <a:r>
              <a:rPr lang="en-US" altLang="zh-CN" sz="2000" dirty="0" smtClean="0"/>
              <a:t>MOS</a:t>
            </a:r>
            <a:r>
              <a:rPr lang="zh-CN" altLang="en-US" sz="2000" dirty="0" smtClean="0"/>
              <a:t>晶体管版图</a:t>
            </a:r>
            <a:endParaRPr lang="en-US" altLang="zh-CN" sz="2000" dirty="0" smtClean="0"/>
          </a:p>
          <a:p>
            <a:pPr marL="342900" indent="-342900">
              <a:lnSpc>
                <a:spcPct val="150000"/>
              </a:lnSpc>
              <a:buAutoNum type="alphaLcParenBoth"/>
            </a:pPr>
            <a:r>
              <a:rPr lang="zh-CN" altLang="en-US" sz="2000" dirty="0" smtClean="0"/>
              <a:t>考虑源漏端和栅极电阻的模型</a:t>
            </a:r>
            <a:endParaRPr lang="en-US" altLang="zh-CN" sz="2000" dirty="0" smtClean="0"/>
          </a:p>
          <a:p>
            <a:pPr marL="342900" indent="-342900">
              <a:lnSpc>
                <a:spcPct val="150000"/>
              </a:lnSpc>
              <a:buAutoNum type="alphaLcParenBoth"/>
            </a:pPr>
            <a:r>
              <a:rPr lang="zh-CN" altLang="en-US" sz="2000" dirty="0" smtClean="0"/>
              <a:t>栅极分布电阻对噪声的影响</a:t>
            </a:r>
            <a:endParaRPr lang="zh-CN" altLang="en-US" sz="2000" dirty="0"/>
          </a:p>
        </p:txBody>
      </p:sp>
      <p:pic>
        <p:nvPicPr>
          <p:cNvPr id="8" name="图片 7"/>
          <p:cNvPicPr>
            <a:picLocks noChangeAspect="1"/>
          </p:cNvPicPr>
          <p:nvPr/>
        </p:nvPicPr>
        <p:blipFill>
          <a:blip r:embed="rId3"/>
          <a:stretch>
            <a:fillRect/>
          </a:stretch>
        </p:blipFill>
        <p:spPr>
          <a:xfrm>
            <a:off x="6606320" y="3325748"/>
            <a:ext cx="4038233" cy="1414210"/>
          </a:xfrm>
          <a:prstGeom prst="rect">
            <a:avLst/>
          </a:prstGeom>
        </p:spPr>
      </p:pic>
      <p:sp>
        <p:nvSpPr>
          <p:cNvPr id="9" name="文本框 8"/>
          <p:cNvSpPr txBox="1"/>
          <p:nvPr/>
        </p:nvSpPr>
        <p:spPr>
          <a:xfrm>
            <a:off x="6535615" y="4904462"/>
            <a:ext cx="4747480" cy="553998"/>
          </a:xfrm>
          <a:prstGeom prst="rect">
            <a:avLst/>
          </a:prstGeom>
          <a:noFill/>
        </p:spPr>
        <p:txBody>
          <a:bodyPr wrap="square" rtlCol="0">
            <a:spAutoFit/>
          </a:bodyPr>
          <a:lstStyle/>
          <a:p>
            <a:pPr>
              <a:lnSpc>
                <a:spcPct val="150000"/>
              </a:lnSpc>
            </a:pPr>
            <a:r>
              <a:rPr lang="zh-CN" altLang="en-US" sz="2000" dirty="0" smtClean="0"/>
              <a:t>缓解栅极分布电阻影响的版图解决方案</a:t>
            </a:r>
            <a:endParaRPr lang="zh-CN" altLang="en-US" sz="2000" dirty="0"/>
          </a:p>
        </p:txBody>
      </p:sp>
      <p:sp>
        <p:nvSpPr>
          <p:cNvPr id="10" name="右箭头 9"/>
          <p:cNvSpPr/>
          <p:nvPr/>
        </p:nvSpPr>
        <p:spPr>
          <a:xfrm rot="20002163">
            <a:off x="5835343" y="4431323"/>
            <a:ext cx="474785" cy="2972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4639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MOS</a:t>
            </a:r>
            <a:r>
              <a:rPr lang="zh-CN" altLang="en-US" dirty="0"/>
              <a:t>集成电路中的噪声类型</a:t>
            </a:r>
          </a:p>
        </p:txBody>
      </p:sp>
      <p:sp>
        <p:nvSpPr>
          <p:cNvPr id="3" name="内容占位符 2"/>
          <p:cNvSpPr>
            <a:spLocks noGrp="1"/>
          </p:cNvSpPr>
          <p:nvPr>
            <p:ph idx="1"/>
          </p:nvPr>
        </p:nvSpPr>
        <p:spPr/>
        <p:txBody>
          <a:bodyPr/>
          <a:lstStyle/>
          <a:p>
            <a:r>
              <a:rPr lang="en-US" altLang="zh-CN" dirty="0" smtClean="0"/>
              <a:t>MOS</a:t>
            </a:r>
            <a:r>
              <a:rPr lang="zh-CN" altLang="en-US" dirty="0" smtClean="0"/>
              <a:t>管的闪烁噪声</a:t>
            </a:r>
            <a:endParaRPr lang="en-US" altLang="zh-CN" dirty="0" smtClean="0"/>
          </a:p>
          <a:p>
            <a:pPr lvl="1">
              <a:lnSpc>
                <a:spcPct val="150000"/>
              </a:lnSpc>
            </a:pPr>
            <a:r>
              <a:rPr lang="zh-CN" altLang="en-US" dirty="0"/>
              <a:t>闪烁噪声</a:t>
            </a:r>
            <a:r>
              <a:rPr lang="en-US" altLang="zh-CN" dirty="0"/>
              <a:t>(flicker noise)</a:t>
            </a:r>
            <a:r>
              <a:rPr lang="zh-CN" altLang="en-US" dirty="0"/>
              <a:t>是由于栅氧化层和单晶硅界面处的额外能量状态对沟道载流子随机俘获释放造成的</a:t>
            </a:r>
            <a:r>
              <a:rPr lang="zh-CN" altLang="en-US" dirty="0" smtClean="0"/>
              <a:t>。</a:t>
            </a:r>
            <a:endParaRPr lang="en-US" altLang="zh-CN" dirty="0" smtClean="0"/>
          </a:p>
          <a:p>
            <a:pPr lvl="1">
              <a:lnSpc>
                <a:spcPct val="150000"/>
              </a:lnSpc>
            </a:pPr>
            <a:r>
              <a:rPr lang="zh-CN" altLang="en-US" dirty="0" smtClean="0"/>
              <a:t>模型</a:t>
            </a:r>
            <a:endParaRPr lang="en-US" altLang="zh-CN" dirty="0" smtClean="0"/>
          </a:p>
          <a:p>
            <a:pPr lvl="2">
              <a:lnSpc>
                <a:spcPct val="150000"/>
              </a:lnSpc>
            </a:pPr>
            <a:r>
              <a:rPr lang="zh-CN" altLang="en-US" dirty="0" smtClean="0"/>
              <a:t>面积</a:t>
            </a:r>
            <a:endParaRPr lang="en-US" altLang="zh-CN" dirty="0" smtClean="0"/>
          </a:p>
          <a:p>
            <a:pPr lvl="2">
              <a:lnSpc>
                <a:spcPct val="150000"/>
              </a:lnSpc>
            </a:pPr>
            <a:r>
              <a:rPr lang="zh-CN" altLang="en-US" dirty="0" smtClean="0"/>
              <a:t>频率</a:t>
            </a:r>
            <a:endParaRPr lang="en-US" altLang="zh-CN" dirty="0" smtClean="0"/>
          </a:p>
          <a:p>
            <a:pPr lvl="2">
              <a:lnSpc>
                <a:spcPct val="150000"/>
              </a:lnSpc>
            </a:pPr>
            <a:r>
              <a:rPr lang="zh-CN" altLang="en-US" smtClean="0"/>
              <a:t>电容</a:t>
            </a:r>
            <a:endParaRPr lang="en-US" altLang="zh-CN" dirty="0" smtClean="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18</a:t>
            </a:fld>
            <a:endParaRPr lang="zh-CN" altLang="en-US"/>
          </a:p>
        </p:txBody>
      </p:sp>
      <p:pic>
        <p:nvPicPr>
          <p:cNvPr id="6" name="图片 5"/>
          <p:cNvPicPr>
            <a:picLocks noChangeAspect="1"/>
          </p:cNvPicPr>
          <p:nvPr/>
        </p:nvPicPr>
        <p:blipFill>
          <a:blip r:embed="rId2"/>
          <a:stretch>
            <a:fillRect/>
          </a:stretch>
        </p:blipFill>
        <p:spPr>
          <a:xfrm>
            <a:off x="6096000" y="3652837"/>
            <a:ext cx="5078366" cy="2308348"/>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3530111" y="4659923"/>
                <a:ext cx="1793504" cy="6321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𝑉</m:t>
                              </m:r>
                            </m:e>
                            <m:sub>
                              <m:r>
                                <a:rPr lang="en-US" altLang="zh-CN" sz="2000" b="0" i="1" smtClean="0">
                                  <a:latin typeface="Cambria Math" panose="02040503050406030204" pitchFamily="18" charset="0"/>
                                </a:rPr>
                                <m:t>𝑛</m:t>
                              </m:r>
                            </m:sub>
                            <m:sup>
                              <m:r>
                                <a:rPr lang="en-US" altLang="zh-CN" sz="2000" b="0" i="1" smtClean="0">
                                  <a:latin typeface="Cambria Math" panose="02040503050406030204" pitchFamily="18" charset="0"/>
                                </a:rPr>
                                <m:t>2</m:t>
                              </m:r>
                            </m:sup>
                          </m:sSubSup>
                        </m:e>
                      </m:acc>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𝐾</m:t>
                          </m:r>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𝐶</m:t>
                              </m:r>
                            </m:e>
                            <m:sub>
                              <m:r>
                                <a:rPr lang="en-US" altLang="zh-CN" sz="2000" b="0" i="1" smtClean="0">
                                  <a:latin typeface="Cambria Math" panose="02040503050406030204" pitchFamily="18" charset="0"/>
                                </a:rPr>
                                <m:t>𝑜𝑥</m:t>
                              </m:r>
                            </m:sub>
                          </m:sSub>
                          <m:r>
                            <a:rPr lang="en-US" altLang="zh-CN" sz="2000" b="0" i="1" smtClean="0">
                              <a:latin typeface="Cambria Math" panose="02040503050406030204" pitchFamily="18" charset="0"/>
                            </a:rPr>
                            <m:t>𝑊𝐿</m:t>
                          </m:r>
                        </m:den>
                      </m:f>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1</m:t>
                          </m:r>
                        </m:num>
                        <m:den>
                          <m:r>
                            <a:rPr lang="en-US" altLang="zh-CN" sz="2000" b="0" i="1" smtClean="0">
                              <a:latin typeface="Cambria Math" panose="02040503050406030204" pitchFamily="18" charset="0"/>
                              <a:ea typeface="Cambria Math" panose="02040503050406030204" pitchFamily="18" charset="0"/>
                            </a:rPr>
                            <m:t>𝑓</m:t>
                          </m:r>
                        </m:den>
                      </m:f>
                    </m:oMath>
                  </m:oMathPara>
                </a14:m>
                <a:endParaRPr lang="zh-CN" altLang="en-US" sz="2000" dirty="0"/>
              </a:p>
            </p:txBody>
          </p:sp>
        </mc:Choice>
        <mc:Fallback xmlns="">
          <p:sp>
            <p:nvSpPr>
              <p:cNvPr id="7" name="文本框 6"/>
              <p:cNvSpPr txBox="1">
                <a:spLocks noRot="1" noChangeAspect="1" noMove="1" noResize="1" noEditPoints="1" noAdjustHandles="1" noChangeArrowheads="1" noChangeShapeType="1" noTextEdit="1"/>
              </p:cNvSpPr>
              <p:nvPr/>
            </p:nvSpPr>
            <p:spPr>
              <a:xfrm>
                <a:off x="3530111" y="4659923"/>
                <a:ext cx="1793504" cy="632161"/>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83623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MOS</a:t>
            </a:r>
            <a:r>
              <a:rPr lang="zh-CN" altLang="en-US" dirty="0"/>
              <a:t>集成电路中的噪声类型</a:t>
            </a:r>
          </a:p>
        </p:txBody>
      </p:sp>
      <p:sp>
        <p:nvSpPr>
          <p:cNvPr id="3" name="内容占位符 2"/>
          <p:cNvSpPr>
            <a:spLocks noGrp="1"/>
          </p:cNvSpPr>
          <p:nvPr>
            <p:ph idx="1"/>
          </p:nvPr>
        </p:nvSpPr>
        <p:spPr/>
        <p:txBody>
          <a:bodyPr/>
          <a:lstStyle/>
          <a:p>
            <a:pPr>
              <a:lnSpc>
                <a:spcPct val="150000"/>
              </a:lnSpc>
            </a:pPr>
            <a:r>
              <a:rPr lang="zh-CN" altLang="en-US" dirty="0" smtClean="0"/>
              <a:t>转角频率</a:t>
            </a:r>
            <a:endParaRPr lang="en-US" altLang="zh-CN" dirty="0" smtClean="0"/>
          </a:p>
          <a:p>
            <a:pPr lvl="1">
              <a:lnSpc>
                <a:spcPct val="150000"/>
              </a:lnSpc>
            </a:pPr>
            <a:r>
              <a:rPr lang="zh-CN" altLang="en-US" dirty="0">
                <a:latin typeface="Times New Roman" pitchFamily="18" charset="0"/>
                <a:cs typeface="Times New Roman" pitchFamily="18" charset="0"/>
              </a:rPr>
              <a:t>闪烁噪声功率谱密度和热噪声功率谱密度相等的频率点，当频率低于</a:t>
            </a:r>
            <a:r>
              <a:rPr lang="en-US" altLang="zh-CN" i="1" dirty="0">
                <a:latin typeface="Times New Roman" pitchFamily="18" charset="0"/>
                <a:cs typeface="Times New Roman" pitchFamily="18" charset="0"/>
              </a:rPr>
              <a:t>f</a:t>
            </a:r>
            <a:r>
              <a:rPr lang="en-US" altLang="zh-CN" baseline="-25000" dirty="0">
                <a:latin typeface="Times New Roman" pitchFamily="18" charset="0"/>
                <a:cs typeface="Times New Roman" pitchFamily="18" charset="0"/>
              </a:rPr>
              <a:t>c</a:t>
            </a:r>
            <a:r>
              <a:rPr lang="zh-CN" altLang="en-US" dirty="0">
                <a:latin typeface="Times New Roman" pitchFamily="18" charset="0"/>
                <a:cs typeface="Times New Roman" pitchFamily="18" charset="0"/>
              </a:rPr>
              <a:t>时，闪烁噪声功率谱密度占优。对于饱和区晶体管：</a:t>
            </a:r>
            <a:endParaRPr lang="en-US" altLang="zh-CN" dirty="0">
              <a:latin typeface="Times New Roman" pitchFamily="18" charset="0"/>
              <a:cs typeface="Times New Roman" pitchFamily="18" charset="0"/>
            </a:endParaRPr>
          </a:p>
          <a:p>
            <a:pPr lvl="1"/>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19</a:t>
            </a:fld>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808862653"/>
              </p:ext>
            </p:extLst>
          </p:nvPr>
        </p:nvGraphicFramePr>
        <p:xfrm>
          <a:off x="1844431" y="3863244"/>
          <a:ext cx="2959100" cy="857436"/>
        </p:xfrm>
        <a:graphic>
          <a:graphicData uri="http://schemas.openxmlformats.org/presentationml/2006/ole">
            <mc:AlternateContent xmlns:mc="http://schemas.openxmlformats.org/markup-compatibility/2006">
              <mc:Choice xmlns:v="urn:schemas-microsoft-com:vml" Requires="v">
                <p:oleObj spid="_x0000_s18752" name="Equation" r:id="rId3" imgW="1473120" imgH="431640" progId="Equation.DSMT4">
                  <p:embed/>
                </p:oleObj>
              </mc:Choice>
              <mc:Fallback>
                <p:oleObj name="Equation" r:id="rId3" imgW="1473120" imgH="431640" progId="Equation.DSMT4">
                  <p:embed/>
                  <p:pic>
                    <p:nvPicPr>
                      <p:cNvPr id="3" name="对象 2"/>
                      <p:cNvPicPr>
                        <a:picLocks noChangeAspect="1" noChangeArrowheads="1"/>
                      </p:cNvPicPr>
                      <p:nvPr/>
                    </p:nvPicPr>
                    <p:blipFill>
                      <a:blip r:embed="rId4"/>
                      <a:srcRect/>
                      <a:stretch>
                        <a:fillRect/>
                      </a:stretch>
                    </p:blipFill>
                    <p:spPr bwMode="auto">
                      <a:xfrm>
                        <a:off x="1844431" y="3863244"/>
                        <a:ext cx="2959100" cy="857436"/>
                      </a:xfrm>
                      <a:prstGeom prst="rect">
                        <a:avLst/>
                      </a:prstGeom>
                      <a:noFill/>
                      <a:ln>
                        <a:noFill/>
                      </a:ln>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883824177"/>
              </p:ext>
            </p:extLst>
          </p:nvPr>
        </p:nvGraphicFramePr>
        <p:xfrm>
          <a:off x="2208518" y="4900067"/>
          <a:ext cx="2230925" cy="881800"/>
        </p:xfrm>
        <a:graphic>
          <a:graphicData uri="http://schemas.openxmlformats.org/presentationml/2006/ole">
            <mc:AlternateContent xmlns:mc="http://schemas.openxmlformats.org/markup-compatibility/2006">
              <mc:Choice xmlns:v="urn:schemas-microsoft-com:vml" Requires="v">
                <p:oleObj spid="_x0000_s18753" name="Equation" r:id="rId5" imgW="1079280" imgH="431640" progId="Equation.DSMT4">
                  <p:embed/>
                </p:oleObj>
              </mc:Choice>
              <mc:Fallback>
                <p:oleObj name="Equation" r:id="rId5" imgW="1079280" imgH="431640" progId="Equation.DSMT4">
                  <p:embed/>
                  <p:pic>
                    <p:nvPicPr>
                      <p:cNvPr id="4" name="对象 3"/>
                      <p:cNvPicPr>
                        <a:picLocks noChangeAspect="1" noChangeArrowheads="1"/>
                      </p:cNvPicPr>
                      <p:nvPr/>
                    </p:nvPicPr>
                    <p:blipFill>
                      <a:blip r:embed="rId6"/>
                      <a:srcRect/>
                      <a:stretch>
                        <a:fillRect/>
                      </a:stretch>
                    </p:blipFill>
                    <p:spPr bwMode="auto">
                      <a:xfrm>
                        <a:off x="2208518" y="4900067"/>
                        <a:ext cx="2230925" cy="881800"/>
                      </a:xfrm>
                      <a:prstGeom prst="rect">
                        <a:avLst/>
                      </a:prstGeom>
                      <a:noFill/>
                      <a:ln>
                        <a:noFill/>
                      </a:ln>
                      <a:extLst/>
                    </p:spPr>
                  </p:pic>
                </p:oleObj>
              </mc:Fallback>
            </mc:AlternateContent>
          </a:graphicData>
        </a:graphic>
      </p:graphicFrame>
      <p:pic>
        <p:nvPicPr>
          <p:cNvPr id="8" name="图片 7"/>
          <p:cNvPicPr>
            <a:picLocks noChangeAspect="1"/>
          </p:cNvPicPr>
          <p:nvPr/>
        </p:nvPicPr>
        <p:blipFill>
          <a:blip r:embed="rId7"/>
          <a:stretch>
            <a:fillRect/>
          </a:stretch>
        </p:blipFill>
        <p:spPr>
          <a:xfrm>
            <a:off x="5593373" y="3756670"/>
            <a:ext cx="4440051" cy="2286793"/>
          </a:xfrm>
          <a:prstGeom prst="rect">
            <a:avLst/>
          </a:prstGeom>
        </p:spPr>
      </p:pic>
    </p:spTree>
    <p:extLst>
      <p:ext uri="{BB962C8B-B14F-4D97-AF65-F5344CB8AC3E}">
        <p14:creationId xmlns:p14="http://schemas.microsoft.com/office/powerpoint/2010/main" val="2214406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MOS</a:t>
            </a:r>
            <a:r>
              <a:rPr lang="zh-CN" altLang="en-US" dirty="0"/>
              <a:t>集成电路中的噪声类型</a:t>
            </a:r>
          </a:p>
        </p:txBody>
      </p:sp>
      <p:sp>
        <p:nvSpPr>
          <p:cNvPr id="3" name="内容占位符 2"/>
          <p:cNvSpPr>
            <a:spLocks noGrp="1"/>
          </p:cNvSpPr>
          <p:nvPr>
            <p:ph idx="1"/>
          </p:nvPr>
        </p:nvSpPr>
        <p:spPr/>
        <p:txBody>
          <a:bodyPr/>
          <a:lstStyle/>
          <a:p>
            <a:r>
              <a:rPr lang="zh-CN" altLang="en-US" dirty="0" smtClean="0"/>
              <a:t>其他噪声</a:t>
            </a:r>
            <a:endParaRPr lang="en-US" altLang="zh-CN" dirty="0" smtClean="0"/>
          </a:p>
          <a:p>
            <a:pPr lvl="1">
              <a:lnSpc>
                <a:spcPct val="150000"/>
              </a:lnSpc>
            </a:pPr>
            <a:r>
              <a:rPr lang="zh-CN" altLang="en-US" dirty="0" smtClean="0"/>
              <a:t>散粒噪声：</a:t>
            </a:r>
            <a:r>
              <a:rPr lang="en-US" altLang="zh-CN" dirty="0"/>
              <a:t>MOS</a:t>
            </a:r>
            <a:r>
              <a:rPr lang="zh-CN" altLang="en-US" dirty="0"/>
              <a:t>管栅极电荷不规则起伏引入的，可忽略。等效为栅极串联电流源：</a:t>
            </a:r>
          </a:p>
          <a:p>
            <a:pPr lvl="1">
              <a:lnSpc>
                <a:spcPct val="150000"/>
              </a:lnSpc>
            </a:pPr>
            <a:r>
              <a:rPr lang="zh-CN" altLang="en-US" dirty="0" smtClean="0"/>
              <a:t>栅极感应噪声：</a:t>
            </a:r>
            <a:r>
              <a:rPr lang="zh-CN" altLang="en-US" dirty="0">
                <a:latin typeface="Times New Roman" pitchFamily="18" charset="0"/>
                <a:cs typeface="Times New Roman" pitchFamily="18" charset="0"/>
              </a:rPr>
              <a:t>沟道载流子热噪声，通过栅源电容耦合引起的，等效为栅源间并联电流源，和沟道热噪声是相关噪声源，主要在射频段起作用，本课程分析可不计。</a:t>
            </a:r>
            <a:endParaRPr lang="en-US" altLang="zh-CN" dirty="0">
              <a:latin typeface="Times New Roman" pitchFamily="18" charset="0"/>
              <a:cs typeface="Times New Roman" pitchFamily="18" charset="0"/>
            </a:endParaRPr>
          </a:p>
          <a:p>
            <a:pPr lvl="1"/>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20</a:t>
            </a:fld>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881561285"/>
              </p:ext>
            </p:extLst>
          </p:nvPr>
        </p:nvGraphicFramePr>
        <p:xfrm>
          <a:off x="5765799" y="2931991"/>
          <a:ext cx="1760416" cy="508724"/>
        </p:xfrm>
        <a:graphic>
          <a:graphicData uri="http://schemas.openxmlformats.org/presentationml/2006/ole">
            <mc:AlternateContent xmlns:mc="http://schemas.openxmlformats.org/markup-compatibility/2006">
              <mc:Choice xmlns:v="urn:schemas-microsoft-com:vml" Requires="v">
                <p:oleObj spid="_x0000_s19766" name="Equation" r:id="rId3" imgW="825480" imgH="241200" progId="Equation.DSMT4">
                  <p:embed/>
                </p:oleObj>
              </mc:Choice>
              <mc:Fallback>
                <p:oleObj name="Equation" r:id="rId3" imgW="825480" imgH="241200" progId="Equation.DSMT4">
                  <p:embed/>
                  <p:pic>
                    <p:nvPicPr>
                      <p:cNvPr id="3" name="对象 2"/>
                      <p:cNvPicPr>
                        <a:picLocks noChangeAspect="1" noChangeArrowheads="1"/>
                      </p:cNvPicPr>
                      <p:nvPr/>
                    </p:nvPicPr>
                    <p:blipFill>
                      <a:blip r:embed="rId4"/>
                      <a:srcRect/>
                      <a:stretch>
                        <a:fillRect/>
                      </a:stretch>
                    </p:blipFill>
                    <p:spPr bwMode="auto">
                      <a:xfrm>
                        <a:off x="5765799" y="2931991"/>
                        <a:ext cx="1760416" cy="508724"/>
                      </a:xfrm>
                      <a:prstGeom prst="rect">
                        <a:avLst/>
                      </a:prstGeom>
                      <a:noFill/>
                      <a:ln>
                        <a:noFill/>
                      </a:ln>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146117769"/>
              </p:ext>
            </p:extLst>
          </p:nvPr>
        </p:nvGraphicFramePr>
        <p:xfrm>
          <a:off x="3878385" y="5064859"/>
          <a:ext cx="5617308" cy="890672"/>
        </p:xfrm>
        <a:graphic>
          <a:graphicData uri="http://schemas.openxmlformats.org/presentationml/2006/ole">
            <mc:AlternateContent xmlns:mc="http://schemas.openxmlformats.org/markup-compatibility/2006">
              <mc:Choice xmlns:v="urn:schemas-microsoft-com:vml" Requires="v">
                <p:oleObj spid="_x0000_s19767" name="Equation" r:id="rId5" imgW="2616120" imgH="419040" progId="Equation.DSMT4">
                  <p:embed/>
                </p:oleObj>
              </mc:Choice>
              <mc:Fallback>
                <p:oleObj name="Equation" r:id="rId5" imgW="2616120" imgH="419040" progId="Equation.DSMT4">
                  <p:embed/>
                  <p:pic>
                    <p:nvPicPr>
                      <p:cNvPr id="2" name="对象 1"/>
                      <p:cNvPicPr>
                        <a:picLocks noChangeAspect="1" noChangeArrowheads="1"/>
                      </p:cNvPicPr>
                      <p:nvPr/>
                    </p:nvPicPr>
                    <p:blipFill>
                      <a:blip r:embed="rId6"/>
                      <a:srcRect/>
                      <a:stretch>
                        <a:fillRect/>
                      </a:stretch>
                    </p:blipFill>
                    <p:spPr bwMode="auto">
                      <a:xfrm>
                        <a:off x="3878385" y="5064859"/>
                        <a:ext cx="5617308" cy="89067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346686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3" name="内容占位符 2"/>
          <p:cNvSpPr>
            <a:spLocks noGrp="1"/>
          </p:cNvSpPr>
          <p:nvPr>
            <p:ph idx="1"/>
          </p:nvPr>
        </p:nvSpPr>
        <p:spPr/>
        <p:txBody>
          <a:bodyPr>
            <a:normAutofit fontScale="85000" lnSpcReduction="10000"/>
          </a:bodyPr>
          <a:lstStyle/>
          <a:p>
            <a:pPr algn="just">
              <a:lnSpc>
                <a:spcPct val="150000"/>
              </a:lnSpc>
              <a:buFont typeface="Wingdings" panose="05000000000000000000" pitchFamily="2" charset="2"/>
              <a:buChar char="l"/>
            </a:pPr>
            <a:r>
              <a:rPr lang="en-US" altLang="zh-CN" sz="3600" b="1" dirty="0"/>
              <a:t> </a:t>
            </a:r>
            <a:r>
              <a:rPr lang="zh-CN" altLang="en-US" sz="3200" dirty="0" smtClean="0"/>
              <a:t>噪声的统计特性</a:t>
            </a:r>
            <a:endParaRPr lang="en-US" altLang="zh-CN" sz="3200" dirty="0" smtClean="0"/>
          </a:p>
          <a:p>
            <a:pPr algn="just">
              <a:lnSpc>
                <a:spcPct val="150000"/>
              </a:lnSpc>
              <a:buFont typeface="Wingdings" panose="05000000000000000000" pitchFamily="2" charset="2"/>
              <a:buChar char="l"/>
            </a:pPr>
            <a:r>
              <a:rPr lang="en-US" altLang="zh-CN" sz="3200" dirty="0"/>
              <a:t> </a:t>
            </a:r>
            <a:r>
              <a:rPr lang="en-US" altLang="zh-CN" sz="3200" dirty="0" smtClean="0"/>
              <a:t>MOS</a:t>
            </a:r>
            <a:r>
              <a:rPr lang="zh-CN" altLang="en-US" sz="3200" dirty="0" smtClean="0"/>
              <a:t>集成电路中的噪声类型</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b="1" dirty="0" smtClean="0"/>
              <a:t>电路中的噪声表示</a:t>
            </a:r>
            <a:endParaRPr lang="en-US" altLang="zh-CN" sz="3200" b="1" dirty="0" smtClean="0"/>
          </a:p>
          <a:p>
            <a:pPr algn="just">
              <a:lnSpc>
                <a:spcPct val="150000"/>
              </a:lnSpc>
              <a:buFont typeface="Wingdings" panose="05000000000000000000" pitchFamily="2" charset="2"/>
              <a:buChar char="l"/>
            </a:pPr>
            <a:r>
              <a:rPr lang="en-US" altLang="zh-CN" sz="3200" dirty="0"/>
              <a:t> </a:t>
            </a:r>
            <a:r>
              <a:rPr lang="zh-CN" altLang="en-US" sz="3200" dirty="0"/>
              <a:t>单</a:t>
            </a:r>
            <a:r>
              <a:rPr lang="zh-CN" altLang="en-US" sz="3200" dirty="0" smtClean="0"/>
              <a:t>级放大器中的噪声</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a:t>电流</a:t>
            </a:r>
            <a:r>
              <a:rPr lang="zh-CN" altLang="en-US" sz="3200" dirty="0" smtClean="0"/>
              <a:t>镜中的噪声</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smtClean="0"/>
              <a:t>差动对的噪声</a:t>
            </a:r>
            <a:endParaRPr lang="en-US" altLang="zh-CN" sz="2400" dirty="0" smtClean="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21</a:t>
            </a:fld>
            <a:endParaRPr lang="zh-CN" altLang="en-US"/>
          </a:p>
        </p:txBody>
      </p:sp>
    </p:spTree>
    <p:extLst>
      <p:ext uri="{BB962C8B-B14F-4D97-AF65-F5344CB8AC3E}">
        <p14:creationId xmlns:p14="http://schemas.microsoft.com/office/powerpoint/2010/main" val="1840803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电路中的噪声表示</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sz="3400" dirty="0" smtClean="0"/>
              <a:t>输出噪声分析步骤</a:t>
            </a:r>
            <a:endParaRPr lang="en-US" altLang="zh-CN" sz="3400" dirty="0" smtClean="0"/>
          </a:p>
          <a:p>
            <a:pPr lvl="1">
              <a:lnSpc>
                <a:spcPct val="150000"/>
              </a:lnSpc>
            </a:pPr>
            <a:r>
              <a:rPr lang="zh-CN" altLang="en-US" dirty="0" smtClean="0"/>
              <a:t>确定电路的输入和输出</a:t>
            </a:r>
            <a:endParaRPr lang="en-US" altLang="zh-CN" dirty="0" smtClean="0"/>
          </a:p>
          <a:p>
            <a:pPr lvl="1">
              <a:lnSpc>
                <a:spcPct val="150000"/>
              </a:lnSpc>
            </a:pPr>
            <a:r>
              <a:rPr lang="zh-CN" altLang="en-US" dirty="0" smtClean="0"/>
              <a:t>识别每个噪声源，并写出每个噪声源的频谱</a:t>
            </a:r>
            <a:endParaRPr lang="en-US" altLang="zh-CN" dirty="0" smtClean="0"/>
          </a:p>
          <a:p>
            <a:pPr lvl="1">
              <a:lnSpc>
                <a:spcPct val="150000"/>
              </a:lnSpc>
            </a:pPr>
            <a:r>
              <a:rPr lang="zh-CN" altLang="en-US" dirty="0" smtClean="0"/>
              <a:t>确定某个器件，用噪声小信号模型替代，其他器件用小信号模型替代</a:t>
            </a:r>
            <a:endParaRPr lang="en-US" altLang="zh-CN" dirty="0" smtClean="0"/>
          </a:p>
          <a:p>
            <a:pPr lvl="1">
              <a:lnSpc>
                <a:spcPct val="150000"/>
              </a:lnSpc>
            </a:pPr>
            <a:r>
              <a:rPr lang="zh-CN" altLang="en-US" dirty="0" smtClean="0"/>
              <a:t>激励信号源置零</a:t>
            </a:r>
            <a:endParaRPr lang="en-US" altLang="zh-CN" dirty="0" smtClean="0"/>
          </a:p>
          <a:p>
            <a:pPr lvl="1">
              <a:lnSpc>
                <a:spcPct val="150000"/>
              </a:lnSpc>
            </a:pPr>
            <a:r>
              <a:rPr lang="zh-CN" altLang="en-US" dirty="0" smtClean="0"/>
              <a:t>计算该器件对输出噪声功率谱的贡献</a:t>
            </a:r>
            <a:endParaRPr lang="en-US" altLang="zh-CN" dirty="0" smtClean="0"/>
          </a:p>
          <a:p>
            <a:pPr lvl="1">
              <a:lnSpc>
                <a:spcPct val="150000"/>
              </a:lnSpc>
            </a:pPr>
            <a:r>
              <a:rPr lang="zh-CN" altLang="en-US" dirty="0" smtClean="0"/>
              <a:t>计算其他期间的噪声，并将噪声功率谱叠加（假定噪声源之间是独立的）</a:t>
            </a:r>
            <a:endParaRPr lang="en-US" altLang="zh-CN" dirty="0" smtClean="0"/>
          </a:p>
          <a:p>
            <a:pPr lvl="1">
              <a:lnSpc>
                <a:spcPct val="150000"/>
              </a:lnSpc>
            </a:pPr>
            <a:r>
              <a:rPr lang="zh-CN" altLang="en-US" dirty="0" smtClean="0"/>
              <a:t>计算功率噪声谱积分获得指定频带内的积分噪声</a:t>
            </a:r>
            <a:endParaRPr lang="en-US" altLang="zh-CN" dirty="0" smtClean="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22</a:t>
            </a:fld>
            <a:endParaRPr lang="zh-CN" altLang="en-US"/>
          </a:p>
        </p:txBody>
      </p:sp>
      <p:pic>
        <p:nvPicPr>
          <p:cNvPr id="6" name="图片 5"/>
          <p:cNvPicPr>
            <a:picLocks noChangeAspect="1"/>
          </p:cNvPicPr>
          <p:nvPr/>
        </p:nvPicPr>
        <p:blipFill>
          <a:blip r:embed="rId2"/>
          <a:stretch>
            <a:fillRect/>
          </a:stretch>
        </p:blipFill>
        <p:spPr>
          <a:xfrm>
            <a:off x="6566820" y="1213338"/>
            <a:ext cx="4464595" cy="1855116"/>
          </a:xfrm>
          <a:prstGeom prst="rect">
            <a:avLst/>
          </a:prstGeom>
        </p:spPr>
      </p:pic>
    </p:spTree>
    <p:extLst>
      <p:ext uri="{BB962C8B-B14F-4D97-AF65-F5344CB8AC3E}">
        <p14:creationId xmlns:p14="http://schemas.microsoft.com/office/powerpoint/2010/main" val="545208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电路中的噪声表示</a:t>
            </a:r>
          </a:p>
        </p:txBody>
      </p:sp>
      <p:sp>
        <p:nvSpPr>
          <p:cNvPr id="3" name="内容占位符 2"/>
          <p:cNvSpPr>
            <a:spLocks noGrp="1"/>
          </p:cNvSpPr>
          <p:nvPr>
            <p:ph idx="1"/>
          </p:nvPr>
        </p:nvSpPr>
        <p:spPr/>
        <p:txBody>
          <a:bodyPr/>
          <a:lstStyle/>
          <a:p>
            <a:r>
              <a:rPr lang="zh-CN" altLang="en-US" dirty="0"/>
              <a:t>输出</a:t>
            </a:r>
            <a:r>
              <a:rPr lang="zh-CN" altLang="en-US" dirty="0" smtClean="0"/>
              <a:t>噪声分析举例</a:t>
            </a:r>
            <a:endParaRPr lang="zh-CN" altLang="en-US" dirty="0"/>
          </a:p>
        </p:txBody>
      </p:sp>
      <p:sp>
        <p:nvSpPr>
          <p:cNvPr id="4" name="页脚占位符 3"/>
          <p:cNvSpPr>
            <a:spLocks noGrp="1"/>
          </p:cNvSpPr>
          <p:nvPr>
            <p:ph type="ftr" sz="quarter" idx="11"/>
          </p:nvPr>
        </p:nvSpPr>
        <p:spPr>
          <a:xfrm>
            <a:off x="4004897" y="6074996"/>
            <a:ext cx="4114800" cy="365125"/>
          </a:xfrm>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a:xfrm>
            <a:off x="8576897" y="6074996"/>
            <a:ext cx="2743200" cy="365125"/>
          </a:xfrm>
        </p:spPr>
        <p:txBody>
          <a:bodyPr/>
          <a:lstStyle/>
          <a:p>
            <a:fld id="{00D5852F-A149-4CCB-8EBE-69A193BA50F3}" type="slidenum">
              <a:rPr lang="zh-CN" altLang="en-US" smtClean="0"/>
              <a:t>23</a:t>
            </a:fld>
            <a:endParaRPr lang="zh-CN" altLang="en-US"/>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223" y="2435682"/>
            <a:ext cx="2359269" cy="2083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框 6"/>
          <p:cNvSpPr txBox="1"/>
          <p:nvPr/>
        </p:nvSpPr>
        <p:spPr>
          <a:xfrm>
            <a:off x="1002323" y="5897325"/>
            <a:ext cx="2321169" cy="369332"/>
          </a:xfrm>
          <a:prstGeom prst="rect">
            <a:avLst/>
          </a:prstGeom>
          <a:noFill/>
        </p:spPr>
        <p:txBody>
          <a:bodyPr wrap="square" rtlCol="0">
            <a:spAutoFit/>
          </a:bodyPr>
          <a:lstStyle/>
          <a:p>
            <a:r>
              <a:rPr lang="zh-CN" altLang="en-US" dirty="0" smtClean="0"/>
              <a:t>电阻负载的共源电路</a:t>
            </a:r>
            <a:endParaRPr lang="zh-CN" altLang="en-US" dirty="0"/>
          </a:p>
        </p:txBody>
      </p:sp>
      <p:sp>
        <p:nvSpPr>
          <p:cNvPr id="8" name="文本框 7"/>
          <p:cNvSpPr txBox="1"/>
          <p:nvPr/>
        </p:nvSpPr>
        <p:spPr>
          <a:xfrm>
            <a:off x="5008685" y="1311653"/>
            <a:ext cx="6884377" cy="4093428"/>
          </a:xfrm>
          <a:prstGeom prst="rect">
            <a:avLst/>
          </a:prstGeom>
          <a:noFill/>
        </p:spPr>
        <p:txBody>
          <a:bodyPr wrap="square" rtlCol="0">
            <a:spAutoFit/>
          </a:bodyPr>
          <a:lstStyle/>
          <a:p>
            <a:pPr marL="285750" indent="-285750">
              <a:buFont typeface="Wingdings" panose="05000000000000000000" pitchFamily="2" charset="2"/>
              <a:buChar char="l"/>
            </a:pPr>
            <a:r>
              <a:rPr lang="en-US" altLang="zh-CN" sz="2000" dirty="0" smtClean="0"/>
              <a:t>M</a:t>
            </a:r>
            <a:r>
              <a:rPr lang="en-US" altLang="zh-CN" sz="2000" baseline="-25000" dirty="0" smtClean="0"/>
              <a:t>1</a:t>
            </a:r>
            <a:r>
              <a:rPr lang="zh-CN" altLang="en-US" sz="2000" dirty="0" smtClean="0"/>
              <a:t>的输出噪声贡献</a:t>
            </a:r>
            <a:endParaRPr lang="en-US" altLang="zh-CN" sz="2000" dirty="0" smtClean="0"/>
          </a:p>
          <a:p>
            <a:pPr marL="285750" indent="-285750">
              <a:buFont typeface="Wingdings" panose="05000000000000000000" pitchFamily="2" charset="2"/>
              <a:buChar char="l"/>
            </a:pPr>
            <a:endParaRPr lang="en-US" altLang="zh-CN" sz="2000" dirty="0"/>
          </a:p>
          <a:p>
            <a:pPr marL="285750" indent="-285750">
              <a:buFont typeface="Wingdings" panose="05000000000000000000" pitchFamily="2" charset="2"/>
              <a:buChar char="l"/>
            </a:pPr>
            <a:endParaRPr lang="en-US" altLang="zh-CN" sz="2000" dirty="0" smtClean="0"/>
          </a:p>
          <a:p>
            <a:pPr marL="285750" indent="-285750">
              <a:buFont typeface="Wingdings" panose="05000000000000000000" pitchFamily="2" charset="2"/>
              <a:buChar char="l"/>
            </a:pPr>
            <a:endParaRPr lang="en-US" altLang="zh-CN" sz="2000" dirty="0"/>
          </a:p>
          <a:p>
            <a:pPr marL="285750" indent="-285750">
              <a:buFont typeface="Wingdings" panose="05000000000000000000" pitchFamily="2" charset="2"/>
              <a:buChar char="l"/>
            </a:pPr>
            <a:r>
              <a:rPr lang="en-US" altLang="zh-CN" sz="2000" dirty="0" smtClean="0"/>
              <a:t>R</a:t>
            </a:r>
            <a:r>
              <a:rPr lang="en-US" altLang="zh-CN" sz="2000" baseline="-25000" dirty="0" smtClean="0"/>
              <a:t>L</a:t>
            </a:r>
            <a:r>
              <a:rPr lang="zh-CN" altLang="en-US" sz="2000" dirty="0" smtClean="0"/>
              <a:t>的输出噪声贡献</a:t>
            </a:r>
            <a:endParaRPr lang="en-US" altLang="zh-CN" sz="2000" dirty="0" smtClean="0"/>
          </a:p>
          <a:p>
            <a:pPr marL="285750" indent="-285750">
              <a:buFont typeface="Wingdings" panose="05000000000000000000" pitchFamily="2" charset="2"/>
              <a:buChar char="l"/>
            </a:pPr>
            <a:endParaRPr lang="en-US" altLang="zh-CN" sz="2000" dirty="0"/>
          </a:p>
          <a:p>
            <a:pPr marL="285750" indent="-285750">
              <a:buFont typeface="Wingdings" panose="05000000000000000000" pitchFamily="2" charset="2"/>
              <a:buChar char="l"/>
            </a:pPr>
            <a:endParaRPr lang="en-US" altLang="zh-CN" sz="2000" dirty="0" smtClean="0"/>
          </a:p>
          <a:p>
            <a:pPr marL="285750" indent="-285750">
              <a:buFont typeface="Wingdings" panose="05000000000000000000" pitchFamily="2" charset="2"/>
              <a:buChar char="l"/>
            </a:pPr>
            <a:endParaRPr lang="en-US" altLang="zh-CN" sz="2000" dirty="0"/>
          </a:p>
          <a:p>
            <a:pPr marL="285750" indent="-285750">
              <a:buFont typeface="Wingdings" panose="05000000000000000000" pitchFamily="2" charset="2"/>
              <a:buChar char="l"/>
            </a:pPr>
            <a:r>
              <a:rPr lang="zh-CN" altLang="en-US" sz="2000" dirty="0" smtClean="0"/>
              <a:t>输出总噪声</a:t>
            </a:r>
            <a:endParaRPr lang="en-US" altLang="zh-CN" sz="2000" dirty="0" smtClean="0"/>
          </a:p>
          <a:p>
            <a:pPr marL="285750" indent="-285750">
              <a:buFont typeface="Wingdings" panose="05000000000000000000" pitchFamily="2" charset="2"/>
              <a:buChar char="l"/>
            </a:pPr>
            <a:endParaRPr lang="en-US" altLang="zh-CN" sz="2000" dirty="0"/>
          </a:p>
          <a:p>
            <a:pPr marL="285750" indent="-285750">
              <a:buFont typeface="Wingdings" panose="05000000000000000000" pitchFamily="2" charset="2"/>
              <a:buChar char="l"/>
            </a:pPr>
            <a:endParaRPr lang="en-US" altLang="zh-CN" sz="2000" dirty="0" smtClean="0"/>
          </a:p>
          <a:p>
            <a:pPr marL="285750" indent="-285750">
              <a:buFont typeface="Wingdings" panose="05000000000000000000" pitchFamily="2" charset="2"/>
              <a:buChar char="l"/>
            </a:pPr>
            <a:endParaRPr lang="en-US" altLang="zh-CN" sz="2000" dirty="0"/>
          </a:p>
          <a:p>
            <a:pPr marL="285750" indent="-285750">
              <a:buFont typeface="Wingdings" panose="05000000000000000000" pitchFamily="2" charset="2"/>
              <a:buChar char="l"/>
            </a:pPr>
            <a:r>
              <a:rPr lang="zh-CN" altLang="en-US" sz="2000" dirty="0" smtClean="0"/>
              <a:t>积分噪声</a:t>
            </a:r>
            <a:endParaRPr lang="zh-CN" altLang="en-US" sz="2000" dirty="0"/>
          </a:p>
        </p:txBody>
      </p:sp>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7479" y="4557458"/>
            <a:ext cx="1570855" cy="1250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11" name="文本框 10"/>
              <p:cNvSpPr txBox="1"/>
              <p:nvPr/>
            </p:nvSpPr>
            <p:spPr>
              <a:xfrm>
                <a:off x="2702111" y="2880113"/>
                <a:ext cx="1491819" cy="2823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𝑛𝑅</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=4</m:t>
                      </m:r>
                      <m:r>
                        <a:rPr lang="en-US" altLang="zh-CN" b="0" i="1" smtClean="0">
                          <a:latin typeface="Cambria Math" panose="02040503050406030204" pitchFamily="18" charset="0"/>
                        </a:rPr>
                        <m:t>𝑘𝑇𝐺</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2702111" y="2880113"/>
                <a:ext cx="1491819" cy="282321"/>
              </a:xfrm>
              <a:prstGeom prst="rect">
                <a:avLst/>
              </a:prstGeom>
              <a:blipFill>
                <a:blip r:embed="rId4"/>
                <a:stretch>
                  <a:fillRect l="-3265" t="-2128" r="-4490" b="-319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2546781" y="4284418"/>
                <a:ext cx="1802480" cy="2823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𝑛𝑀</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zh-CN" altLang="en-US" b="0" i="1" smtClean="0">
                          <a:latin typeface="Cambria Math" panose="02040503050406030204" pitchFamily="18" charset="0"/>
                        </a:rPr>
                        <m:t>𝛾</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13" name="文本框 12"/>
              <p:cNvSpPr txBox="1">
                <a:spLocks noRot="1" noChangeAspect="1" noMove="1" noResize="1" noEditPoints="1" noAdjustHandles="1" noChangeArrowheads="1" noChangeShapeType="1" noTextEdit="1"/>
              </p:cNvSpPr>
              <p:nvPr/>
            </p:nvSpPr>
            <p:spPr>
              <a:xfrm>
                <a:off x="2546781" y="4284418"/>
                <a:ext cx="1802480" cy="282321"/>
              </a:xfrm>
              <a:prstGeom prst="rect">
                <a:avLst/>
              </a:prstGeom>
              <a:blipFill>
                <a:blip r:embed="rId5"/>
                <a:stretch>
                  <a:fillRect l="-2712" t="-2174" r="-4068" b="-34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3448020" y="3639722"/>
                <a:ext cx="15756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𝐿</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𝑟</m:t>
                          </m:r>
                        </m:e>
                        <m:sub>
                          <m:r>
                            <a:rPr lang="en-US" altLang="zh-CN" b="0" i="1" smtClean="0">
                              <a:latin typeface="Cambria Math" panose="02040503050406030204" pitchFamily="18" charset="0"/>
                              <a:ea typeface="Cambria Math" panose="02040503050406030204" pitchFamily="18" charset="0"/>
                            </a:rPr>
                            <m:t>𝑜</m:t>
                          </m:r>
                        </m:sub>
                      </m:sSub>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3448020" y="3639722"/>
                <a:ext cx="1575623" cy="276999"/>
              </a:xfrm>
              <a:prstGeom prst="rect">
                <a:avLst/>
              </a:prstGeom>
              <a:blipFill>
                <a:blip r:embed="rId6"/>
                <a:stretch>
                  <a:fillRect l="-3101" t="-2174" b="-326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5492042" y="1737997"/>
                <a:ext cx="3590535" cy="6709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𝑛𝑜</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zh-CN" altLang="en-US" b="0" i="1" smtClean="0">
                          <a:latin typeface="Cambria Math" panose="02040503050406030204" pitchFamily="18" charset="0"/>
                        </a:rPr>
                        <m:t>𝛾</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Sub>
                      <m:sSup>
                        <m:sSupPr>
                          <m:ctrlPr>
                            <a:rPr lang="en-US" altLang="zh-CN" b="0" i="1" smtClean="0">
                              <a:latin typeface="Cambria Math" panose="02040503050406030204" pitchFamily="18" charset="0"/>
                            </a:rPr>
                          </m:ctrlPr>
                        </m:sSupPr>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Sub>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𝑗</m:t>
                                  </m:r>
                                  <m:r>
                                    <a:rPr lang="zh-CN" altLang="en-US" b="0" i="1" smtClean="0">
                                      <a:latin typeface="Cambria Math" panose="02040503050406030204" pitchFamily="18" charset="0"/>
                                      <a:ea typeface="Cambria Math" panose="02040503050406030204" pitchFamily="18" charset="0"/>
                                    </a:rPr>
                                    <m:t>𝜔</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𝐿</m:t>
                                      </m:r>
                                    </m:sub>
                                  </m:sSub>
                                </m:den>
                              </m:f>
                            </m:e>
                          </m:d>
                        </m:e>
                        <m:sup>
                          <m:r>
                            <a:rPr lang="en-US" altLang="zh-CN" b="0" i="1" smtClean="0">
                              <a:latin typeface="Cambria Math" panose="02040503050406030204" pitchFamily="18" charset="0"/>
                            </a:rPr>
                            <m:t>2</m:t>
                          </m:r>
                        </m:sup>
                      </m:sSup>
                      <m:r>
                        <m:rPr>
                          <m:sty m:val="p"/>
                        </m:rPr>
                        <a:rPr lang="el-GR" altLang="zh-CN" b="0" i="1" smtClean="0">
                          <a:latin typeface="Cambria Math" panose="02040503050406030204" pitchFamily="18" charset="0"/>
                          <a:ea typeface="Cambria Math" panose="02040503050406030204" pitchFamily="18" charset="0"/>
                        </a:rPr>
                        <m:t>Δ</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5492042" y="1737997"/>
                <a:ext cx="3590535" cy="670953"/>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5492042" y="2964414"/>
                <a:ext cx="3279872" cy="6709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𝑛𝑜</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=4</m:t>
                      </m:r>
                      <m:r>
                        <a:rPr lang="en-US" altLang="zh-CN" b="0" i="1" smtClean="0">
                          <a:latin typeface="Cambria Math" panose="02040503050406030204" pitchFamily="18" charset="0"/>
                        </a:rPr>
                        <m:t>𝑘𝑇𝐺</m:t>
                      </m:r>
                      <m:sSup>
                        <m:sSupPr>
                          <m:ctrlPr>
                            <a:rPr lang="en-US" altLang="zh-CN" b="0" i="1" smtClean="0">
                              <a:latin typeface="Cambria Math" panose="02040503050406030204" pitchFamily="18" charset="0"/>
                            </a:rPr>
                          </m:ctrlPr>
                        </m:sSupPr>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Sub>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𝑗</m:t>
                                  </m:r>
                                  <m:r>
                                    <a:rPr lang="zh-CN" altLang="en-US" b="0" i="1" smtClean="0">
                                      <a:latin typeface="Cambria Math" panose="02040503050406030204" pitchFamily="18" charset="0"/>
                                      <a:ea typeface="Cambria Math" panose="02040503050406030204" pitchFamily="18" charset="0"/>
                                    </a:rPr>
                                    <m:t>𝜔</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𝐿</m:t>
                                      </m:r>
                                    </m:sub>
                                  </m:sSub>
                                </m:den>
                              </m:f>
                            </m:e>
                          </m:d>
                        </m:e>
                        <m:sup>
                          <m:r>
                            <a:rPr lang="en-US" altLang="zh-CN" b="0" i="1" smtClean="0">
                              <a:latin typeface="Cambria Math" panose="02040503050406030204" pitchFamily="18" charset="0"/>
                            </a:rPr>
                            <m:t>2</m:t>
                          </m:r>
                        </m:sup>
                      </m:sSup>
                      <m:r>
                        <m:rPr>
                          <m:sty m:val="p"/>
                        </m:rPr>
                        <a:rPr lang="el-GR" altLang="zh-CN" b="0" i="1" smtClean="0">
                          <a:latin typeface="Cambria Math" panose="02040503050406030204" pitchFamily="18" charset="0"/>
                          <a:ea typeface="Cambria Math" panose="02040503050406030204" pitchFamily="18" charset="0"/>
                        </a:rPr>
                        <m:t>Δ</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16" name="文本框 15"/>
              <p:cNvSpPr txBox="1">
                <a:spLocks noRot="1" noChangeAspect="1" noMove="1" noResize="1" noEditPoints="1" noAdjustHandles="1" noChangeArrowheads="1" noChangeShapeType="1" noTextEdit="1"/>
              </p:cNvSpPr>
              <p:nvPr/>
            </p:nvSpPr>
            <p:spPr>
              <a:xfrm>
                <a:off x="5492042" y="2964414"/>
                <a:ext cx="3279872" cy="670953"/>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5492042" y="4184747"/>
                <a:ext cx="4529317" cy="6709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𝑇𝑜𝑡𝑎𝑙</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en-US" altLang="zh-CN" b="0" i="1" smtClean="0">
                          <a:latin typeface="Cambria Math" panose="02040503050406030204" pitchFamily="18" charset="0"/>
                        </a:rPr>
                        <m:t>(</m:t>
                      </m:r>
                      <m:r>
                        <a:rPr lang="en-US" altLang="zh-CN" b="0" i="1" smtClean="0">
                          <a:latin typeface="Cambria Math" panose="02040503050406030204" pitchFamily="18" charset="0"/>
                        </a:rPr>
                        <m:t>𝐺</m:t>
                      </m:r>
                      <m:r>
                        <a:rPr lang="en-US" altLang="zh-CN" b="0" i="1" smtClean="0">
                          <a:latin typeface="Cambria Math" panose="02040503050406030204" pitchFamily="18" charset="0"/>
                        </a:rPr>
                        <m:t>+</m:t>
                      </m:r>
                      <m:r>
                        <a:rPr lang="zh-CN" altLang="en-US" b="0" i="1" smtClean="0">
                          <a:latin typeface="Cambria Math" panose="02040503050406030204" pitchFamily="18" charset="0"/>
                        </a:rPr>
                        <m:t>𝛾</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Sub>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𝑗</m:t>
                                  </m:r>
                                  <m:r>
                                    <a:rPr lang="zh-CN" altLang="en-US" b="0" i="1" smtClean="0">
                                      <a:latin typeface="Cambria Math" panose="02040503050406030204" pitchFamily="18" charset="0"/>
                                      <a:ea typeface="Cambria Math" panose="02040503050406030204" pitchFamily="18" charset="0"/>
                                    </a:rPr>
                                    <m:t>𝜔</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𝐿</m:t>
                                      </m:r>
                                    </m:sub>
                                  </m:sSub>
                                </m:den>
                              </m:f>
                            </m:e>
                          </m:d>
                        </m:e>
                        <m:sup>
                          <m:r>
                            <a:rPr lang="en-US" altLang="zh-CN" b="0" i="1" smtClean="0">
                              <a:latin typeface="Cambria Math" panose="02040503050406030204" pitchFamily="18" charset="0"/>
                            </a:rPr>
                            <m:t>2</m:t>
                          </m:r>
                        </m:sup>
                      </m:sSup>
                      <m:r>
                        <m:rPr>
                          <m:sty m:val="p"/>
                        </m:rPr>
                        <a:rPr lang="el-GR" altLang="zh-CN" b="0" i="1" smtClean="0">
                          <a:latin typeface="Cambria Math" panose="02040503050406030204" pitchFamily="18" charset="0"/>
                          <a:ea typeface="Cambria Math" panose="02040503050406030204" pitchFamily="18" charset="0"/>
                        </a:rPr>
                        <m:t>Δ</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17" name="文本框 16"/>
              <p:cNvSpPr txBox="1">
                <a:spLocks noRot="1" noChangeAspect="1" noMove="1" noResize="1" noEditPoints="1" noAdjustHandles="1" noChangeArrowheads="1" noChangeShapeType="1" noTextEdit="1"/>
              </p:cNvSpPr>
              <p:nvPr/>
            </p:nvSpPr>
            <p:spPr>
              <a:xfrm>
                <a:off x="5492042" y="4184747"/>
                <a:ext cx="4529317" cy="670953"/>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4451350" y="5333806"/>
                <a:ext cx="6945556" cy="5993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latin typeface="Cambria Math" panose="02040503050406030204" pitchFamily="18" charset="0"/>
                            </a:rPr>
                          </m:ctrlPr>
                        </m:acc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𝑣</m:t>
                              </m:r>
                            </m:e>
                            <m:sub>
                              <m:r>
                                <a:rPr lang="en-US" altLang="zh-CN" i="1">
                                  <a:latin typeface="Cambria Math" panose="02040503050406030204" pitchFamily="18" charset="0"/>
                                </a:rPr>
                                <m:t>𝑛𝑜</m:t>
                              </m:r>
                              <m:r>
                                <a:rPr lang="en-US" altLang="zh-CN" i="1">
                                  <a:latin typeface="Cambria Math" panose="02040503050406030204" pitchFamily="18" charset="0"/>
                                </a:rPr>
                                <m:t>,</m:t>
                              </m:r>
                              <m:r>
                                <a:rPr lang="en-US" altLang="zh-CN" i="1">
                                  <a:latin typeface="Cambria Math" panose="02040503050406030204" pitchFamily="18" charset="0"/>
                                </a:rPr>
                                <m:t>𝑇𝑜𝑡𝑎𝑙</m:t>
                              </m:r>
                            </m:sub>
                            <m:sup>
                              <m:r>
                                <a:rPr lang="en-US" altLang="zh-CN" i="1">
                                  <a:latin typeface="Cambria Math" panose="02040503050406030204" pitchFamily="18" charset="0"/>
                                </a:rPr>
                                <m:t>2</m:t>
                              </m:r>
                            </m:sup>
                          </m:sSubSup>
                        </m:e>
                      </m:acc>
                      <m:r>
                        <a:rPr lang="en-US" altLang="zh-CN" i="1" smtClean="0">
                          <a:latin typeface="Cambria Math" panose="02040503050406030204" pitchFamily="18" charset="0"/>
                          <a:ea typeface="Cambria Math" panose="02040503050406030204" pitchFamily="18" charset="0"/>
                        </a:rPr>
                        <m:t>=</m:t>
                      </m:r>
                      <m:nary>
                        <m:naryPr>
                          <m:ctrlPr>
                            <a:rPr lang="en-US" altLang="zh-CN" i="1" smtClean="0">
                              <a:latin typeface="Cambria Math" panose="02040503050406030204" pitchFamily="18" charset="0"/>
                              <a:ea typeface="Cambria Math" panose="02040503050406030204" pitchFamily="18" charset="0"/>
                            </a:rPr>
                          </m:ctrlPr>
                        </m:naryPr>
                        <m:sub>
                          <m:r>
                            <m:rPr>
                              <m:brk m:alnAt="23"/>
                            </m:rPr>
                            <a:rPr lang="en-US" altLang="zh-CN" i="1">
                              <a:latin typeface="Cambria Math" panose="02040503050406030204" pitchFamily="18" charset="0"/>
                              <a:ea typeface="Cambria Math" panose="02040503050406030204" pitchFamily="18" charset="0"/>
                            </a:rPr>
                            <m:t>0</m:t>
                          </m:r>
                        </m:sub>
                        <m:sup>
                          <m:r>
                            <a:rPr lang="en-US" altLang="zh-CN" i="1" smtClean="0">
                              <a:latin typeface="Cambria Math" panose="02040503050406030204" pitchFamily="18" charset="0"/>
                              <a:ea typeface="Cambria Math" panose="02040503050406030204" pitchFamily="18" charset="0"/>
                            </a:rPr>
                            <m:t>∞</m:t>
                          </m:r>
                        </m:sup>
                        <m:e>
                          <m:r>
                            <a:rPr lang="en-US" altLang="zh-CN" i="1">
                              <a:latin typeface="Cambria Math" panose="02040503050406030204" pitchFamily="18" charset="0"/>
                            </a:rPr>
                            <m:t>4</m:t>
                          </m:r>
                          <m:r>
                            <a:rPr lang="en-US" altLang="zh-CN" i="1">
                              <a:latin typeface="Cambria Math" panose="02040503050406030204" pitchFamily="18" charset="0"/>
                            </a:rPr>
                            <m:t>𝐾𝑇</m:t>
                          </m:r>
                          <m:r>
                            <a:rPr lang="en-US" altLang="zh-CN" i="1">
                              <a:latin typeface="Cambria Math" panose="02040503050406030204" pitchFamily="18" charset="0"/>
                            </a:rPr>
                            <m:t>(</m:t>
                          </m:r>
                          <m:r>
                            <a:rPr lang="en-US" altLang="zh-CN" i="1">
                              <a:latin typeface="Cambria Math" panose="02040503050406030204" pitchFamily="18" charset="0"/>
                            </a:rPr>
                            <m:t>𝐺</m:t>
                          </m:r>
                          <m:r>
                            <a:rPr lang="en-US" altLang="zh-CN" i="1">
                              <a:latin typeface="Cambria Math" panose="02040503050406030204" pitchFamily="18" charset="0"/>
                            </a:rPr>
                            <m:t>+</m:t>
                          </m:r>
                          <m:r>
                            <a:rPr lang="zh-CN" altLang="en-US" i="1">
                              <a:latin typeface="Cambria Math" panose="02040503050406030204" pitchFamily="18" charset="0"/>
                            </a:rPr>
                            <m:t>𝛾</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𝑚</m:t>
                              </m:r>
                            </m:sub>
                          </m:sSub>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Sub>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r>
                                    <a:rPr lang="zh-CN" altLang="en-US" b="0" i="1" smtClean="0">
                                      <a:latin typeface="Cambria Math" panose="02040503050406030204" pitchFamily="18" charset="0"/>
                                      <a:ea typeface="Cambria Math" panose="02040503050406030204" pitchFamily="18" charset="0"/>
                                    </a:rPr>
                                    <m:t>𝜔</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𝐿</m:t>
                                      </m:r>
                                    </m:sub>
                                  </m:sSub>
                                </m:e>
                              </m:d>
                            </m:e>
                            <m:sup>
                              <m:r>
                                <a:rPr lang="en-US" altLang="zh-CN" i="1">
                                  <a:latin typeface="Cambria Math" panose="02040503050406030204" pitchFamily="18" charset="0"/>
                                </a:rPr>
                                <m:t>2</m:t>
                              </m:r>
                            </m:sup>
                          </m:sSup>
                          <m:r>
                            <a:rPr lang="en-US" altLang="zh-CN" b="0" i="1" smtClean="0">
                              <a:latin typeface="Cambria Math" panose="02040503050406030204" pitchFamily="18" charset="0"/>
                            </a:rPr>
                            <m:t>𝑑</m:t>
                          </m:r>
                          <m:r>
                            <a:rPr lang="en-US" altLang="zh-CN" i="1">
                              <a:latin typeface="Cambria Math" panose="02040503050406030204" pitchFamily="18" charset="0"/>
                              <a:ea typeface="Cambria Math" panose="02040503050406030204" pitchFamily="18" charset="0"/>
                            </a:rPr>
                            <m:t>𝑓</m:t>
                          </m:r>
                          <m:r>
                            <m:rPr>
                              <m:nor/>
                            </m:rPr>
                            <a:rPr lang="zh-CN" altLang="en-US" dirty="0"/>
                            <m:t> </m:t>
                          </m:r>
                          <m:r>
                            <a:rPr lang="en-US" altLang="zh-CN" i="1" dirty="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𝑘𝑇</m:t>
                              </m:r>
                            </m:num>
                            <m:den>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𝐶</m:t>
                                  </m:r>
                                </m:e>
                                <m:sub>
                                  <m:r>
                                    <a:rPr lang="en-US" altLang="zh-CN" b="0" i="1" dirty="0" smtClean="0">
                                      <a:latin typeface="Cambria Math" panose="02040503050406030204" pitchFamily="18" charset="0"/>
                                    </a:rPr>
                                    <m:t>𝐿</m:t>
                                  </m:r>
                                </m:sub>
                              </m:sSub>
                            </m:den>
                          </m:f>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𝐺</m:t>
                          </m:r>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𝛾</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𝑔</m:t>
                              </m:r>
                            </m:e>
                            <m:sub>
                              <m:r>
                                <a:rPr lang="en-US" altLang="zh-CN" b="0" i="1" dirty="0" smtClean="0">
                                  <a:latin typeface="Cambria Math" panose="02040503050406030204" pitchFamily="18" charset="0"/>
                                </a:rPr>
                                <m:t>𝑚</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𝑜𝑢𝑡</m:t>
                              </m:r>
                            </m:sub>
                          </m:sSub>
                        </m:e>
                      </m:nary>
                    </m:oMath>
                  </m:oMathPara>
                </a14:m>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4451350" y="5333806"/>
                <a:ext cx="6945556" cy="599331"/>
              </a:xfrm>
              <a:prstGeom prst="rect">
                <a:avLst/>
              </a:prstGeom>
              <a:blipFill>
                <a:blip r:embed="rId10"/>
                <a:stretch>
                  <a:fillRect b="-10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18914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电路中的噪声表示</a:t>
            </a:r>
          </a:p>
        </p:txBody>
      </p:sp>
      <p:sp>
        <p:nvSpPr>
          <p:cNvPr id="3" name="内容占位符 2"/>
          <p:cNvSpPr>
            <a:spLocks noGrp="1"/>
          </p:cNvSpPr>
          <p:nvPr>
            <p:ph idx="1"/>
          </p:nvPr>
        </p:nvSpPr>
        <p:spPr/>
        <p:txBody>
          <a:bodyPr/>
          <a:lstStyle/>
          <a:p>
            <a:r>
              <a:rPr lang="zh-CN" altLang="en-US" dirty="0" smtClean="0"/>
              <a:t>等效输入噪声计算</a:t>
            </a:r>
            <a:endParaRPr lang="en-US" altLang="zh-CN" dirty="0" smtClean="0"/>
          </a:p>
          <a:p>
            <a:pPr lvl="1"/>
            <a:r>
              <a:rPr lang="zh-CN" altLang="en-US" dirty="0" smtClean="0"/>
              <a:t>等效输入噪声电压等于输出噪声电压除以增益</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24</a:t>
            </a:fld>
            <a:endParaRPr lang="zh-CN" altLang="en-US"/>
          </a:p>
        </p:txBody>
      </p:sp>
      <p:pic>
        <p:nvPicPr>
          <p:cNvPr id="6" name="图片 5"/>
          <p:cNvPicPr>
            <a:picLocks noChangeAspect="1"/>
          </p:cNvPicPr>
          <p:nvPr/>
        </p:nvPicPr>
        <p:blipFill>
          <a:blip r:embed="rId2"/>
          <a:stretch>
            <a:fillRect/>
          </a:stretch>
        </p:blipFill>
        <p:spPr>
          <a:xfrm>
            <a:off x="1428385" y="3006107"/>
            <a:ext cx="6725015" cy="1776541"/>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3087258" y="5030676"/>
                <a:ext cx="2599879" cy="8982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400" i="1" smtClean="0">
                              <a:latin typeface="Cambria Math" panose="02040503050406030204" pitchFamily="18" charset="0"/>
                            </a:rPr>
                          </m:ctrlPr>
                        </m:accPr>
                        <m:e>
                          <m:sSubSup>
                            <m:sSubSupPr>
                              <m:ctrlPr>
                                <a:rPr lang="en-US" altLang="zh-CN" sz="2400" i="1" smtClean="0">
                                  <a:latin typeface="Cambria Math" panose="02040503050406030204" pitchFamily="18" charset="0"/>
                                </a:rPr>
                              </m:ctrlPr>
                            </m:sSubSupPr>
                            <m:e>
                              <m:r>
                                <a:rPr lang="en-US" altLang="zh-CN" sz="2400" b="0" i="1" smtClean="0">
                                  <a:latin typeface="Cambria Math" panose="02040503050406030204" pitchFamily="18" charset="0"/>
                                </a:rPr>
                                <m:t>𝑣</m:t>
                              </m:r>
                            </m:e>
                            <m:sub>
                              <m:r>
                                <a:rPr lang="en-US" altLang="zh-CN" sz="2400" b="0" i="1" smtClean="0">
                                  <a:latin typeface="Cambria Math" panose="02040503050406030204" pitchFamily="18" charset="0"/>
                                </a:rPr>
                                <m:t>𝑖𝑛</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𝑡𝑜𝑡𝑎𝑙</m:t>
                              </m:r>
                            </m:sub>
                            <m:sup>
                              <m:r>
                                <a:rPr lang="en-US" altLang="zh-CN" sz="2400" b="0" i="1" smtClean="0">
                                  <a:latin typeface="Cambria Math" panose="02040503050406030204" pitchFamily="18" charset="0"/>
                                </a:rPr>
                                <m:t>2</m:t>
                              </m:r>
                            </m:sup>
                          </m:sSubSup>
                        </m:e>
                      </m:acc>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acc>
                            <m:accPr>
                              <m:chr m:val="̅"/>
                              <m:ctrlPr>
                                <a:rPr lang="en-US" altLang="zh-CN" sz="2400" b="0" i="1" smtClean="0">
                                  <a:latin typeface="Cambria Math" panose="02040503050406030204" pitchFamily="18" charset="0"/>
                                </a:rPr>
                              </m:ctrlPr>
                            </m:accPr>
                            <m:e>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𝑣</m:t>
                                  </m:r>
                                </m:e>
                                <m:sub>
                                  <m:r>
                                    <a:rPr lang="en-US" altLang="zh-CN" sz="2400" i="1">
                                      <a:latin typeface="Cambria Math" panose="02040503050406030204" pitchFamily="18" charset="0"/>
                                    </a:rPr>
                                    <m:t>𝑛𝑜</m:t>
                                  </m:r>
                                  <m:r>
                                    <a:rPr lang="en-US" altLang="zh-CN" sz="2400" i="1">
                                      <a:latin typeface="Cambria Math" panose="02040503050406030204" pitchFamily="18" charset="0"/>
                                    </a:rPr>
                                    <m:t>,</m:t>
                                  </m:r>
                                  <m:r>
                                    <a:rPr lang="en-US" altLang="zh-CN" sz="2400" i="1">
                                      <a:latin typeface="Cambria Math" panose="02040503050406030204" pitchFamily="18" charset="0"/>
                                    </a:rPr>
                                    <m:t>𝑇𝑜𝑡𝑎𝑙</m:t>
                                  </m:r>
                                </m:sub>
                                <m:sup>
                                  <m:r>
                                    <a:rPr lang="en-US" altLang="zh-CN" sz="2400" i="1">
                                      <a:latin typeface="Cambria Math" panose="02040503050406030204" pitchFamily="18" charset="0"/>
                                    </a:rPr>
                                    <m:t>2</m:t>
                                  </m:r>
                                </m:sup>
                              </m:sSubSup>
                            </m:e>
                          </m:acc>
                        </m:num>
                        <m:den>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𝑔</m:t>
                              </m:r>
                            </m:e>
                            <m:sub>
                              <m:r>
                                <a:rPr lang="en-US" altLang="zh-CN" sz="2400" b="0" i="1" smtClean="0">
                                  <a:latin typeface="Cambria Math" panose="02040503050406030204" pitchFamily="18" charset="0"/>
                                </a:rPr>
                                <m:t>𝑚</m:t>
                              </m:r>
                            </m:sub>
                            <m:sup>
                              <m:r>
                                <a:rPr lang="en-US" altLang="zh-CN" sz="2400" b="0" i="1" smtClean="0">
                                  <a:latin typeface="Cambria Math" panose="02040503050406030204" pitchFamily="18" charset="0"/>
                                </a:rPr>
                                <m:t>2</m:t>
                              </m:r>
                            </m:sup>
                          </m:sSubSup>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𝑅</m:t>
                              </m:r>
                            </m:e>
                            <m:sub>
                              <m:r>
                                <a:rPr lang="en-US" altLang="zh-CN" sz="2400" b="0" i="1" smtClean="0">
                                  <a:latin typeface="Cambria Math" panose="02040503050406030204" pitchFamily="18" charset="0"/>
                                </a:rPr>
                                <m:t>𝐷</m:t>
                              </m:r>
                            </m:sub>
                            <m:sup>
                              <m:r>
                                <a:rPr lang="en-US" altLang="zh-CN" sz="2400" b="0" i="1" smtClean="0">
                                  <a:latin typeface="Cambria Math" panose="02040503050406030204" pitchFamily="18" charset="0"/>
                                </a:rPr>
                                <m:t>2</m:t>
                              </m:r>
                            </m:sup>
                          </m:sSubSup>
                        </m:den>
                      </m:f>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3087258" y="5030676"/>
                <a:ext cx="2599879" cy="898259"/>
              </a:xfrm>
              <a:prstGeom prst="rect">
                <a:avLst/>
              </a:prstGeom>
              <a:blipFill>
                <a:blip r:embed="rId3"/>
                <a:stretch>
                  <a:fillRect/>
                </a:stretch>
              </a:blipFill>
            </p:spPr>
            <p:txBody>
              <a:bodyPr/>
              <a:lstStyle/>
              <a:p>
                <a:r>
                  <a:rPr lang="zh-CN" altLang="en-US">
                    <a:noFill/>
                  </a:rPr>
                  <a:t> </a:t>
                </a:r>
              </a:p>
            </p:txBody>
          </p:sp>
        </mc:Fallback>
      </mc:AlternateContent>
      <p:sp>
        <p:nvSpPr>
          <p:cNvPr id="8" name="文本框 7"/>
          <p:cNvSpPr txBox="1"/>
          <p:nvPr/>
        </p:nvSpPr>
        <p:spPr>
          <a:xfrm>
            <a:off x="1776046" y="5354515"/>
            <a:ext cx="1019908" cy="400110"/>
          </a:xfrm>
          <a:prstGeom prst="rect">
            <a:avLst/>
          </a:prstGeom>
          <a:noFill/>
        </p:spPr>
        <p:txBody>
          <a:bodyPr wrap="square" rtlCol="0">
            <a:spAutoFit/>
          </a:bodyPr>
          <a:lstStyle/>
          <a:p>
            <a:r>
              <a:rPr lang="zh-CN" altLang="en-US" sz="2000" dirty="0" smtClean="0"/>
              <a:t>（上例）</a:t>
            </a:r>
            <a:endParaRPr lang="zh-CN" altLang="en-US" sz="2000" dirty="0"/>
          </a:p>
        </p:txBody>
      </p:sp>
    </p:spTree>
    <p:extLst>
      <p:ext uri="{BB962C8B-B14F-4D97-AF65-F5344CB8AC3E}">
        <p14:creationId xmlns:p14="http://schemas.microsoft.com/office/powerpoint/2010/main" val="2535721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电路中的噪声表示</a:t>
            </a:r>
          </a:p>
        </p:txBody>
      </p:sp>
      <p:sp>
        <p:nvSpPr>
          <p:cNvPr id="3" name="内容占位符 2"/>
          <p:cNvSpPr>
            <a:spLocks noGrp="1"/>
          </p:cNvSpPr>
          <p:nvPr>
            <p:ph idx="1"/>
          </p:nvPr>
        </p:nvSpPr>
        <p:spPr>
          <a:xfrm>
            <a:off x="838200" y="1825625"/>
            <a:ext cx="5799992" cy="4351338"/>
          </a:xfrm>
        </p:spPr>
        <p:txBody>
          <a:bodyPr>
            <a:normAutofit fontScale="92500" lnSpcReduction="10000"/>
          </a:bodyPr>
          <a:lstStyle/>
          <a:p>
            <a:pPr>
              <a:lnSpc>
                <a:spcPct val="150000"/>
              </a:lnSpc>
            </a:pPr>
            <a:r>
              <a:rPr lang="zh-CN" altLang="en-US" sz="2400" dirty="0">
                <a:latin typeface="Times New Roman" pitchFamily="18" charset="0"/>
                <a:cs typeface="Times New Roman" pitchFamily="18" charset="0"/>
              </a:rPr>
              <a:t>为了在不同网络</a:t>
            </a:r>
            <a:r>
              <a:rPr lang="zh-CN" altLang="en-US" sz="2400" dirty="0" smtClean="0">
                <a:latin typeface="Times New Roman" pitchFamily="18" charset="0"/>
                <a:cs typeface="Times New Roman" pitchFamily="18" charset="0"/>
              </a:rPr>
              <a:t>之间比较噪声</a:t>
            </a:r>
            <a:r>
              <a:rPr lang="zh-CN" altLang="en-US" sz="2400" dirty="0">
                <a:latin typeface="Times New Roman" pitchFamily="18" charset="0"/>
                <a:cs typeface="Times New Roman" pitchFamily="18" charset="0"/>
              </a:rPr>
              <a:t>性能的优劣，要么同时比较输出噪声，要么同时比较等效输入噪声</a:t>
            </a:r>
            <a:r>
              <a:rPr lang="zh-CN" altLang="en-US" sz="2400" dirty="0" smtClean="0">
                <a:latin typeface="Times New Roman" pitchFamily="18" charset="0"/>
                <a:cs typeface="Times New Roman" pitchFamily="18" charset="0"/>
              </a:rPr>
              <a:t>。</a:t>
            </a:r>
            <a:endParaRPr lang="en-US" altLang="zh-CN" sz="2400" dirty="0" smtClean="0">
              <a:latin typeface="Times New Roman" pitchFamily="18" charset="0"/>
              <a:cs typeface="Times New Roman" pitchFamily="18" charset="0"/>
            </a:endParaRPr>
          </a:p>
          <a:p>
            <a:pPr>
              <a:lnSpc>
                <a:spcPct val="150000"/>
              </a:lnSpc>
              <a:tabLst>
                <a:tab pos="1320800" algn="l"/>
              </a:tabLst>
            </a:pPr>
            <a:r>
              <a:rPr lang="zh-CN" altLang="en-US" sz="2400" dirty="0">
                <a:latin typeface="Times New Roman" pitchFamily="18" charset="0"/>
                <a:cs typeface="Times New Roman" pitchFamily="18" charset="0"/>
              </a:rPr>
              <a:t>仅用输入等效噪声电压源或电流源是不完备</a:t>
            </a:r>
            <a:r>
              <a:rPr lang="zh-CN" altLang="en-US" sz="2400" dirty="0" smtClean="0">
                <a:latin typeface="Times New Roman" pitchFamily="18" charset="0"/>
                <a:cs typeface="Times New Roman" pitchFamily="18" charset="0"/>
              </a:rPr>
              <a:t>的，与</a:t>
            </a:r>
            <a:r>
              <a:rPr lang="zh-CN" altLang="en-US" sz="2400" dirty="0">
                <a:latin typeface="Times New Roman" pitchFamily="18" charset="0"/>
                <a:cs typeface="Times New Roman" pitchFamily="18" charset="0"/>
              </a:rPr>
              <a:t>驱动信号源阻抗</a:t>
            </a:r>
            <a:r>
              <a:rPr lang="zh-CN" altLang="en-US" sz="2400" dirty="0" smtClean="0">
                <a:latin typeface="Times New Roman" pitchFamily="18" charset="0"/>
                <a:cs typeface="Times New Roman" pitchFamily="18" charset="0"/>
              </a:rPr>
              <a:t>有关。</a:t>
            </a:r>
            <a:endParaRPr lang="en-US" altLang="zh-CN" sz="2400" dirty="0" smtClean="0">
              <a:latin typeface="Times New Roman" pitchFamily="18" charset="0"/>
              <a:cs typeface="Times New Roman" pitchFamily="18" charset="0"/>
            </a:endParaRPr>
          </a:p>
          <a:p>
            <a:pPr lvl="1">
              <a:lnSpc>
                <a:spcPct val="150000"/>
              </a:lnSpc>
              <a:tabLst>
                <a:tab pos="1320800" algn="l"/>
              </a:tabLst>
            </a:pPr>
            <a:r>
              <a:rPr lang="zh-CN" altLang="en-US" sz="2000" dirty="0">
                <a:latin typeface="Times New Roman" pitchFamily="18" charset="0"/>
                <a:cs typeface="Times New Roman" pitchFamily="18" charset="0"/>
              </a:rPr>
              <a:t>仅用输入等效噪声电压源等效：当源阻抗趋于无穷时，网络噪声趋于</a:t>
            </a:r>
            <a:r>
              <a:rPr lang="en-US" altLang="zh-CN" sz="2000" dirty="0" smtClean="0">
                <a:latin typeface="Times New Roman" pitchFamily="18" charset="0"/>
                <a:cs typeface="Times New Roman" pitchFamily="18" charset="0"/>
              </a:rPr>
              <a:t>0</a:t>
            </a:r>
            <a:r>
              <a:rPr lang="zh-CN" altLang="en-US" sz="2000" dirty="0" smtClean="0">
                <a:latin typeface="Times New Roman" pitchFamily="18" charset="0"/>
                <a:cs typeface="Times New Roman" pitchFamily="18" charset="0"/>
              </a:rPr>
              <a:t>。</a:t>
            </a:r>
            <a:endParaRPr lang="en-US" altLang="zh-CN" sz="2000" dirty="0">
              <a:latin typeface="Times New Roman" pitchFamily="18" charset="0"/>
              <a:cs typeface="Times New Roman" pitchFamily="18" charset="0"/>
            </a:endParaRPr>
          </a:p>
          <a:p>
            <a:pPr lvl="1">
              <a:lnSpc>
                <a:spcPct val="150000"/>
              </a:lnSpc>
              <a:tabLst>
                <a:tab pos="1320800" algn="l"/>
              </a:tabLst>
            </a:pPr>
            <a:r>
              <a:rPr lang="zh-CN" altLang="en-US" sz="2000" dirty="0">
                <a:latin typeface="Times New Roman" pitchFamily="18" charset="0"/>
                <a:cs typeface="Times New Roman" pitchFamily="18" charset="0"/>
              </a:rPr>
              <a:t>仅用输入等效噪声电流源等效：当源阻抗趋于</a:t>
            </a:r>
            <a:r>
              <a:rPr lang="en-US" altLang="zh-CN" sz="2000" dirty="0">
                <a:latin typeface="Times New Roman" pitchFamily="18" charset="0"/>
                <a:cs typeface="Times New Roman" pitchFamily="18" charset="0"/>
              </a:rPr>
              <a:t>0</a:t>
            </a:r>
            <a:r>
              <a:rPr lang="zh-CN" altLang="en-US" sz="2000" dirty="0">
                <a:latin typeface="Times New Roman" pitchFamily="18" charset="0"/>
                <a:cs typeface="Times New Roman" pitchFamily="18" charset="0"/>
              </a:rPr>
              <a:t>时，网络噪声趋于</a:t>
            </a:r>
            <a:r>
              <a:rPr lang="en-US" altLang="zh-CN" sz="2000" dirty="0" smtClean="0">
                <a:latin typeface="Times New Roman" pitchFamily="18" charset="0"/>
                <a:cs typeface="Times New Roman" pitchFamily="18" charset="0"/>
              </a:rPr>
              <a:t>0</a:t>
            </a:r>
            <a:r>
              <a:rPr lang="zh-CN" altLang="en-US" sz="2000" dirty="0" smtClean="0">
                <a:latin typeface="Times New Roman" pitchFamily="18" charset="0"/>
                <a:cs typeface="Times New Roman" pitchFamily="18" charset="0"/>
              </a:rPr>
              <a:t>。</a:t>
            </a:r>
            <a:endParaRPr lang="zh-CN" altLang="en-US" sz="2000"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25</a:t>
            </a:fld>
            <a:endParaRPr lang="zh-CN" altLang="en-US"/>
          </a:p>
        </p:txBody>
      </p:sp>
      <p:grpSp>
        <p:nvGrpSpPr>
          <p:cNvPr id="11" name="组合 10"/>
          <p:cNvGrpSpPr/>
          <p:nvPr/>
        </p:nvGrpSpPr>
        <p:grpSpPr>
          <a:xfrm>
            <a:off x="6873631" y="1870075"/>
            <a:ext cx="4187093" cy="1944265"/>
            <a:chOff x="2978638" y="1572658"/>
            <a:chExt cx="4647546" cy="2428636"/>
          </a:xfrm>
        </p:grpSpPr>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8638" y="2012395"/>
              <a:ext cx="4647546" cy="1988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对象 7"/>
            <p:cNvGraphicFramePr>
              <a:graphicFrameLocks noChangeAspect="1"/>
            </p:cNvGraphicFramePr>
            <p:nvPr>
              <p:extLst>
                <p:ext uri="{D42A27DB-BD31-4B8C-83A1-F6EECF244321}">
                  <p14:modId xmlns:p14="http://schemas.microsoft.com/office/powerpoint/2010/main" val="3005585186"/>
                </p:ext>
              </p:extLst>
            </p:nvPr>
          </p:nvGraphicFramePr>
          <p:xfrm>
            <a:off x="3373272" y="1572658"/>
            <a:ext cx="388937" cy="561975"/>
          </p:xfrm>
          <a:graphic>
            <a:graphicData uri="http://schemas.openxmlformats.org/presentationml/2006/ole">
              <mc:AlternateContent xmlns:mc="http://schemas.openxmlformats.org/markup-compatibility/2006">
                <mc:Choice xmlns:v="urn:schemas-microsoft-com:vml" Requires="v">
                  <p:oleObj spid="_x0000_s20734" name="Equation" r:id="rId4" imgW="164880" imgH="241200" progId="Equation.DSMT4">
                    <p:embed/>
                  </p:oleObj>
                </mc:Choice>
                <mc:Fallback>
                  <p:oleObj name="Equation" r:id="rId4" imgW="164880" imgH="241200" progId="Equation.DSMT4">
                    <p:embed/>
                    <p:pic>
                      <p:nvPicPr>
                        <p:cNvPr id="4" name="对象 3"/>
                        <p:cNvPicPr>
                          <a:picLocks noChangeAspect="1" noChangeArrowheads="1"/>
                        </p:cNvPicPr>
                        <p:nvPr/>
                      </p:nvPicPr>
                      <p:blipFill>
                        <a:blip r:embed="rId5"/>
                        <a:srcRect/>
                        <a:stretch>
                          <a:fillRect/>
                        </a:stretch>
                      </p:blipFill>
                      <p:spPr bwMode="auto">
                        <a:xfrm>
                          <a:off x="3373272" y="1572658"/>
                          <a:ext cx="38893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500074090"/>
                </p:ext>
              </p:extLst>
            </p:nvPr>
          </p:nvGraphicFramePr>
          <p:xfrm>
            <a:off x="3754272" y="3118883"/>
            <a:ext cx="330200" cy="560387"/>
          </p:xfrm>
          <a:graphic>
            <a:graphicData uri="http://schemas.openxmlformats.org/presentationml/2006/ole">
              <mc:AlternateContent xmlns:mc="http://schemas.openxmlformats.org/markup-compatibility/2006">
                <mc:Choice xmlns:v="urn:schemas-microsoft-com:vml" Requires="v">
                  <p:oleObj spid="_x0000_s20735" name="Equation" r:id="rId6" imgW="139680" imgH="241200" progId="Equation.DSMT4">
                    <p:embed/>
                  </p:oleObj>
                </mc:Choice>
                <mc:Fallback>
                  <p:oleObj name="Equation" r:id="rId6" imgW="139680" imgH="241200" progId="Equation.DSMT4">
                    <p:embed/>
                    <p:pic>
                      <p:nvPicPr>
                        <p:cNvPr id="5" name="对象 4"/>
                        <p:cNvPicPr>
                          <a:picLocks noChangeAspect="1" noChangeArrowheads="1"/>
                        </p:cNvPicPr>
                        <p:nvPr/>
                      </p:nvPicPr>
                      <p:blipFill>
                        <a:blip r:embed="rId7"/>
                        <a:srcRect/>
                        <a:stretch>
                          <a:fillRect/>
                        </a:stretch>
                      </p:blipFill>
                      <p:spPr bwMode="auto">
                        <a:xfrm>
                          <a:off x="3754272" y="3118883"/>
                          <a:ext cx="3302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文本框 9">
              <a:extLst>
                <a:ext uri="{FF2B5EF4-FFF2-40B4-BE49-F238E27FC236}">
                  <a16:creationId xmlns:a16="http://schemas.microsoft.com/office/drawing/2014/main" id="{AB3ED4DD-3AA2-497F-BB59-B99A3955A4D2}"/>
                </a:ext>
              </a:extLst>
            </p:cNvPr>
            <p:cNvSpPr txBox="1"/>
            <p:nvPr/>
          </p:nvSpPr>
          <p:spPr>
            <a:xfrm>
              <a:off x="5111584" y="1589470"/>
              <a:ext cx="1447800" cy="400110"/>
            </a:xfrm>
            <a:prstGeom prst="rect">
              <a:avLst/>
            </a:prstGeom>
            <a:noFill/>
          </p:spPr>
          <p:txBody>
            <a:bodyPr wrap="square" rtlCol="0">
              <a:spAutoFit/>
            </a:bodyPr>
            <a:lstStyle/>
            <a:p>
              <a:r>
                <a:rPr lang="zh-CN" altLang="en-US" sz="2000" b="1" dirty="0">
                  <a:latin typeface="+mn-ea"/>
                </a:rPr>
                <a:t>无噪网络</a:t>
              </a:r>
            </a:p>
          </p:txBody>
        </p:sp>
      </p:grpSp>
    </p:spTree>
    <p:extLst>
      <p:ext uri="{BB962C8B-B14F-4D97-AF65-F5344CB8AC3E}">
        <p14:creationId xmlns:p14="http://schemas.microsoft.com/office/powerpoint/2010/main" val="2094623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电路中的噪声表示</a:t>
            </a:r>
          </a:p>
        </p:txBody>
      </p:sp>
      <p:sp>
        <p:nvSpPr>
          <p:cNvPr id="3" name="内容占位符 2"/>
          <p:cNvSpPr>
            <a:spLocks noGrp="1"/>
          </p:cNvSpPr>
          <p:nvPr>
            <p:ph idx="1"/>
          </p:nvPr>
        </p:nvSpPr>
        <p:spPr/>
        <p:txBody>
          <a:bodyPr/>
          <a:lstStyle/>
          <a:p>
            <a:r>
              <a:rPr lang="zh-CN" altLang="en-US" dirty="0" smtClean="0"/>
              <a:t>等效输入噪声电压计算</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26</a:t>
            </a:fld>
            <a:endParaRPr lang="zh-CN" altLang="en-US"/>
          </a:p>
        </p:txBody>
      </p:sp>
      <mc:AlternateContent xmlns:mc="http://schemas.openxmlformats.org/markup-compatibility/2006" xmlns:a14="http://schemas.microsoft.com/office/drawing/2010/main">
        <mc:Choice Requires="a14">
          <p:sp>
            <p:nvSpPr>
              <p:cNvPr id="7" name="TextBox 1"/>
              <p:cNvSpPr txBox="1"/>
              <p:nvPr/>
            </p:nvSpPr>
            <p:spPr>
              <a:xfrm>
                <a:off x="1042422" y="5036691"/>
                <a:ext cx="10107156" cy="600164"/>
              </a:xfrm>
              <a:prstGeom prst="rect">
                <a:avLst/>
              </a:prstGeom>
              <a:noFill/>
            </p:spPr>
            <p:txBody>
              <a:bodyPr wrap="square" lIns="0" tIns="0" rIns="0" rtlCol="0">
                <a:spAutoFit/>
              </a:bodyPr>
              <a:lstStyle/>
              <a:p>
                <a:pPr marL="457200" indent="-457200">
                  <a:lnSpc>
                    <a:spcPct val="150000"/>
                  </a:lnSpc>
                  <a:buFont typeface="Wingdings" panose="05000000000000000000" pitchFamily="2" charset="2"/>
                  <a:buChar char="l"/>
                  <a:tabLst>
                    <a:tab pos="1320800" algn="l"/>
                  </a:tabLst>
                </a:pPr>
                <a:r>
                  <a:rPr lang="zh-CN" altLang="en-US" sz="2400" dirty="0" smtClean="0">
                    <a:latin typeface="Times New Roman" pitchFamily="18" charset="0"/>
                    <a:cs typeface="Times New Roman" pitchFamily="18" charset="0"/>
                  </a:rPr>
                  <a:t>网络输入短路，仅考虑输入噪声电压源贡献，计算等效输入噪声电压</a:t>
                </a:r>
                <a14:m>
                  <m:oMath xmlns:m="http://schemas.openxmlformats.org/officeDocument/2006/math">
                    <m:sSubSup>
                      <m:sSubSupPr>
                        <m:ctrlPr>
                          <a:rPr lang="en-US" altLang="zh-CN" sz="2400" i="1" smtClean="0">
                            <a:latin typeface="Cambria Math" panose="02040503050406030204" pitchFamily="18" charset="0"/>
                            <a:cs typeface="Times New Roman" pitchFamily="18" charset="0"/>
                          </a:rPr>
                        </m:ctrlPr>
                      </m:sSubSupPr>
                      <m:e>
                        <m:r>
                          <a:rPr lang="en-US" altLang="zh-CN" sz="2400" b="0" i="1" smtClean="0">
                            <a:latin typeface="Cambria Math" panose="02040503050406030204" pitchFamily="18" charset="0"/>
                            <a:cs typeface="Times New Roman" pitchFamily="18" charset="0"/>
                          </a:rPr>
                          <m:t>𝑣</m:t>
                        </m:r>
                      </m:e>
                      <m:sub>
                        <m:r>
                          <a:rPr lang="en-US" altLang="zh-CN" sz="2400" b="0" i="1" smtClean="0">
                            <a:latin typeface="Cambria Math" panose="02040503050406030204" pitchFamily="18" charset="0"/>
                            <a:cs typeface="Times New Roman" pitchFamily="18" charset="0"/>
                          </a:rPr>
                          <m:t>𝑛</m:t>
                        </m:r>
                      </m:sub>
                      <m:sup>
                        <m:r>
                          <a:rPr lang="en-US" altLang="zh-CN" sz="2400" b="0" i="1" smtClean="0">
                            <a:latin typeface="Cambria Math" panose="02040503050406030204" pitchFamily="18" charset="0"/>
                            <a:cs typeface="Times New Roman" pitchFamily="18" charset="0"/>
                          </a:rPr>
                          <m:t>2</m:t>
                        </m:r>
                      </m:sup>
                    </m:sSubSup>
                  </m:oMath>
                </a14:m>
                <a:r>
                  <a:rPr lang="zh-CN" altLang="en-US" sz="2400" dirty="0" smtClean="0">
                    <a:latin typeface="Times New Roman" pitchFamily="18" charset="0"/>
                    <a:cs typeface="Times New Roman" pitchFamily="18" charset="0"/>
                  </a:rPr>
                  <a:t>。</a:t>
                </a:r>
                <a:endParaRPr lang="en-US" altLang="zh-CN" sz="2400" dirty="0">
                  <a:latin typeface="Times New Roman" pitchFamily="18" charset="0"/>
                  <a:cs typeface="Times New Roman" pitchFamily="18" charset="0"/>
                </a:endParaRPr>
              </a:p>
            </p:txBody>
          </p:sp>
        </mc:Choice>
        <mc:Fallback xmlns="">
          <p:sp>
            <p:nvSpPr>
              <p:cNvPr id="7" name="TextBox 1"/>
              <p:cNvSpPr txBox="1">
                <a:spLocks noRot="1" noChangeAspect="1" noMove="1" noResize="1" noEditPoints="1" noAdjustHandles="1" noChangeArrowheads="1" noChangeShapeType="1" noTextEdit="1"/>
              </p:cNvSpPr>
              <p:nvPr/>
            </p:nvSpPr>
            <p:spPr>
              <a:xfrm>
                <a:off x="1042422" y="5036691"/>
                <a:ext cx="10107156" cy="600164"/>
              </a:xfrm>
              <a:prstGeom prst="rect">
                <a:avLst/>
              </a:prstGeom>
              <a:blipFill>
                <a:blip r:embed="rId2"/>
                <a:stretch>
                  <a:fillRect l="-1689" r="-4885" b="-14141"/>
                </a:stretch>
              </a:blipFill>
            </p:spPr>
            <p:txBody>
              <a:bodyPr/>
              <a:lstStyle/>
              <a:p>
                <a:r>
                  <a:rPr lang="zh-CN" altLang="en-US">
                    <a:noFill/>
                  </a:rPr>
                  <a:t> </a:t>
                </a:r>
              </a:p>
            </p:txBody>
          </p:sp>
        </mc:Fallback>
      </mc:AlternateContent>
      <p:pic>
        <p:nvPicPr>
          <p:cNvPr id="8" name="图片 7"/>
          <p:cNvPicPr>
            <a:picLocks noChangeAspect="1"/>
          </p:cNvPicPr>
          <p:nvPr/>
        </p:nvPicPr>
        <p:blipFill>
          <a:blip r:embed="rId3"/>
          <a:stretch>
            <a:fillRect/>
          </a:stretch>
        </p:blipFill>
        <p:spPr>
          <a:xfrm>
            <a:off x="425077" y="2883534"/>
            <a:ext cx="11766923" cy="1830705"/>
          </a:xfrm>
          <a:prstGeom prst="rect">
            <a:avLst/>
          </a:prstGeom>
        </p:spPr>
      </p:pic>
    </p:spTree>
    <p:extLst>
      <p:ext uri="{BB962C8B-B14F-4D97-AF65-F5344CB8AC3E}">
        <p14:creationId xmlns:p14="http://schemas.microsoft.com/office/powerpoint/2010/main" val="2129108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电路中的噪声表示</a:t>
            </a:r>
          </a:p>
        </p:txBody>
      </p:sp>
      <p:sp>
        <p:nvSpPr>
          <p:cNvPr id="3" name="内容占位符 2"/>
          <p:cNvSpPr>
            <a:spLocks noGrp="1"/>
          </p:cNvSpPr>
          <p:nvPr>
            <p:ph idx="1"/>
          </p:nvPr>
        </p:nvSpPr>
        <p:spPr/>
        <p:txBody>
          <a:bodyPr/>
          <a:lstStyle/>
          <a:p>
            <a:r>
              <a:rPr lang="zh-CN" altLang="en-US" dirty="0"/>
              <a:t>等效输入</a:t>
            </a:r>
            <a:r>
              <a:rPr lang="zh-CN" altLang="en-US" dirty="0" smtClean="0"/>
              <a:t>噪声电流计算</a:t>
            </a:r>
            <a:endParaRPr lang="zh-CN" altLang="en-US" dirty="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27</a:t>
            </a:fld>
            <a:endParaRPr lang="zh-CN" altLang="en-US"/>
          </a:p>
        </p:txBody>
      </p:sp>
      <mc:AlternateContent xmlns:mc="http://schemas.openxmlformats.org/markup-compatibility/2006" xmlns:a14="http://schemas.microsoft.com/office/drawing/2010/main">
        <mc:Choice Requires="a14">
          <p:sp>
            <p:nvSpPr>
              <p:cNvPr id="7" name="TextBox 1"/>
              <p:cNvSpPr txBox="1"/>
              <p:nvPr/>
            </p:nvSpPr>
            <p:spPr>
              <a:xfrm>
                <a:off x="1079698" y="4925377"/>
                <a:ext cx="10274102" cy="600164"/>
              </a:xfrm>
              <a:prstGeom prst="rect">
                <a:avLst/>
              </a:prstGeom>
              <a:noFill/>
            </p:spPr>
            <p:txBody>
              <a:bodyPr wrap="square" lIns="0" tIns="0" rIns="0" rtlCol="0">
                <a:spAutoFit/>
              </a:bodyPr>
              <a:lstStyle/>
              <a:p>
                <a:pPr marL="457200" indent="-457200">
                  <a:lnSpc>
                    <a:spcPct val="150000"/>
                  </a:lnSpc>
                  <a:buFont typeface="Wingdings" panose="05000000000000000000" pitchFamily="2" charset="2"/>
                  <a:buChar char="l"/>
                  <a:tabLst>
                    <a:tab pos="1320800" algn="l"/>
                  </a:tabLst>
                </a:pPr>
                <a:r>
                  <a:rPr lang="zh-CN" altLang="en-US" sz="2400" dirty="0" smtClean="0">
                    <a:latin typeface="Times New Roman" pitchFamily="18" charset="0"/>
                    <a:cs typeface="Times New Roman" pitchFamily="18" charset="0"/>
                  </a:rPr>
                  <a:t>网络输入开路，仅考虑输入噪声电流源贡献，计算等效输入噪声电流 </a:t>
                </a:r>
                <a14:m>
                  <m:oMath xmlns:m="http://schemas.openxmlformats.org/officeDocument/2006/math">
                    <m:sSubSup>
                      <m:sSubSupPr>
                        <m:ctrlPr>
                          <a:rPr lang="en-US" altLang="zh-CN" sz="2400" i="1" smtClean="0">
                            <a:latin typeface="Cambria Math" panose="02040503050406030204" pitchFamily="18" charset="0"/>
                            <a:cs typeface="Times New Roman" pitchFamily="18" charset="0"/>
                          </a:rPr>
                        </m:ctrlPr>
                      </m:sSubSupPr>
                      <m:e>
                        <m:r>
                          <a:rPr lang="en-US" altLang="zh-CN" sz="2400" b="0" i="1" smtClean="0">
                            <a:latin typeface="Cambria Math" panose="02040503050406030204" pitchFamily="18" charset="0"/>
                            <a:cs typeface="Times New Roman" pitchFamily="18" charset="0"/>
                          </a:rPr>
                          <m:t>𝑖</m:t>
                        </m:r>
                      </m:e>
                      <m:sub>
                        <m:r>
                          <a:rPr lang="en-US" altLang="zh-CN" sz="2400" b="0" i="1" smtClean="0">
                            <a:latin typeface="Cambria Math" panose="02040503050406030204" pitchFamily="18" charset="0"/>
                            <a:cs typeface="Times New Roman" pitchFamily="18" charset="0"/>
                          </a:rPr>
                          <m:t>𝑛</m:t>
                        </m:r>
                      </m:sub>
                      <m:sup>
                        <m:r>
                          <a:rPr lang="en-US" altLang="zh-CN" sz="2400" b="0" i="1" smtClean="0">
                            <a:latin typeface="Cambria Math" panose="02040503050406030204" pitchFamily="18" charset="0"/>
                            <a:cs typeface="Times New Roman" pitchFamily="18" charset="0"/>
                          </a:rPr>
                          <m:t>2</m:t>
                        </m:r>
                      </m:sup>
                    </m:sSubSup>
                  </m:oMath>
                </a14:m>
                <a:r>
                  <a:rPr lang="zh-CN" altLang="en-US" sz="2400" dirty="0" smtClean="0">
                    <a:latin typeface="Times New Roman" pitchFamily="18" charset="0"/>
                    <a:cs typeface="Times New Roman" pitchFamily="18" charset="0"/>
                  </a:rPr>
                  <a:t> </a:t>
                </a:r>
                <a:r>
                  <a:rPr lang="zh-CN" altLang="en-US" sz="2400" dirty="0">
                    <a:latin typeface="Times New Roman" pitchFamily="18" charset="0"/>
                    <a:cs typeface="Times New Roman" pitchFamily="18" charset="0"/>
                  </a:rPr>
                  <a:t>。</a:t>
                </a:r>
                <a:endParaRPr lang="en-US" altLang="zh-CN" sz="2400" dirty="0">
                  <a:latin typeface="Times New Roman" pitchFamily="18" charset="0"/>
                  <a:cs typeface="Times New Roman" pitchFamily="18" charset="0"/>
                </a:endParaRPr>
              </a:p>
            </p:txBody>
          </p:sp>
        </mc:Choice>
        <mc:Fallback xmlns="">
          <p:sp>
            <p:nvSpPr>
              <p:cNvPr id="7" name="TextBox 1"/>
              <p:cNvSpPr txBox="1">
                <a:spLocks noRot="1" noChangeAspect="1" noMove="1" noResize="1" noEditPoints="1" noAdjustHandles="1" noChangeArrowheads="1" noChangeShapeType="1" noTextEdit="1"/>
              </p:cNvSpPr>
              <p:nvPr/>
            </p:nvSpPr>
            <p:spPr>
              <a:xfrm>
                <a:off x="1079698" y="4925377"/>
                <a:ext cx="10274102" cy="600164"/>
              </a:xfrm>
              <a:prstGeom prst="rect">
                <a:avLst/>
              </a:prstGeom>
              <a:blipFill>
                <a:blip r:embed="rId2"/>
                <a:stretch>
                  <a:fillRect l="-1661" r="-4686" b="-14286"/>
                </a:stretch>
              </a:blipFill>
            </p:spPr>
            <p:txBody>
              <a:bodyPr/>
              <a:lstStyle/>
              <a:p>
                <a:r>
                  <a:rPr lang="zh-CN" altLang="en-US">
                    <a:noFill/>
                  </a:rPr>
                  <a:t> </a:t>
                </a:r>
              </a:p>
            </p:txBody>
          </p:sp>
        </mc:Fallback>
      </mc:AlternateContent>
      <p:pic>
        <p:nvPicPr>
          <p:cNvPr id="9" name="图片 8"/>
          <p:cNvPicPr>
            <a:picLocks noChangeAspect="1"/>
          </p:cNvPicPr>
          <p:nvPr/>
        </p:nvPicPr>
        <p:blipFill>
          <a:blip r:embed="rId3"/>
          <a:stretch>
            <a:fillRect/>
          </a:stretch>
        </p:blipFill>
        <p:spPr>
          <a:xfrm>
            <a:off x="1857375" y="2802890"/>
            <a:ext cx="8477250" cy="1943100"/>
          </a:xfrm>
          <a:prstGeom prst="rect">
            <a:avLst/>
          </a:prstGeom>
        </p:spPr>
      </p:pic>
    </p:spTree>
    <p:extLst>
      <p:ext uri="{BB962C8B-B14F-4D97-AF65-F5344CB8AC3E}">
        <p14:creationId xmlns:p14="http://schemas.microsoft.com/office/powerpoint/2010/main" val="1262794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电路中的噪声表示</a:t>
            </a:r>
          </a:p>
        </p:txBody>
      </p:sp>
      <p:sp>
        <p:nvSpPr>
          <p:cNvPr id="3" name="内容占位符 2"/>
          <p:cNvSpPr>
            <a:spLocks noGrp="1"/>
          </p:cNvSpPr>
          <p:nvPr>
            <p:ph idx="1"/>
          </p:nvPr>
        </p:nvSpPr>
        <p:spPr>
          <a:xfrm>
            <a:off x="769622" y="1470464"/>
            <a:ext cx="10515600" cy="4351338"/>
          </a:xfrm>
        </p:spPr>
        <p:txBody>
          <a:bodyPr/>
          <a:lstStyle/>
          <a:p>
            <a:r>
              <a:rPr lang="zh-CN" altLang="en-US" dirty="0" smtClean="0"/>
              <a:t>等效输入噪声计算（举例）</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28</a:t>
            </a:fld>
            <a:endParaRPr lang="zh-CN" altLang="en-US"/>
          </a:p>
        </p:txBody>
      </p:sp>
      <p:pic>
        <p:nvPicPr>
          <p:cNvPr id="6" name="图片 5"/>
          <p:cNvPicPr>
            <a:picLocks noChangeAspect="1"/>
          </p:cNvPicPr>
          <p:nvPr/>
        </p:nvPicPr>
        <p:blipFill>
          <a:blip r:embed="rId2"/>
          <a:stretch>
            <a:fillRect/>
          </a:stretch>
        </p:blipFill>
        <p:spPr>
          <a:xfrm>
            <a:off x="1994095" y="1721364"/>
            <a:ext cx="2954572" cy="2240280"/>
          </a:xfrm>
          <a:prstGeom prst="rect">
            <a:avLst/>
          </a:prstGeom>
        </p:spPr>
      </p:pic>
      <p:pic>
        <p:nvPicPr>
          <p:cNvPr id="7" name="图片 6"/>
          <p:cNvPicPr>
            <a:picLocks noChangeAspect="1"/>
          </p:cNvPicPr>
          <p:nvPr/>
        </p:nvPicPr>
        <p:blipFill>
          <a:blip r:embed="rId3"/>
          <a:stretch>
            <a:fillRect/>
          </a:stretch>
        </p:blipFill>
        <p:spPr>
          <a:xfrm>
            <a:off x="5758731" y="1802644"/>
            <a:ext cx="2394669" cy="2132027"/>
          </a:xfrm>
          <a:prstGeom prst="rect">
            <a:avLst/>
          </a:prstGeom>
        </p:spPr>
      </p:pic>
      <mc:AlternateContent xmlns:mc="http://schemas.openxmlformats.org/markup-compatibility/2006" xmlns:a14="http://schemas.microsoft.com/office/drawing/2010/main">
        <mc:Choice Requires="a14">
          <p:sp>
            <p:nvSpPr>
              <p:cNvPr id="8" name="文本框 7"/>
              <p:cNvSpPr txBox="1"/>
              <p:nvPr/>
            </p:nvSpPr>
            <p:spPr>
              <a:xfrm>
                <a:off x="1856397" y="2982377"/>
                <a:ext cx="2753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𝑆</m:t>
                          </m:r>
                        </m:sub>
                      </m:sSub>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1856397" y="2982377"/>
                <a:ext cx="275395" cy="276999"/>
              </a:xfrm>
              <a:prstGeom prst="rect">
                <a:avLst/>
              </a:prstGeom>
              <a:blipFill>
                <a:blip r:embed="rId4"/>
                <a:stretch>
                  <a:fillRect l="-20000" r="-4444"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4165991" y="2186482"/>
                <a:ext cx="1359795" cy="2698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600" i="1" smtClean="0">
                              <a:latin typeface="Cambria Math" panose="02040503050406030204" pitchFamily="18" charset="0"/>
                            </a:rPr>
                          </m:ctrlPr>
                        </m:sSubSupPr>
                        <m:e>
                          <m:r>
                            <a:rPr lang="en-US" altLang="zh-CN" sz="1600" b="0" i="1" smtClean="0">
                              <a:latin typeface="Cambria Math" panose="02040503050406030204" pitchFamily="18" charset="0"/>
                            </a:rPr>
                            <m:t>𝑖</m:t>
                          </m:r>
                        </m:e>
                        <m:sub>
                          <m:r>
                            <a:rPr lang="en-US" altLang="zh-CN" sz="1600" b="0" i="1" smtClean="0">
                              <a:latin typeface="Cambria Math" panose="02040503050406030204" pitchFamily="18" charset="0"/>
                            </a:rPr>
                            <m:t>𝑛</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𝑅</m:t>
                          </m:r>
                        </m:sub>
                        <m:sup>
                          <m:r>
                            <a:rPr lang="en-US" altLang="zh-CN" sz="1600" b="0" i="1" smtClean="0">
                              <a:latin typeface="Cambria Math" panose="02040503050406030204" pitchFamily="18" charset="0"/>
                            </a:rPr>
                            <m:t>2</m:t>
                          </m:r>
                        </m:sup>
                      </m:sSubSup>
                      <m:r>
                        <a:rPr lang="en-US" altLang="zh-CN" sz="1600" b="0" i="1" smtClean="0">
                          <a:latin typeface="Cambria Math" panose="02040503050406030204" pitchFamily="18" charset="0"/>
                        </a:rPr>
                        <m:t>=4</m:t>
                      </m:r>
                      <m:r>
                        <a:rPr lang="en-US" altLang="zh-CN" sz="1600" b="0" i="1" smtClean="0">
                          <a:latin typeface="Cambria Math" panose="02040503050406030204" pitchFamily="18" charset="0"/>
                        </a:rPr>
                        <m:t>𝑘𝑇𝐺</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𝑓</m:t>
                      </m:r>
                    </m:oMath>
                  </m:oMathPara>
                </a14:m>
                <a:endParaRPr lang="zh-CN" altLang="en-US" sz="1600" dirty="0"/>
              </a:p>
            </p:txBody>
          </p:sp>
        </mc:Choice>
        <mc:Fallback xmlns="">
          <p:sp>
            <p:nvSpPr>
              <p:cNvPr id="9" name="文本框 8"/>
              <p:cNvSpPr txBox="1">
                <a:spLocks noRot="1" noChangeAspect="1" noMove="1" noResize="1" noEditPoints="1" noAdjustHandles="1" noChangeArrowheads="1" noChangeShapeType="1" noTextEdit="1"/>
              </p:cNvSpPr>
              <p:nvPr/>
            </p:nvSpPr>
            <p:spPr>
              <a:xfrm>
                <a:off x="4165991" y="2186482"/>
                <a:ext cx="1359795" cy="269817"/>
              </a:xfrm>
              <a:prstGeom prst="rect">
                <a:avLst/>
              </a:prstGeom>
              <a:blipFill>
                <a:blip r:embed="rId5"/>
                <a:stretch>
                  <a:fillRect l="-2242" r="-4036"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3821817" y="3563683"/>
                <a:ext cx="1635191" cy="2698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600" i="1" smtClean="0">
                              <a:latin typeface="Cambria Math" panose="02040503050406030204" pitchFamily="18" charset="0"/>
                            </a:rPr>
                          </m:ctrlPr>
                        </m:sSubSupPr>
                        <m:e>
                          <m:r>
                            <a:rPr lang="en-US" altLang="zh-CN" sz="1600" b="0" i="1" smtClean="0">
                              <a:latin typeface="Cambria Math" panose="02040503050406030204" pitchFamily="18" charset="0"/>
                            </a:rPr>
                            <m:t>𝑖</m:t>
                          </m:r>
                        </m:e>
                        <m:sub>
                          <m:r>
                            <a:rPr lang="en-US" altLang="zh-CN" sz="1600" b="0" i="1" smtClean="0">
                              <a:latin typeface="Cambria Math" panose="02040503050406030204" pitchFamily="18" charset="0"/>
                            </a:rPr>
                            <m:t>𝑛</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𝑀</m:t>
                          </m:r>
                        </m:sub>
                        <m:sup>
                          <m:r>
                            <a:rPr lang="en-US" altLang="zh-CN" sz="1600" b="0" i="1" smtClean="0">
                              <a:latin typeface="Cambria Math" panose="02040503050406030204" pitchFamily="18" charset="0"/>
                            </a:rPr>
                            <m:t>2</m:t>
                          </m:r>
                        </m:sup>
                      </m:sSubSup>
                      <m:r>
                        <a:rPr lang="en-US" altLang="zh-CN" sz="1600" b="0" i="1" smtClean="0">
                          <a:latin typeface="Cambria Math" panose="02040503050406030204" pitchFamily="18" charset="0"/>
                        </a:rPr>
                        <m:t>=4</m:t>
                      </m:r>
                      <m:r>
                        <a:rPr lang="en-US" altLang="zh-CN" sz="1600" b="0" i="1" smtClean="0">
                          <a:latin typeface="Cambria Math" panose="02040503050406030204" pitchFamily="18" charset="0"/>
                        </a:rPr>
                        <m:t>𝑘𝑇</m:t>
                      </m:r>
                      <m:r>
                        <a:rPr lang="zh-CN" altLang="en-US" sz="1600" b="0" i="1" smtClean="0">
                          <a:latin typeface="Cambria Math" panose="02040503050406030204" pitchFamily="18" charset="0"/>
                        </a:rPr>
                        <m:t>𝛾</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𝑔</m:t>
                          </m:r>
                        </m:e>
                        <m:sub>
                          <m:r>
                            <a:rPr lang="en-US" altLang="zh-CN" sz="1600" b="0" i="1" smtClean="0">
                              <a:latin typeface="Cambria Math" panose="02040503050406030204" pitchFamily="18" charset="0"/>
                            </a:rPr>
                            <m:t>𝑚</m:t>
                          </m:r>
                        </m:sub>
                      </m:sSub>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𝑓</m:t>
                      </m:r>
                    </m:oMath>
                  </m:oMathPara>
                </a14:m>
                <a:endParaRPr lang="zh-CN" altLang="en-US" sz="16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3821817" y="3563683"/>
                <a:ext cx="1635191" cy="269817"/>
              </a:xfrm>
              <a:prstGeom prst="rect">
                <a:avLst/>
              </a:prstGeom>
              <a:blipFill>
                <a:blip r:embed="rId6"/>
                <a:stretch>
                  <a:fillRect l="-2239" r="-2985"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5948438" y="2563094"/>
                <a:ext cx="458908" cy="2784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600" i="1" smtClean="0">
                              <a:latin typeface="Cambria Math" panose="02040503050406030204" pitchFamily="18" charset="0"/>
                            </a:rPr>
                          </m:ctrlPr>
                        </m:sSubSupPr>
                        <m:e>
                          <m:r>
                            <a:rPr lang="en-US" altLang="zh-CN" sz="1600" b="0" i="1" smtClean="0">
                              <a:latin typeface="Cambria Math" panose="02040503050406030204" pitchFamily="18" charset="0"/>
                            </a:rPr>
                            <m:t>𝑣</m:t>
                          </m:r>
                        </m:e>
                        <m:sub>
                          <m:r>
                            <a:rPr lang="en-US" altLang="zh-CN" sz="1600" b="0" i="1" smtClean="0">
                              <a:latin typeface="Cambria Math" panose="02040503050406030204" pitchFamily="18" charset="0"/>
                            </a:rPr>
                            <m:t>𝑛</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𝑖𝑛</m:t>
                          </m:r>
                        </m:sub>
                        <m:sup>
                          <m:r>
                            <a:rPr lang="en-US" altLang="zh-CN" sz="1600" b="0" i="1" smtClean="0">
                              <a:latin typeface="Cambria Math" panose="02040503050406030204" pitchFamily="18" charset="0"/>
                            </a:rPr>
                            <m:t>2</m:t>
                          </m:r>
                        </m:sup>
                      </m:sSubSup>
                    </m:oMath>
                  </m:oMathPara>
                </a14:m>
                <a:endParaRPr lang="zh-CN" altLang="en-US" sz="16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5948438" y="2563094"/>
                <a:ext cx="458908" cy="278410"/>
              </a:xfrm>
              <a:prstGeom prst="rect">
                <a:avLst/>
              </a:prstGeom>
              <a:blipFill>
                <a:blip r:embed="rId7"/>
                <a:stretch>
                  <a:fillRect l="-5333" r="-2667" b="-13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6027422" y="3235621"/>
                <a:ext cx="414409" cy="2784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600" i="1" smtClean="0">
                              <a:latin typeface="Cambria Math" panose="02040503050406030204" pitchFamily="18" charset="0"/>
                            </a:rPr>
                          </m:ctrlPr>
                        </m:sSubSupPr>
                        <m:e>
                          <m:r>
                            <a:rPr lang="en-US" altLang="zh-CN" sz="1600" b="0" i="1" smtClean="0">
                              <a:latin typeface="Cambria Math" panose="02040503050406030204" pitchFamily="18" charset="0"/>
                            </a:rPr>
                            <m:t>𝑖</m:t>
                          </m:r>
                        </m:e>
                        <m:sub>
                          <m:r>
                            <a:rPr lang="en-US" altLang="zh-CN" sz="1600" b="0" i="1" smtClean="0">
                              <a:latin typeface="Cambria Math" panose="02040503050406030204" pitchFamily="18" charset="0"/>
                            </a:rPr>
                            <m:t>𝑛</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𝑖𝑛</m:t>
                          </m:r>
                        </m:sub>
                        <m:sup>
                          <m:r>
                            <a:rPr lang="en-US" altLang="zh-CN" sz="1600" b="0" i="1" smtClean="0">
                              <a:latin typeface="Cambria Math" panose="02040503050406030204" pitchFamily="18" charset="0"/>
                            </a:rPr>
                            <m:t>2</m:t>
                          </m:r>
                        </m:sup>
                      </m:sSubSup>
                    </m:oMath>
                  </m:oMathPara>
                </a14:m>
                <a:endParaRPr lang="zh-CN" altLang="en-US" sz="16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6027422" y="3235621"/>
                <a:ext cx="414409" cy="278410"/>
              </a:xfrm>
              <a:prstGeom prst="rect">
                <a:avLst/>
              </a:prstGeom>
              <a:blipFill>
                <a:blip r:embed="rId8"/>
                <a:stretch>
                  <a:fillRect l="-10294" r="-2941" b="-15556"/>
                </a:stretch>
              </a:blipFill>
            </p:spPr>
            <p:txBody>
              <a:bodyPr/>
              <a:lstStyle/>
              <a:p>
                <a:r>
                  <a:rPr lang="zh-CN" altLang="en-US">
                    <a:noFill/>
                  </a:rPr>
                  <a:t> </a:t>
                </a:r>
              </a:p>
            </p:txBody>
          </p:sp>
        </mc:Fallback>
      </mc:AlternateContent>
      <p:sp>
        <p:nvSpPr>
          <p:cNvPr id="13" name="右箭头 12"/>
          <p:cNvSpPr/>
          <p:nvPr/>
        </p:nvSpPr>
        <p:spPr>
          <a:xfrm>
            <a:off x="5192151" y="2841504"/>
            <a:ext cx="264857" cy="3941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127506" y="4058190"/>
            <a:ext cx="1940560" cy="369332"/>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smtClean="0"/>
              <a:t>输入短路</a:t>
            </a:r>
            <a:endParaRPr lang="zh-CN" altLang="en-US" dirty="0"/>
          </a:p>
        </p:txBody>
      </p:sp>
      <mc:AlternateContent xmlns:mc="http://schemas.openxmlformats.org/markup-compatibility/2006" xmlns:a14="http://schemas.microsoft.com/office/drawing/2010/main">
        <mc:Choice Requires="a14">
          <p:sp>
            <p:nvSpPr>
              <p:cNvPr id="15" name="文本框 14"/>
              <p:cNvSpPr txBox="1"/>
              <p:nvPr/>
            </p:nvSpPr>
            <p:spPr>
              <a:xfrm>
                <a:off x="3068066" y="3886893"/>
                <a:ext cx="6219651" cy="649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𝑖𝑛</m:t>
                          </m:r>
                        </m:sub>
                        <m:sup>
                          <m:r>
                            <a:rPr lang="en-US" altLang="zh-CN" b="0" i="1" smtClean="0">
                              <a:latin typeface="Cambria Math" panose="02040503050406030204" pitchFamily="18" charset="0"/>
                            </a:rPr>
                            <m:t>2</m:t>
                          </m:r>
                        </m:sup>
                      </m:sSubSup>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up>
                          <m:r>
                            <a:rPr lang="en-US" altLang="zh-CN" b="0" i="1" smtClean="0">
                              <a:latin typeface="Cambria Math" panose="02040503050406030204" pitchFamily="18" charset="0"/>
                            </a:rPr>
                            <m:t>2</m:t>
                          </m:r>
                        </m:sup>
                      </m:sSubSup>
                      <m:f>
                        <m:fPr>
                          <m:ctrlPr>
                            <a:rPr lang="en-US" altLang="zh-CN" i="1" smtClean="0">
                              <a:latin typeface="Cambria Math" panose="02040503050406030204" pitchFamily="18" charset="0"/>
                            </a:rPr>
                          </m:ctrlPr>
                        </m:fPr>
                        <m:num>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up>
                              <m:r>
                                <a:rPr lang="en-US" altLang="zh-CN" b="0" i="1" smtClean="0">
                                  <a:latin typeface="Cambria Math" panose="02040503050406030204" pitchFamily="18" charset="0"/>
                                </a:rPr>
                                <m:t>2</m:t>
                              </m:r>
                            </m:sup>
                          </m:sSubSup>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r>
                                <a:rPr lang="zh-CN" altLang="en-US" b="0" i="1" smtClean="0">
                                  <a:latin typeface="Cambria Math" panose="02040503050406030204" pitchFamily="18" charset="0"/>
                                </a:rPr>
                                <m:t>𝜔</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𝐿</m:t>
                                  </m:r>
                                </m:sub>
                                <m:sup/>
                              </m:sSubSup>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up/>
                              </m:sSubSup>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den>
                      </m:f>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en-US" altLang="zh-CN" b="0" i="1" smtClean="0">
                          <a:latin typeface="Cambria Math" panose="02040503050406030204" pitchFamily="18" charset="0"/>
                        </a:rPr>
                        <m:t>(</m:t>
                      </m:r>
                      <m:r>
                        <a:rPr lang="zh-CN" altLang="en-US" b="0" i="1" smtClean="0">
                          <a:latin typeface="Cambria Math" panose="02040503050406030204" pitchFamily="18" charset="0"/>
                        </a:rPr>
                        <m:t>𝛾</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𝐺</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up>
                              <m:r>
                                <a:rPr lang="en-US" altLang="zh-CN" b="0" i="1" smtClean="0">
                                  <a:latin typeface="Cambria Math" panose="02040503050406030204" pitchFamily="18" charset="0"/>
                                </a:rPr>
                                <m:t>2</m:t>
                              </m:r>
                            </m:sup>
                          </m:sSubSup>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r>
                                <a:rPr lang="zh-CN" altLang="en-US" b="0" i="1" smtClean="0">
                                  <a:latin typeface="Cambria Math" panose="02040503050406030204" pitchFamily="18" charset="0"/>
                                </a:rPr>
                                <m:t>𝜔</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𝐿</m:t>
                                  </m:r>
                                </m:sub>
                                <m:sup/>
                              </m:sSubSup>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up/>
                              </m:sSubSup>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3068066" y="3886893"/>
                <a:ext cx="6219651" cy="649601"/>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4786964" y="4644634"/>
                <a:ext cx="2576924" cy="5854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𝑣</m:t>
                          </m:r>
                        </m:e>
                        <m:sub>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𝑖𝑛</m:t>
                          </m:r>
                        </m:sub>
                        <m:sup>
                          <m:r>
                            <a:rPr lang="en-US" altLang="zh-CN" i="1">
                              <a:latin typeface="Cambria Math" panose="02040503050406030204" pitchFamily="18" charset="0"/>
                            </a:rPr>
                            <m:t>2</m:t>
                          </m:r>
                        </m:sup>
                      </m:sSub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en-US" altLang="zh-CN" b="0" i="1" smtClean="0">
                              <a:latin typeface="Cambria Math" panose="02040503050406030204" pitchFamily="18" charset="0"/>
                            </a:rPr>
                            <m:t>(</m:t>
                          </m:r>
                          <m:r>
                            <a:rPr lang="zh-CN" altLang="en-US" b="0" i="1" smtClean="0">
                              <a:latin typeface="Cambria Math" panose="02040503050406030204" pitchFamily="18" charset="0"/>
                            </a:rPr>
                            <m:t>𝛾</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𝐺</m:t>
                          </m:r>
                          <m:r>
                            <a:rPr lang="en-US" altLang="zh-CN" b="0" i="1" smtClean="0">
                              <a:latin typeface="Cambria Math" panose="02040503050406030204" pitchFamily="18" charset="0"/>
                            </a:rPr>
                            <m:t>)</m:t>
                          </m:r>
                        </m:num>
                        <m:den>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up>
                              <m:r>
                                <a:rPr lang="en-US" altLang="zh-CN" b="0" i="1" smtClean="0">
                                  <a:latin typeface="Cambria Math" panose="02040503050406030204" pitchFamily="18" charset="0"/>
                                </a:rPr>
                                <m:t>2</m:t>
                              </m:r>
                            </m:sup>
                          </m:sSubSup>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16" name="文本框 15"/>
              <p:cNvSpPr txBox="1">
                <a:spLocks noRot="1" noChangeAspect="1" noMove="1" noResize="1" noEditPoints="1" noAdjustHandles="1" noChangeArrowheads="1" noChangeShapeType="1" noTextEdit="1"/>
              </p:cNvSpPr>
              <p:nvPr/>
            </p:nvSpPr>
            <p:spPr>
              <a:xfrm>
                <a:off x="4786964" y="4644634"/>
                <a:ext cx="2576924" cy="585481"/>
              </a:xfrm>
              <a:prstGeom prst="rect">
                <a:avLst/>
              </a:prstGeom>
              <a:blipFill>
                <a:blip r:embed="rId10"/>
                <a:stretch>
                  <a:fillRect/>
                </a:stretch>
              </a:blipFill>
            </p:spPr>
            <p:txBody>
              <a:bodyPr/>
              <a:lstStyle/>
              <a:p>
                <a:r>
                  <a:rPr lang="zh-CN" altLang="en-US">
                    <a:noFill/>
                  </a:rPr>
                  <a:t> </a:t>
                </a:r>
              </a:p>
            </p:txBody>
          </p:sp>
        </mc:Fallback>
      </mc:AlternateContent>
      <p:sp>
        <p:nvSpPr>
          <p:cNvPr id="17" name="文本框 16"/>
          <p:cNvSpPr txBox="1"/>
          <p:nvPr/>
        </p:nvSpPr>
        <p:spPr>
          <a:xfrm>
            <a:off x="1127506" y="5177814"/>
            <a:ext cx="1940560" cy="369332"/>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smtClean="0"/>
              <a:t>输入</a:t>
            </a:r>
            <a:r>
              <a:rPr lang="zh-CN" altLang="en-US" dirty="0"/>
              <a:t>开</a:t>
            </a:r>
            <a:r>
              <a:rPr lang="zh-CN" altLang="en-US" dirty="0" smtClean="0"/>
              <a:t>路</a:t>
            </a:r>
            <a:endParaRPr lang="zh-CN" altLang="en-US" dirty="0"/>
          </a:p>
        </p:txBody>
      </p:sp>
      <mc:AlternateContent xmlns:mc="http://schemas.openxmlformats.org/markup-compatibility/2006" xmlns:a14="http://schemas.microsoft.com/office/drawing/2010/main">
        <mc:Choice Requires="a14">
          <p:sp>
            <p:nvSpPr>
              <p:cNvPr id="18" name="文本框 17"/>
              <p:cNvSpPr txBox="1"/>
              <p:nvPr/>
            </p:nvSpPr>
            <p:spPr>
              <a:xfrm>
                <a:off x="3068066" y="5156128"/>
                <a:ext cx="7035452" cy="9329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𝑖𝑛</m:t>
                          </m:r>
                        </m:sub>
                        <m:sup>
                          <m:r>
                            <a:rPr lang="en-US" altLang="zh-CN" b="0" i="1" smtClean="0">
                              <a:latin typeface="Cambria Math" panose="02040503050406030204" pitchFamily="18" charset="0"/>
                            </a:rPr>
                            <m:t>2</m:t>
                          </m:r>
                        </m:sup>
                      </m:sSubSup>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m:t>
                              </m:r>
                              <m:r>
                                <a:rPr lang="zh-CN" altLang="en-US" b="0" i="1" smtClean="0">
                                  <a:latin typeface="Cambria Math" panose="02040503050406030204" pitchFamily="18" charset="0"/>
                                </a:rPr>
                                <m:t>𝜔</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𝑖𝑛</m:t>
                                  </m:r>
                                </m:sub>
                                <m:sup/>
                              </m:sSubSup>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den>
                      </m:f>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up>
                          <m:r>
                            <a:rPr lang="en-US" altLang="zh-CN" b="0" i="1" smtClean="0">
                              <a:latin typeface="Cambria Math" panose="02040503050406030204" pitchFamily="18" charset="0"/>
                            </a:rPr>
                            <m:t>2</m:t>
                          </m:r>
                        </m:sup>
                      </m:sSubSup>
                      <m:f>
                        <m:fPr>
                          <m:ctrlPr>
                            <a:rPr lang="en-US" altLang="zh-CN" i="1" smtClean="0">
                              <a:latin typeface="Cambria Math" panose="02040503050406030204" pitchFamily="18" charset="0"/>
                            </a:rPr>
                          </m:ctrlPr>
                        </m:fPr>
                        <m:num>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up>
                              <m:r>
                                <a:rPr lang="en-US" altLang="zh-CN" b="0" i="1" smtClean="0">
                                  <a:latin typeface="Cambria Math" panose="02040503050406030204" pitchFamily="18" charset="0"/>
                                </a:rPr>
                                <m:t>2</m:t>
                              </m:r>
                            </m:sup>
                          </m:sSubSup>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r>
                                <a:rPr lang="zh-CN" altLang="en-US" b="0" i="1" smtClean="0">
                                  <a:latin typeface="Cambria Math" panose="02040503050406030204" pitchFamily="18" charset="0"/>
                                </a:rPr>
                                <m:t>𝜔</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𝐶</m:t>
                                  </m:r>
                                </m:e>
                                <m:sub>
                                  <m:r>
                                    <a:rPr lang="en-US" altLang="zh-CN" i="1">
                                      <a:latin typeface="Cambria Math" panose="02040503050406030204" pitchFamily="18" charset="0"/>
                                    </a:rPr>
                                    <m:t>𝐿</m:t>
                                  </m:r>
                                </m:sub>
                                <m:sup/>
                              </m:sSubSup>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𝑅</m:t>
                                  </m:r>
                                </m:e>
                                <m:sub>
                                  <m:r>
                                    <a:rPr lang="en-US" altLang="zh-CN" i="1">
                                      <a:latin typeface="Cambria Math" panose="02040503050406030204" pitchFamily="18" charset="0"/>
                                    </a:rPr>
                                    <m:t>𝑜𝑢𝑡</m:t>
                                  </m:r>
                                </m:sub>
                                <m:sup/>
                              </m:sSubSup>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den>
                      </m:f>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en-US" altLang="zh-CN" i="1">
                          <a:latin typeface="Cambria Math" panose="02040503050406030204" pitchFamily="18" charset="0"/>
                        </a:rPr>
                        <m:t>(</m:t>
                      </m:r>
                      <m:r>
                        <a:rPr lang="zh-CN" altLang="en-US" i="1">
                          <a:latin typeface="Cambria Math" panose="02040503050406030204" pitchFamily="18" charset="0"/>
                        </a:rPr>
                        <m:t>𝛾</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𝑚</m:t>
                          </m:r>
                        </m:sub>
                      </m:sSub>
                      <m:r>
                        <a:rPr lang="en-US" altLang="zh-CN" i="1">
                          <a:latin typeface="Cambria Math" panose="02040503050406030204" pitchFamily="18" charset="0"/>
                        </a:rPr>
                        <m:t>+</m:t>
                      </m:r>
                      <m:r>
                        <a:rPr lang="en-US" altLang="zh-CN" i="1">
                          <a:latin typeface="Cambria Math" panose="02040503050406030204" pitchFamily="18" charset="0"/>
                        </a:rPr>
                        <m:t>𝐺</m:t>
                      </m:r>
                      <m:r>
                        <a:rPr lang="en-US" altLang="zh-CN" i="1">
                          <a:latin typeface="Cambria Math" panose="02040503050406030204" pitchFamily="18" charset="0"/>
                        </a:rPr>
                        <m:t>)</m:t>
                      </m:r>
                      <m:f>
                        <m:fPr>
                          <m:ctrlPr>
                            <a:rPr lang="en-US" altLang="zh-CN" i="1">
                              <a:latin typeface="Cambria Math" panose="02040503050406030204" pitchFamily="18" charset="0"/>
                            </a:rPr>
                          </m:ctrlPr>
                        </m:fPr>
                        <m:num>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𝑅</m:t>
                              </m:r>
                            </m:e>
                            <m:sub>
                              <m:r>
                                <a:rPr lang="en-US" altLang="zh-CN" i="1">
                                  <a:latin typeface="Cambria Math" panose="02040503050406030204" pitchFamily="18" charset="0"/>
                                </a:rPr>
                                <m:t>𝑜𝑢𝑡</m:t>
                              </m:r>
                            </m:sub>
                            <m:sup>
                              <m:r>
                                <a:rPr lang="en-US" altLang="zh-CN" i="1">
                                  <a:latin typeface="Cambria Math" panose="02040503050406030204" pitchFamily="18" charset="0"/>
                                </a:rPr>
                                <m:t>2</m:t>
                              </m:r>
                            </m:sup>
                          </m:sSubSup>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a:rPr lang="zh-CN" altLang="en-US" i="1">
                                  <a:latin typeface="Cambria Math" panose="02040503050406030204" pitchFamily="18" charset="0"/>
                                </a:rPr>
                                <m:t>𝜔</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𝐶</m:t>
                                  </m:r>
                                </m:e>
                                <m:sub>
                                  <m:r>
                                    <a:rPr lang="en-US" altLang="zh-CN" i="1">
                                      <a:latin typeface="Cambria Math" panose="02040503050406030204" pitchFamily="18" charset="0"/>
                                    </a:rPr>
                                    <m:t>𝐿</m:t>
                                  </m:r>
                                </m:sub>
                                <m:sup/>
                              </m:sSubSup>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𝑅</m:t>
                                  </m:r>
                                </m:e>
                                <m:sub>
                                  <m:r>
                                    <a:rPr lang="en-US" altLang="zh-CN" i="1">
                                      <a:latin typeface="Cambria Math" panose="02040503050406030204" pitchFamily="18" charset="0"/>
                                    </a:rPr>
                                    <m:t>𝑜𝑢𝑡</m:t>
                                  </m:r>
                                </m:sub>
                                <m:sup/>
                              </m:sSubSup>
                              <m:r>
                                <a:rPr lang="en-US" altLang="zh-CN" i="1">
                                  <a:latin typeface="Cambria Math" panose="02040503050406030204" pitchFamily="18" charset="0"/>
                                </a:rPr>
                                <m:t>)</m:t>
                              </m:r>
                            </m:e>
                            <m:sup>
                              <m:r>
                                <a:rPr lang="en-US" altLang="zh-CN" i="1">
                                  <a:latin typeface="Cambria Math" panose="02040503050406030204" pitchFamily="18" charset="0"/>
                                </a:rPr>
                                <m:t>2</m:t>
                              </m:r>
                            </m:sup>
                          </m:sSup>
                        </m:den>
                      </m:f>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𝑓</m:t>
                      </m:r>
                    </m:oMath>
                  </m:oMathPara>
                </a14:m>
                <a:endParaRPr lang="zh-CN" altLang="en-US" dirty="0"/>
              </a:p>
              <a:p>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3068066" y="5156128"/>
                <a:ext cx="7035452" cy="932948"/>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5257331" y="5802040"/>
                <a:ext cx="3315780" cy="5854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𝑖</m:t>
                          </m:r>
                        </m:e>
                        <m:sub>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𝑖𝑛</m:t>
                          </m:r>
                        </m:sub>
                        <m:sup>
                          <m:r>
                            <a:rPr lang="en-US" altLang="zh-CN" i="1">
                              <a:latin typeface="Cambria Math" panose="02040503050406030204" pitchFamily="18" charset="0"/>
                            </a:rPr>
                            <m:t>2</m:t>
                          </m:r>
                        </m:sup>
                      </m:sSub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r>
                            <a:rPr lang="zh-CN" altLang="en-US" b="0" i="1" smtClean="0">
                              <a:latin typeface="Cambria Math" panose="02040503050406030204" pitchFamily="18" charset="0"/>
                            </a:rPr>
                            <m:t>𝜔</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𝑖𝑛</m:t>
                              </m:r>
                            </m:sub>
                            <m:sup/>
                          </m:sSubSup>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en-US" altLang="zh-CN" b="0" i="1" smtClean="0">
                              <a:latin typeface="Cambria Math" panose="02040503050406030204" pitchFamily="18" charset="0"/>
                            </a:rPr>
                            <m:t>(</m:t>
                          </m:r>
                          <m:r>
                            <a:rPr lang="zh-CN" altLang="en-US" b="0" i="1" smtClean="0">
                              <a:latin typeface="Cambria Math" panose="02040503050406030204" pitchFamily="18" charset="0"/>
                            </a:rPr>
                            <m:t>𝛾</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𝐺</m:t>
                          </m:r>
                          <m:r>
                            <a:rPr lang="en-US" altLang="zh-CN" b="0" i="1" smtClean="0">
                              <a:latin typeface="Cambria Math" panose="02040503050406030204" pitchFamily="18" charset="0"/>
                            </a:rPr>
                            <m:t>)</m:t>
                          </m:r>
                        </m:num>
                        <m:den>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up>
                              <m:r>
                                <a:rPr lang="en-US" altLang="zh-CN" b="0" i="1" smtClean="0">
                                  <a:latin typeface="Cambria Math" panose="02040503050406030204" pitchFamily="18" charset="0"/>
                                </a:rPr>
                                <m:t>2</m:t>
                              </m:r>
                            </m:sup>
                          </m:sSubSup>
                        </m:den>
                      </m:f>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19" name="文本框 18"/>
              <p:cNvSpPr txBox="1">
                <a:spLocks noRot="1" noChangeAspect="1" noMove="1" noResize="1" noEditPoints="1" noAdjustHandles="1" noChangeArrowheads="1" noChangeShapeType="1" noTextEdit="1"/>
              </p:cNvSpPr>
              <p:nvPr/>
            </p:nvSpPr>
            <p:spPr>
              <a:xfrm>
                <a:off x="5257331" y="5802040"/>
                <a:ext cx="3315780" cy="585481"/>
              </a:xfrm>
              <a:prstGeom prst="rect">
                <a:avLst/>
              </a:prstGeom>
              <a:blipFill>
                <a:blip r:embed="rId1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43053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电路中的噪声表示</a:t>
            </a:r>
          </a:p>
        </p:txBody>
      </p:sp>
      <p:sp>
        <p:nvSpPr>
          <p:cNvPr id="3" name="内容占位符 2"/>
          <p:cNvSpPr>
            <a:spLocks noGrp="1"/>
          </p:cNvSpPr>
          <p:nvPr>
            <p:ph idx="1"/>
          </p:nvPr>
        </p:nvSpPr>
        <p:spPr/>
        <p:txBody>
          <a:bodyPr/>
          <a:lstStyle/>
          <a:p>
            <a:r>
              <a:rPr lang="zh-CN" altLang="en-US" dirty="0"/>
              <a:t>等效</a:t>
            </a:r>
            <a:r>
              <a:rPr lang="zh-CN" altLang="en-US" dirty="0" smtClean="0"/>
              <a:t>输入噪声计算（举例）</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29</a:t>
            </a:fld>
            <a:endParaRPr lang="zh-CN" altLang="en-US"/>
          </a:p>
        </p:txBody>
      </p:sp>
      <p:pic>
        <p:nvPicPr>
          <p:cNvPr id="6" name="图片 5"/>
          <p:cNvPicPr>
            <a:picLocks noChangeAspect="1"/>
          </p:cNvPicPr>
          <p:nvPr/>
        </p:nvPicPr>
        <p:blipFill>
          <a:blip r:embed="rId3"/>
          <a:stretch>
            <a:fillRect/>
          </a:stretch>
        </p:blipFill>
        <p:spPr>
          <a:xfrm>
            <a:off x="3547110" y="1870075"/>
            <a:ext cx="3808730" cy="2306696"/>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6991385" y="2197002"/>
                <a:ext cx="15756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𝐿</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𝑟</m:t>
                          </m:r>
                        </m:e>
                        <m:sub>
                          <m:r>
                            <a:rPr lang="en-US" altLang="zh-CN" b="0" i="1" smtClean="0">
                              <a:latin typeface="Cambria Math" panose="02040503050406030204" pitchFamily="18" charset="0"/>
                              <a:ea typeface="Cambria Math" panose="02040503050406030204" pitchFamily="18" charset="0"/>
                            </a:rPr>
                            <m:t>𝑜</m:t>
                          </m:r>
                        </m:sub>
                      </m:sSub>
                    </m:oMath>
                  </m:oMathPara>
                </a14:m>
                <a:endParaRPr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6991385" y="2197002"/>
                <a:ext cx="1575623" cy="276999"/>
              </a:xfrm>
              <a:prstGeom prst="rect">
                <a:avLst/>
              </a:prstGeom>
              <a:blipFill>
                <a:blip r:embed="rId4"/>
                <a:stretch>
                  <a:fillRect l="-3101" t="-2174" b="-326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7281527" y="3023423"/>
                <a:ext cx="1529971" cy="3035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=4</m:t>
                      </m:r>
                      <m:r>
                        <a:rPr lang="en-US" altLang="zh-CN" b="0" i="1" smtClean="0">
                          <a:latin typeface="Cambria Math" panose="02040503050406030204" pitchFamily="18" charset="0"/>
                        </a:rPr>
                        <m:t>𝑘𝑇𝐺</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7281527" y="3023423"/>
                <a:ext cx="1529971" cy="303545"/>
              </a:xfrm>
              <a:prstGeom prst="rect">
                <a:avLst/>
              </a:prstGeom>
              <a:blipFill>
                <a:blip r:embed="rId5"/>
                <a:stretch>
                  <a:fillRect l="-3187" r="-4382" b="-2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4531159" y="3462083"/>
                <a:ext cx="1840632" cy="3035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zh-CN" altLang="en-US" b="0" i="1" smtClean="0">
                          <a:latin typeface="Cambria Math" panose="02040503050406030204" pitchFamily="18" charset="0"/>
                        </a:rPr>
                        <m:t>𝛾</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4531159" y="3462083"/>
                <a:ext cx="1840632" cy="303545"/>
              </a:xfrm>
              <a:prstGeom prst="rect">
                <a:avLst/>
              </a:prstGeom>
              <a:blipFill>
                <a:blip r:embed="rId6"/>
                <a:stretch>
                  <a:fillRect l="-2649" r="-3642" b="-26000"/>
                </a:stretch>
              </a:blipFill>
            </p:spPr>
            <p:txBody>
              <a:bodyPr/>
              <a:lstStyle/>
              <a:p>
                <a:r>
                  <a:rPr lang="zh-CN" altLang="en-US">
                    <a:noFill/>
                  </a:rPr>
                  <a:t> </a:t>
                </a:r>
              </a:p>
            </p:txBody>
          </p:sp>
        </mc:Fallback>
      </mc:AlternateContent>
      <p:sp>
        <p:nvSpPr>
          <p:cNvPr id="10" name="文本框 9"/>
          <p:cNvSpPr txBox="1"/>
          <p:nvPr/>
        </p:nvSpPr>
        <p:spPr>
          <a:xfrm>
            <a:off x="1188720" y="4328160"/>
            <a:ext cx="8219440" cy="400110"/>
          </a:xfrm>
          <a:prstGeom prst="rect">
            <a:avLst/>
          </a:prstGeom>
          <a:noFill/>
        </p:spPr>
        <p:txBody>
          <a:bodyPr wrap="square" rtlCol="0">
            <a:spAutoFit/>
          </a:bodyPr>
          <a:lstStyle/>
          <a:p>
            <a:pPr marL="285750" indent="-285750">
              <a:buFont typeface="Wingdings" panose="05000000000000000000" pitchFamily="2" charset="2"/>
              <a:buChar char="l"/>
            </a:pPr>
            <a:r>
              <a:rPr lang="en-US" altLang="zh-CN" sz="2000" dirty="0" smtClean="0"/>
              <a:t>M</a:t>
            </a:r>
            <a:r>
              <a:rPr lang="en-US" altLang="zh-CN" sz="2000" baseline="-25000" dirty="0" smtClean="0"/>
              <a:t>1</a:t>
            </a:r>
            <a:r>
              <a:rPr lang="zh-CN" altLang="en-US" sz="2000" dirty="0" smtClean="0"/>
              <a:t>管工作在饱和区，首先令输入短路，计算等效输入噪声电压。</a:t>
            </a:r>
            <a:endParaRPr lang="zh-CN" altLang="en-US" sz="2000" dirty="0"/>
          </a:p>
        </p:txBody>
      </p:sp>
      <p:graphicFrame>
        <p:nvGraphicFramePr>
          <p:cNvPr id="12" name="对象 11"/>
          <p:cNvGraphicFramePr>
            <a:graphicFrameLocks noChangeAspect="1"/>
          </p:cNvGraphicFramePr>
          <p:nvPr>
            <p:extLst>
              <p:ext uri="{D42A27DB-BD31-4B8C-83A1-F6EECF244321}">
                <p14:modId xmlns:p14="http://schemas.microsoft.com/office/powerpoint/2010/main" val="1942360782"/>
              </p:ext>
            </p:extLst>
          </p:nvPr>
        </p:nvGraphicFramePr>
        <p:xfrm>
          <a:off x="1765300" y="4871279"/>
          <a:ext cx="3686175" cy="969962"/>
        </p:xfrm>
        <a:graphic>
          <a:graphicData uri="http://schemas.openxmlformats.org/presentationml/2006/ole">
            <mc:AlternateContent xmlns:mc="http://schemas.openxmlformats.org/markup-compatibility/2006">
              <mc:Choice xmlns:v="urn:schemas-microsoft-com:vml" Requires="v">
                <p:oleObj spid="_x0000_s22724" name="Equation" r:id="rId7" imgW="1904760" imgH="507960" progId="Equation.DSMT4">
                  <p:embed/>
                </p:oleObj>
              </mc:Choice>
              <mc:Fallback>
                <p:oleObj name="Equation" r:id="rId7" imgW="1904760" imgH="507960" progId="Equation.DSMT4">
                  <p:embed/>
                  <p:pic>
                    <p:nvPicPr>
                      <p:cNvPr id="2" name="对象 1"/>
                      <p:cNvPicPr>
                        <a:picLocks noChangeAspect="1" noChangeArrowheads="1"/>
                      </p:cNvPicPr>
                      <p:nvPr/>
                    </p:nvPicPr>
                    <p:blipFill>
                      <a:blip r:embed="rId8"/>
                      <a:srcRect/>
                      <a:stretch>
                        <a:fillRect/>
                      </a:stretch>
                    </p:blipFill>
                    <p:spPr bwMode="auto">
                      <a:xfrm>
                        <a:off x="1765300" y="4871279"/>
                        <a:ext cx="3686175" cy="969962"/>
                      </a:xfrm>
                      <a:prstGeom prst="rect">
                        <a:avLst/>
                      </a:prstGeom>
                      <a:noFill/>
                      <a:ln>
                        <a:noFill/>
                      </a:ln>
                    </p:spPr>
                  </p:pic>
                </p:oleObj>
              </mc:Fallback>
            </mc:AlternateContent>
          </a:graphicData>
        </a:graphic>
      </p:graphicFrame>
      <p:sp>
        <p:nvSpPr>
          <p:cNvPr id="13" name="文本框 12"/>
          <p:cNvSpPr txBox="1"/>
          <p:nvPr/>
        </p:nvSpPr>
        <p:spPr>
          <a:xfrm>
            <a:off x="2388870" y="5942568"/>
            <a:ext cx="2316480" cy="369332"/>
          </a:xfrm>
          <a:prstGeom prst="rect">
            <a:avLst/>
          </a:prstGeom>
          <a:noFill/>
        </p:spPr>
        <p:txBody>
          <a:bodyPr wrap="square" rtlCol="0">
            <a:spAutoFit/>
          </a:bodyPr>
          <a:lstStyle/>
          <a:p>
            <a:r>
              <a:rPr lang="zh-CN" altLang="en-US" dirty="0" smtClean="0"/>
              <a:t>输入等效噪声电压</a:t>
            </a:r>
            <a:endParaRPr lang="zh-CN" altLang="en-US" dirty="0"/>
          </a:p>
        </p:txBody>
      </p:sp>
      <p:graphicFrame>
        <p:nvGraphicFramePr>
          <p:cNvPr id="14" name="对象 13"/>
          <p:cNvGraphicFramePr>
            <a:graphicFrameLocks noChangeAspect="1"/>
          </p:cNvGraphicFramePr>
          <p:nvPr>
            <p:extLst>
              <p:ext uri="{D42A27DB-BD31-4B8C-83A1-F6EECF244321}">
                <p14:modId xmlns:p14="http://schemas.microsoft.com/office/powerpoint/2010/main" val="1221894799"/>
              </p:ext>
            </p:extLst>
          </p:nvPr>
        </p:nvGraphicFramePr>
        <p:xfrm>
          <a:off x="6096000" y="4789487"/>
          <a:ext cx="3833813" cy="969963"/>
        </p:xfrm>
        <a:graphic>
          <a:graphicData uri="http://schemas.openxmlformats.org/presentationml/2006/ole">
            <mc:AlternateContent xmlns:mc="http://schemas.openxmlformats.org/markup-compatibility/2006">
              <mc:Choice xmlns:v="urn:schemas-microsoft-com:vml" Requires="v">
                <p:oleObj spid="_x0000_s22725" name="Equation" r:id="rId9" imgW="1981080" imgH="507960" progId="Equation.DSMT4">
                  <p:embed/>
                </p:oleObj>
              </mc:Choice>
              <mc:Fallback>
                <p:oleObj name="Equation" r:id="rId9" imgW="1981080" imgH="507960" progId="Equation.DSMT4">
                  <p:embed/>
                  <p:pic>
                    <p:nvPicPr>
                      <p:cNvPr id="6" name="对象 5"/>
                      <p:cNvPicPr>
                        <a:picLocks noChangeAspect="1" noChangeArrowheads="1"/>
                      </p:cNvPicPr>
                      <p:nvPr/>
                    </p:nvPicPr>
                    <p:blipFill>
                      <a:blip r:embed="rId10"/>
                      <a:srcRect/>
                      <a:stretch>
                        <a:fillRect/>
                      </a:stretch>
                    </p:blipFill>
                    <p:spPr bwMode="auto">
                      <a:xfrm>
                        <a:off x="6096000" y="4789487"/>
                        <a:ext cx="3833813"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文本框 14"/>
          <p:cNvSpPr txBox="1"/>
          <p:nvPr/>
        </p:nvSpPr>
        <p:spPr>
          <a:xfrm>
            <a:off x="1206500" y="5171594"/>
            <a:ext cx="558800" cy="400110"/>
          </a:xfrm>
          <a:prstGeom prst="rect">
            <a:avLst/>
          </a:prstGeom>
          <a:noFill/>
        </p:spPr>
        <p:txBody>
          <a:bodyPr wrap="square" rtlCol="0">
            <a:spAutoFit/>
          </a:bodyPr>
          <a:lstStyle/>
          <a:p>
            <a:r>
              <a:rPr lang="en-US" altLang="zh-CN" sz="2000" dirty="0" smtClean="0"/>
              <a:t>(1)</a:t>
            </a:r>
            <a:endParaRPr lang="zh-CN" altLang="en-US" sz="2000" dirty="0"/>
          </a:p>
        </p:txBody>
      </p:sp>
      <p:sp>
        <p:nvSpPr>
          <p:cNvPr id="16" name="文本框 15"/>
          <p:cNvSpPr txBox="1"/>
          <p:nvPr/>
        </p:nvSpPr>
        <p:spPr>
          <a:xfrm>
            <a:off x="5604668" y="5156205"/>
            <a:ext cx="558800" cy="400110"/>
          </a:xfrm>
          <a:prstGeom prst="rect">
            <a:avLst/>
          </a:prstGeom>
          <a:noFill/>
        </p:spPr>
        <p:txBody>
          <a:bodyPr wrap="square" rtlCol="0">
            <a:spAutoFit/>
          </a:bodyPr>
          <a:lstStyle/>
          <a:p>
            <a:r>
              <a:rPr lang="en-US" altLang="zh-CN" sz="2000" dirty="0" smtClean="0"/>
              <a:t>(2)</a:t>
            </a:r>
            <a:endParaRPr lang="zh-CN" altLang="en-US" sz="2000" dirty="0"/>
          </a:p>
        </p:txBody>
      </p:sp>
      <p:sp>
        <p:nvSpPr>
          <p:cNvPr id="17" name="文本框 16"/>
          <p:cNvSpPr txBox="1"/>
          <p:nvPr/>
        </p:nvSpPr>
        <p:spPr>
          <a:xfrm>
            <a:off x="6393381" y="5942568"/>
            <a:ext cx="2316480" cy="369332"/>
          </a:xfrm>
          <a:prstGeom prst="rect">
            <a:avLst/>
          </a:prstGeom>
          <a:noFill/>
        </p:spPr>
        <p:txBody>
          <a:bodyPr wrap="square" rtlCol="0">
            <a:spAutoFit/>
          </a:bodyPr>
          <a:lstStyle/>
          <a:p>
            <a:r>
              <a:rPr lang="zh-CN" altLang="en-US" dirty="0" smtClean="0"/>
              <a:t>实际输出噪声电压</a:t>
            </a:r>
            <a:endParaRPr lang="zh-CN" altLang="en-US" dirty="0"/>
          </a:p>
        </p:txBody>
      </p:sp>
    </p:spTree>
    <p:extLst>
      <p:ext uri="{BB962C8B-B14F-4D97-AF65-F5344CB8AC3E}">
        <p14:creationId xmlns:p14="http://schemas.microsoft.com/office/powerpoint/2010/main" val="3578161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电路中的噪声表示</a:t>
            </a:r>
          </a:p>
        </p:txBody>
      </p:sp>
      <p:sp>
        <p:nvSpPr>
          <p:cNvPr id="3" name="内容占位符 2"/>
          <p:cNvSpPr>
            <a:spLocks noGrp="1"/>
          </p:cNvSpPr>
          <p:nvPr>
            <p:ph idx="1"/>
          </p:nvPr>
        </p:nvSpPr>
        <p:spPr/>
        <p:txBody>
          <a:bodyPr/>
          <a:lstStyle/>
          <a:p>
            <a:r>
              <a:rPr lang="zh-CN" altLang="en-US" dirty="0"/>
              <a:t>等效输入噪声计算（</a:t>
            </a:r>
            <a:r>
              <a:rPr lang="zh-CN" altLang="en-US" dirty="0" smtClean="0"/>
              <a:t>举例，续）</a:t>
            </a:r>
            <a:endParaRPr lang="zh-CN" altLang="en-US" dirty="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30</a:t>
            </a:fld>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3939474756"/>
              </p:ext>
            </p:extLst>
          </p:nvPr>
        </p:nvGraphicFramePr>
        <p:xfrm>
          <a:off x="1684020" y="2437130"/>
          <a:ext cx="3686175" cy="969962"/>
        </p:xfrm>
        <a:graphic>
          <a:graphicData uri="http://schemas.openxmlformats.org/presentationml/2006/ole">
            <mc:AlternateContent xmlns:mc="http://schemas.openxmlformats.org/markup-compatibility/2006">
              <mc:Choice xmlns:v="urn:schemas-microsoft-com:vml" Requires="v">
                <p:oleObj spid="_x0000_s24115" name="Equation" r:id="rId3" imgW="1904760" imgH="507960" progId="Equation.DSMT4">
                  <p:embed/>
                </p:oleObj>
              </mc:Choice>
              <mc:Fallback>
                <p:oleObj name="Equation" r:id="rId3" imgW="1904760" imgH="507960" progId="Equation.DSMT4">
                  <p:embed/>
                  <p:pic>
                    <p:nvPicPr>
                      <p:cNvPr id="2" name="对象 1"/>
                      <p:cNvPicPr>
                        <a:picLocks noChangeAspect="1" noChangeArrowheads="1"/>
                      </p:cNvPicPr>
                      <p:nvPr/>
                    </p:nvPicPr>
                    <p:blipFill>
                      <a:blip r:embed="rId4"/>
                      <a:srcRect/>
                      <a:stretch>
                        <a:fillRect/>
                      </a:stretch>
                    </p:blipFill>
                    <p:spPr bwMode="auto">
                      <a:xfrm>
                        <a:off x="1684020" y="2437130"/>
                        <a:ext cx="3686175" cy="969962"/>
                      </a:xfrm>
                      <a:prstGeom prst="rect">
                        <a:avLst/>
                      </a:prstGeom>
                      <a:noFill/>
                      <a:ln>
                        <a:noFill/>
                      </a:ln>
                    </p:spPr>
                  </p:pic>
                </p:oleObj>
              </mc:Fallback>
            </mc:AlternateContent>
          </a:graphicData>
        </a:graphic>
      </p:graphicFrame>
      <p:sp>
        <p:nvSpPr>
          <p:cNvPr id="7" name="左右箭头 6"/>
          <p:cNvSpPr/>
          <p:nvPr/>
        </p:nvSpPr>
        <p:spPr>
          <a:xfrm>
            <a:off x="5608320" y="2790031"/>
            <a:ext cx="487680" cy="26416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4057957503"/>
              </p:ext>
            </p:extLst>
          </p:nvPr>
        </p:nvGraphicFramePr>
        <p:xfrm>
          <a:off x="6577647" y="2431176"/>
          <a:ext cx="3833813" cy="969963"/>
        </p:xfrm>
        <a:graphic>
          <a:graphicData uri="http://schemas.openxmlformats.org/presentationml/2006/ole">
            <mc:AlternateContent xmlns:mc="http://schemas.openxmlformats.org/markup-compatibility/2006">
              <mc:Choice xmlns:v="urn:schemas-microsoft-com:vml" Requires="v">
                <p:oleObj spid="_x0000_s24116" name="Equation" r:id="rId5" imgW="1981080" imgH="507960" progId="Equation.DSMT4">
                  <p:embed/>
                </p:oleObj>
              </mc:Choice>
              <mc:Fallback>
                <p:oleObj name="Equation" r:id="rId5" imgW="1981080" imgH="507960" progId="Equation.DSMT4">
                  <p:embed/>
                  <p:pic>
                    <p:nvPicPr>
                      <p:cNvPr id="6" name="对象 5"/>
                      <p:cNvPicPr>
                        <a:picLocks noChangeAspect="1" noChangeArrowheads="1"/>
                      </p:cNvPicPr>
                      <p:nvPr/>
                    </p:nvPicPr>
                    <p:blipFill>
                      <a:blip r:embed="rId6"/>
                      <a:srcRect/>
                      <a:stretch>
                        <a:fillRect/>
                      </a:stretch>
                    </p:blipFill>
                    <p:spPr bwMode="auto">
                      <a:xfrm>
                        <a:off x="6577647" y="2431176"/>
                        <a:ext cx="3833813"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305740510"/>
              </p:ext>
            </p:extLst>
          </p:nvPr>
        </p:nvGraphicFramePr>
        <p:xfrm>
          <a:off x="4038600" y="3442732"/>
          <a:ext cx="3121025" cy="825500"/>
        </p:xfrm>
        <a:graphic>
          <a:graphicData uri="http://schemas.openxmlformats.org/presentationml/2006/ole">
            <mc:AlternateContent xmlns:mc="http://schemas.openxmlformats.org/markup-compatibility/2006">
              <mc:Choice xmlns:v="urn:schemas-microsoft-com:vml" Requires="v">
                <p:oleObj spid="_x0000_s24117" name="Equation" r:id="rId7" imgW="1612800" imgH="431640" progId="Equation.DSMT4">
                  <p:embed/>
                </p:oleObj>
              </mc:Choice>
              <mc:Fallback>
                <p:oleObj name="Equation" r:id="rId7" imgW="1612800" imgH="431640" progId="Equation.DSMT4">
                  <p:embed/>
                  <p:pic>
                    <p:nvPicPr>
                      <p:cNvPr id="9" name="对象 8"/>
                      <p:cNvPicPr>
                        <a:picLocks noChangeAspect="1" noChangeArrowheads="1"/>
                      </p:cNvPicPr>
                      <p:nvPr/>
                    </p:nvPicPr>
                    <p:blipFill>
                      <a:blip r:embed="rId8"/>
                      <a:srcRect/>
                      <a:stretch>
                        <a:fillRect/>
                      </a:stretch>
                    </p:blipFill>
                    <p:spPr bwMode="auto">
                      <a:xfrm>
                        <a:off x="4038600" y="3442732"/>
                        <a:ext cx="31210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右箭头 9"/>
          <p:cNvSpPr/>
          <p:nvPr/>
        </p:nvSpPr>
        <p:spPr>
          <a:xfrm>
            <a:off x="3241040" y="3720981"/>
            <a:ext cx="397827" cy="2690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280160" y="4555134"/>
            <a:ext cx="4460240" cy="400110"/>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smtClean="0"/>
              <a:t>输入开路，等效输入噪声电流计算</a:t>
            </a:r>
            <a:endParaRPr lang="zh-CN" altLang="en-US" sz="2000" dirty="0"/>
          </a:p>
        </p:txBody>
      </p:sp>
      <p:graphicFrame>
        <p:nvGraphicFramePr>
          <p:cNvPr id="12" name="对象 11"/>
          <p:cNvGraphicFramePr>
            <a:graphicFrameLocks noChangeAspect="1"/>
          </p:cNvGraphicFramePr>
          <p:nvPr>
            <p:extLst>
              <p:ext uri="{D42A27DB-BD31-4B8C-83A1-F6EECF244321}">
                <p14:modId xmlns:p14="http://schemas.microsoft.com/office/powerpoint/2010/main" val="1573583293"/>
              </p:ext>
            </p:extLst>
          </p:nvPr>
        </p:nvGraphicFramePr>
        <p:xfrm>
          <a:off x="3638867" y="5058394"/>
          <a:ext cx="1376362" cy="485775"/>
        </p:xfrm>
        <a:graphic>
          <a:graphicData uri="http://schemas.openxmlformats.org/presentationml/2006/ole">
            <mc:AlternateContent xmlns:mc="http://schemas.openxmlformats.org/markup-compatibility/2006">
              <mc:Choice xmlns:v="urn:schemas-microsoft-com:vml" Requires="v">
                <p:oleObj spid="_x0000_s24118" name="Equation" r:id="rId9" imgW="711000" imgH="253800" progId="Equation.DSMT4">
                  <p:embed/>
                </p:oleObj>
              </mc:Choice>
              <mc:Fallback>
                <p:oleObj name="Equation" r:id="rId9" imgW="711000" imgH="253800" progId="Equation.DSMT4">
                  <p:embed/>
                  <p:pic>
                    <p:nvPicPr>
                      <p:cNvPr id="13" name="对象 12"/>
                      <p:cNvPicPr>
                        <a:picLocks noChangeAspect="1" noChangeArrowheads="1"/>
                      </p:cNvPicPr>
                      <p:nvPr/>
                    </p:nvPicPr>
                    <p:blipFill>
                      <a:blip r:embed="rId10"/>
                      <a:srcRect/>
                      <a:stretch>
                        <a:fillRect/>
                      </a:stretch>
                    </p:blipFill>
                    <p:spPr bwMode="auto">
                      <a:xfrm>
                        <a:off x="3638867" y="5058394"/>
                        <a:ext cx="137636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左右箭头 12"/>
          <p:cNvSpPr/>
          <p:nvPr/>
        </p:nvSpPr>
        <p:spPr>
          <a:xfrm>
            <a:off x="5252720" y="5169201"/>
            <a:ext cx="487680" cy="26416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2928474319"/>
              </p:ext>
            </p:extLst>
          </p:nvPr>
        </p:nvGraphicFramePr>
        <p:xfrm>
          <a:off x="5977891" y="5018246"/>
          <a:ext cx="2016125" cy="461962"/>
        </p:xfrm>
        <a:graphic>
          <a:graphicData uri="http://schemas.openxmlformats.org/presentationml/2006/ole">
            <mc:AlternateContent xmlns:mc="http://schemas.openxmlformats.org/markup-compatibility/2006">
              <mc:Choice xmlns:v="urn:schemas-microsoft-com:vml" Requires="v">
                <p:oleObj spid="_x0000_s24119" name="Equation" r:id="rId11" imgW="1041120" imgH="241200" progId="Equation.DSMT4">
                  <p:embed/>
                </p:oleObj>
              </mc:Choice>
              <mc:Fallback>
                <p:oleObj name="Equation" r:id="rId11" imgW="1041120" imgH="241200" progId="Equation.DSMT4">
                  <p:embed/>
                  <p:pic>
                    <p:nvPicPr>
                      <p:cNvPr id="14" name="对象 13"/>
                      <p:cNvPicPr>
                        <a:picLocks noChangeAspect="1" noChangeArrowheads="1"/>
                      </p:cNvPicPr>
                      <p:nvPr/>
                    </p:nvPicPr>
                    <p:blipFill>
                      <a:blip r:embed="rId12"/>
                      <a:srcRect/>
                      <a:stretch>
                        <a:fillRect/>
                      </a:stretch>
                    </p:blipFill>
                    <p:spPr bwMode="auto">
                      <a:xfrm>
                        <a:off x="5977891" y="5018246"/>
                        <a:ext cx="2016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38406004"/>
              </p:ext>
            </p:extLst>
          </p:nvPr>
        </p:nvGraphicFramePr>
        <p:xfrm>
          <a:off x="4611529" y="5709008"/>
          <a:ext cx="1770062" cy="485775"/>
        </p:xfrm>
        <a:graphic>
          <a:graphicData uri="http://schemas.openxmlformats.org/presentationml/2006/ole">
            <mc:AlternateContent xmlns:mc="http://schemas.openxmlformats.org/markup-compatibility/2006">
              <mc:Choice xmlns:v="urn:schemas-microsoft-com:vml" Requires="v">
                <p:oleObj spid="_x0000_s24120" name="Equation" r:id="rId13" imgW="914400" imgH="253800" progId="Equation.DSMT4">
                  <p:embed/>
                </p:oleObj>
              </mc:Choice>
              <mc:Fallback>
                <p:oleObj name="Equation" r:id="rId13" imgW="914400" imgH="253800" progId="Equation.DSMT4">
                  <p:embed/>
                  <p:pic>
                    <p:nvPicPr>
                      <p:cNvPr id="15" name="对象 14"/>
                      <p:cNvPicPr>
                        <a:picLocks noChangeAspect="1" noChangeArrowheads="1"/>
                      </p:cNvPicPr>
                      <p:nvPr/>
                    </p:nvPicPr>
                    <p:blipFill>
                      <a:blip r:embed="rId14"/>
                      <a:srcRect/>
                      <a:stretch>
                        <a:fillRect/>
                      </a:stretch>
                    </p:blipFill>
                    <p:spPr bwMode="auto">
                      <a:xfrm>
                        <a:off x="4611529" y="5709008"/>
                        <a:ext cx="177006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419020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3" name="内容占位符 2"/>
          <p:cNvSpPr>
            <a:spLocks noGrp="1"/>
          </p:cNvSpPr>
          <p:nvPr>
            <p:ph idx="1"/>
          </p:nvPr>
        </p:nvSpPr>
        <p:spPr/>
        <p:txBody>
          <a:bodyPr>
            <a:normAutofit fontScale="85000" lnSpcReduction="10000"/>
          </a:bodyPr>
          <a:lstStyle/>
          <a:p>
            <a:pPr algn="just">
              <a:lnSpc>
                <a:spcPct val="150000"/>
              </a:lnSpc>
              <a:buFont typeface="Wingdings" panose="05000000000000000000" pitchFamily="2" charset="2"/>
              <a:buChar char="l"/>
            </a:pPr>
            <a:r>
              <a:rPr lang="en-US" altLang="zh-CN" sz="3600" b="1" dirty="0"/>
              <a:t> </a:t>
            </a:r>
            <a:r>
              <a:rPr lang="zh-CN" altLang="en-US" sz="3200" dirty="0" smtClean="0"/>
              <a:t>噪声的统计特性</a:t>
            </a:r>
            <a:endParaRPr lang="en-US" altLang="zh-CN" sz="3200" dirty="0" smtClean="0"/>
          </a:p>
          <a:p>
            <a:pPr algn="just">
              <a:lnSpc>
                <a:spcPct val="150000"/>
              </a:lnSpc>
              <a:buFont typeface="Wingdings" panose="05000000000000000000" pitchFamily="2" charset="2"/>
              <a:buChar char="l"/>
            </a:pPr>
            <a:r>
              <a:rPr lang="en-US" altLang="zh-CN" sz="3200" dirty="0"/>
              <a:t> </a:t>
            </a:r>
            <a:r>
              <a:rPr lang="en-US" altLang="zh-CN" sz="3200" dirty="0" smtClean="0"/>
              <a:t>MOS</a:t>
            </a:r>
            <a:r>
              <a:rPr lang="zh-CN" altLang="en-US" sz="3200" dirty="0" smtClean="0"/>
              <a:t>集成电路中的噪声类型</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smtClean="0"/>
              <a:t>电路中的噪声表示</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b="1" dirty="0"/>
              <a:t>单</a:t>
            </a:r>
            <a:r>
              <a:rPr lang="zh-CN" altLang="en-US" sz="3200" b="1" dirty="0" smtClean="0"/>
              <a:t>级放大器中的噪声</a:t>
            </a:r>
            <a:endParaRPr lang="en-US" altLang="zh-CN" sz="3200" b="1" dirty="0" smtClean="0"/>
          </a:p>
          <a:p>
            <a:pPr algn="just">
              <a:lnSpc>
                <a:spcPct val="150000"/>
              </a:lnSpc>
              <a:buFont typeface="Wingdings" panose="05000000000000000000" pitchFamily="2" charset="2"/>
              <a:buChar char="l"/>
            </a:pPr>
            <a:r>
              <a:rPr lang="en-US" altLang="zh-CN" sz="3200" dirty="0"/>
              <a:t> </a:t>
            </a:r>
            <a:r>
              <a:rPr lang="zh-CN" altLang="en-US" sz="3200" dirty="0"/>
              <a:t>电流</a:t>
            </a:r>
            <a:r>
              <a:rPr lang="zh-CN" altLang="en-US" sz="3200" dirty="0" smtClean="0"/>
              <a:t>镜中的噪声</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smtClean="0"/>
              <a:t>差动对的噪声</a:t>
            </a:r>
            <a:endParaRPr lang="en-US" altLang="zh-CN" sz="2400" dirty="0" smtClean="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31</a:t>
            </a:fld>
            <a:endParaRPr lang="zh-CN" altLang="en-US"/>
          </a:p>
        </p:txBody>
      </p:sp>
    </p:spTree>
    <p:extLst>
      <p:ext uri="{BB962C8B-B14F-4D97-AF65-F5344CB8AC3E}">
        <p14:creationId xmlns:p14="http://schemas.microsoft.com/office/powerpoint/2010/main" val="2351409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a:t>
            </a:r>
            <a:r>
              <a:rPr lang="zh-CN" altLang="en-US" dirty="0" smtClean="0"/>
              <a:t>级放大器中的噪声</a:t>
            </a:r>
            <a:endParaRPr lang="zh-CN" altLang="en-US" dirty="0"/>
          </a:p>
        </p:txBody>
      </p:sp>
      <p:sp>
        <p:nvSpPr>
          <p:cNvPr id="3" name="内容占位符 2"/>
          <p:cNvSpPr>
            <a:spLocks noGrp="1"/>
          </p:cNvSpPr>
          <p:nvPr>
            <p:ph idx="1"/>
          </p:nvPr>
        </p:nvSpPr>
        <p:spPr/>
        <p:txBody>
          <a:bodyPr/>
          <a:lstStyle/>
          <a:p>
            <a:r>
              <a:rPr lang="zh-CN" altLang="en-US" dirty="0" smtClean="0"/>
              <a:t>辅助定理：如果</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32</a:t>
            </a:fld>
            <a:endParaRPr lang="zh-CN" altLang="en-US"/>
          </a:p>
        </p:txBody>
      </p:sp>
      <p:pic>
        <p:nvPicPr>
          <p:cNvPr id="6" name="图片 5"/>
          <p:cNvPicPr>
            <a:picLocks noChangeAspect="1"/>
          </p:cNvPicPr>
          <p:nvPr/>
        </p:nvPicPr>
        <p:blipFill>
          <a:blip r:embed="rId2"/>
          <a:stretch>
            <a:fillRect/>
          </a:stretch>
        </p:blipFill>
        <p:spPr>
          <a:xfrm>
            <a:off x="1163321" y="2285683"/>
            <a:ext cx="9291320" cy="3238012"/>
          </a:xfrm>
          <a:prstGeom prst="rect">
            <a:avLst/>
          </a:prstGeom>
        </p:spPr>
      </p:pic>
      <p:sp>
        <p:nvSpPr>
          <p:cNvPr id="7" name="文本框 6"/>
          <p:cNvSpPr txBox="1"/>
          <p:nvPr/>
        </p:nvSpPr>
        <p:spPr>
          <a:xfrm>
            <a:off x="1391920" y="5650274"/>
            <a:ext cx="2164080" cy="400110"/>
          </a:xfrm>
          <a:prstGeom prst="rect">
            <a:avLst/>
          </a:prstGeom>
          <a:noFill/>
        </p:spPr>
        <p:txBody>
          <a:bodyPr wrap="square" rtlCol="0">
            <a:spAutoFit/>
          </a:bodyPr>
          <a:lstStyle/>
          <a:p>
            <a:r>
              <a:rPr lang="zh-CN" altLang="en-US" sz="2000" b="1" dirty="0" smtClean="0"/>
              <a:t>证明：</a:t>
            </a:r>
            <a:endParaRPr lang="zh-CN" altLang="en-US" sz="2000" b="1" dirty="0"/>
          </a:p>
        </p:txBody>
      </p:sp>
      <mc:AlternateContent xmlns:mc="http://schemas.openxmlformats.org/markup-compatibility/2006" xmlns:a14="http://schemas.microsoft.com/office/drawing/2010/main">
        <mc:Choice Requires="a14">
          <p:sp>
            <p:nvSpPr>
              <p:cNvPr id="8" name="文本框 7"/>
              <p:cNvSpPr txBox="1"/>
              <p:nvPr/>
            </p:nvSpPr>
            <p:spPr>
              <a:xfrm>
                <a:off x="3713414" y="1868503"/>
                <a:ext cx="1386983" cy="3497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𝑉</m:t>
                              </m:r>
                            </m:e>
                            <m:sub>
                              <m:r>
                                <a:rPr lang="en-US" altLang="zh-CN" sz="2000" b="0" i="1" smtClean="0">
                                  <a:latin typeface="Cambria Math" panose="02040503050406030204" pitchFamily="18" charset="0"/>
                                </a:rPr>
                                <m:t>𝑛</m:t>
                              </m:r>
                            </m:sub>
                            <m:sup>
                              <m:r>
                                <a:rPr lang="en-US" altLang="zh-CN" sz="2000" b="0" i="1" smtClean="0">
                                  <a:latin typeface="Cambria Math" panose="02040503050406030204" pitchFamily="18" charset="0"/>
                                </a:rPr>
                                <m:t>2</m:t>
                              </m:r>
                            </m:sup>
                          </m:sSubSup>
                        </m:e>
                      </m:acc>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𝐼</m:t>
                              </m:r>
                            </m:e>
                            <m:sub>
                              <m:r>
                                <a:rPr lang="en-US" altLang="zh-CN" sz="2000" b="0" i="1" smtClean="0">
                                  <a:latin typeface="Cambria Math" panose="02040503050406030204" pitchFamily="18" charset="0"/>
                                </a:rPr>
                                <m:t>𝑛</m:t>
                              </m:r>
                            </m:sub>
                            <m:sup>
                              <m:r>
                                <a:rPr lang="en-US" altLang="zh-CN" sz="2000" b="0" i="1" smtClean="0">
                                  <a:latin typeface="Cambria Math" panose="02040503050406030204" pitchFamily="18" charset="0"/>
                                </a:rPr>
                                <m:t>2</m:t>
                              </m:r>
                            </m:sup>
                          </m:sSubSup>
                        </m:e>
                      </m:acc>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sub>
                        <m:sup>
                          <m:r>
                            <a:rPr lang="en-US" altLang="zh-CN" sz="2000" b="0" i="1" smtClean="0">
                              <a:latin typeface="Cambria Math" panose="02040503050406030204" pitchFamily="18" charset="0"/>
                            </a:rPr>
                            <m:t>2</m:t>
                          </m:r>
                        </m:sup>
                      </m:sSubSup>
                    </m:oMath>
                  </m:oMathPara>
                </a14:m>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3713414" y="1868503"/>
                <a:ext cx="1386983" cy="349711"/>
              </a:xfrm>
              <a:prstGeom prst="rect">
                <a:avLst/>
              </a:prstGeom>
              <a:blipFill>
                <a:blip r:embed="rId3"/>
                <a:stretch>
                  <a:fillRect l="-3070" t="-1754" b="-29825"/>
                </a:stretch>
              </a:blipFill>
            </p:spPr>
            <p:txBody>
              <a:bodyPr/>
              <a:lstStyle/>
              <a:p>
                <a:r>
                  <a:rPr lang="zh-CN" altLang="en-US">
                    <a:noFill/>
                  </a:rPr>
                  <a:t> </a:t>
                </a:r>
              </a:p>
            </p:txBody>
          </p:sp>
        </mc:Fallback>
      </mc:AlternateContent>
      <p:sp>
        <p:nvSpPr>
          <p:cNvPr id="9" name="等号 8"/>
          <p:cNvSpPr/>
          <p:nvPr/>
        </p:nvSpPr>
        <p:spPr>
          <a:xfrm>
            <a:off x="3298825" y="4309037"/>
            <a:ext cx="514349" cy="34971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等号 9"/>
          <p:cNvSpPr/>
          <p:nvPr/>
        </p:nvSpPr>
        <p:spPr>
          <a:xfrm>
            <a:off x="7896225" y="4309038"/>
            <a:ext cx="514349" cy="34971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9290644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单级放大器中的噪声</a:t>
            </a:r>
          </a:p>
        </p:txBody>
      </p:sp>
      <p:sp>
        <p:nvSpPr>
          <p:cNvPr id="3" name="内容占位符 2"/>
          <p:cNvSpPr>
            <a:spLocks noGrp="1"/>
          </p:cNvSpPr>
          <p:nvPr>
            <p:ph idx="1"/>
          </p:nvPr>
        </p:nvSpPr>
        <p:spPr/>
        <p:txBody>
          <a:bodyPr/>
          <a:lstStyle/>
          <a:p>
            <a:r>
              <a:rPr lang="zh-CN" altLang="en-US" dirty="0" smtClean="0"/>
              <a:t>共源放大器（例</a:t>
            </a:r>
            <a:r>
              <a:rPr lang="en-US" altLang="zh-CN" dirty="0" smtClean="0"/>
              <a:t>1</a:t>
            </a:r>
            <a:r>
              <a:rPr lang="zh-CN" altLang="en-US" dirty="0" smtClean="0"/>
              <a:t>）</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33</a:t>
            </a:fld>
            <a:endParaRPr lang="zh-CN" altLang="en-US"/>
          </a:p>
        </p:txBody>
      </p:sp>
      <p:pic>
        <p:nvPicPr>
          <p:cNvPr id="6" name="图片 5"/>
          <p:cNvPicPr>
            <a:picLocks noChangeAspect="1"/>
          </p:cNvPicPr>
          <p:nvPr/>
        </p:nvPicPr>
        <p:blipFill>
          <a:blip r:embed="rId2"/>
          <a:stretch>
            <a:fillRect/>
          </a:stretch>
        </p:blipFill>
        <p:spPr>
          <a:xfrm>
            <a:off x="697524" y="2288985"/>
            <a:ext cx="4674576" cy="2018710"/>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6525679" y="1264530"/>
                <a:ext cx="4608441" cy="3817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𝑜𝑢𝑡</m:t>
                              </m:r>
                            </m:sub>
                            <m:sup>
                              <m:r>
                                <a:rPr lang="en-US" altLang="zh-CN" sz="2000" b="0" i="1" smtClean="0">
                                  <a:latin typeface="Cambria Math" panose="02040503050406030204" pitchFamily="18" charset="0"/>
                                </a:rPr>
                                <m:t>2</m:t>
                              </m:r>
                            </m:sup>
                          </m:sSubSup>
                        </m:e>
                      </m:acc>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𝑘𝑇</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𝛾</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𝛾</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2</m:t>
                                  </m:r>
                                </m:sub>
                              </m:sSub>
                            </m:e>
                          </m:d>
                        </m:e>
                        <m:sup>
                          <m:r>
                            <a:rPr lang="en-US" altLang="zh-CN" sz="2000" b="0" i="1" smtClean="0">
                              <a:latin typeface="Cambria Math" panose="02040503050406030204" pitchFamily="18" charset="0"/>
                            </a:rPr>
                            <m:t>2</m:t>
                          </m:r>
                        </m:sup>
                      </m:sSup>
                      <m:r>
                        <m:rPr>
                          <m:sty m:val="p"/>
                        </m:rPr>
                        <a:rPr lang="el-GR" altLang="zh-CN" sz="2000" b="0" i="1" smtClean="0">
                          <a:latin typeface="Cambria Math" panose="02040503050406030204" pitchFamily="18" charset="0"/>
                          <a:ea typeface="Cambria Math" panose="02040503050406030204" pitchFamily="18" charset="0"/>
                        </a:rPr>
                        <m:t>Δ</m:t>
                      </m:r>
                      <m:r>
                        <a:rPr lang="en-US" altLang="zh-CN" sz="2000" b="0" i="1" smtClean="0">
                          <a:latin typeface="Cambria Math" panose="02040503050406030204" pitchFamily="18" charset="0"/>
                          <a:ea typeface="Cambria Math" panose="02040503050406030204" pitchFamily="18" charset="0"/>
                        </a:rPr>
                        <m:t>𝑓</m:t>
                      </m:r>
                    </m:oMath>
                  </m:oMathPara>
                </a14:m>
                <a:endParaRPr lang="zh-CN" altLang="en-US" sz="2000" dirty="0"/>
              </a:p>
            </p:txBody>
          </p:sp>
        </mc:Choice>
        <mc:Fallback>
          <p:sp>
            <p:nvSpPr>
              <p:cNvPr id="7" name="文本框 6"/>
              <p:cNvSpPr txBox="1">
                <a:spLocks noRot="1" noChangeAspect="1" noMove="1" noResize="1" noEditPoints="1" noAdjustHandles="1" noChangeArrowheads="1" noChangeShapeType="1" noTextEdit="1"/>
              </p:cNvSpPr>
              <p:nvPr/>
            </p:nvSpPr>
            <p:spPr>
              <a:xfrm>
                <a:off x="6525679" y="1264530"/>
                <a:ext cx="4608441" cy="381708"/>
              </a:xfrm>
              <a:prstGeom prst="rect">
                <a:avLst/>
              </a:prstGeom>
              <a:blipFill>
                <a:blip r:embed="rId3"/>
                <a:stretch>
                  <a:fillRect l="-132" r="-1323" b="-2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6525679" y="2113340"/>
                <a:ext cx="215411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𝑣</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oMath>
                  </m:oMathPara>
                </a14:m>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6525679" y="2113340"/>
                <a:ext cx="2154116" cy="307777"/>
              </a:xfrm>
              <a:prstGeom prst="rect">
                <a:avLst/>
              </a:prstGeom>
              <a:blipFill>
                <a:blip r:embed="rId4"/>
                <a:stretch>
                  <a:fillRect l="-1977" t="-4000" r="-3390" b="-36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6525679" y="2888219"/>
                <a:ext cx="4344010" cy="7446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𝑖𝑛</m:t>
                              </m:r>
                            </m:sub>
                            <m:sup>
                              <m:r>
                                <a:rPr lang="en-US" altLang="zh-CN" sz="2000" b="0" i="1" smtClean="0">
                                  <a:latin typeface="Cambria Math" panose="02040503050406030204" pitchFamily="18" charset="0"/>
                                </a:rPr>
                                <m:t>2</m:t>
                              </m:r>
                            </m:sup>
                          </m:sSubSup>
                        </m:e>
                      </m:acc>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acc>
                            <m:accPr>
                              <m:chr m:val="̅"/>
                              <m:ctrlPr>
                                <a:rPr lang="zh-CN" altLang="en-US" sz="2000" i="1">
                                  <a:latin typeface="Cambria Math" panose="02040503050406030204" pitchFamily="18" charset="0"/>
                                </a:rPr>
                              </m:ctrlPr>
                            </m:acc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𝑣</m:t>
                                  </m:r>
                                </m:e>
                                <m:sub>
                                  <m:r>
                                    <a:rPr lang="en-US" altLang="zh-CN" sz="2000" i="1">
                                      <a:latin typeface="Cambria Math" panose="02040503050406030204" pitchFamily="18" charset="0"/>
                                    </a:rPr>
                                    <m:t>𝑛</m:t>
                                  </m:r>
                                  <m:r>
                                    <a:rPr lang="en-US" altLang="zh-CN" sz="2000" i="1">
                                      <a:latin typeface="Cambria Math" panose="02040503050406030204" pitchFamily="18" charset="0"/>
                                    </a:rPr>
                                    <m:t>,</m:t>
                                  </m:r>
                                  <m:r>
                                    <a:rPr lang="en-US" altLang="zh-CN" sz="2000" i="1">
                                      <a:latin typeface="Cambria Math" panose="02040503050406030204" pitchFamily="18" charset="0"/>
                                    </a:rPr>
                                    <m:t>𝑜𝑢𝑡</m:t>
                                  </m:r>
                                </m:sub>
                                <m:sup>
                                  <m:r>
                                    <a:rPr lang="en-US" altLang="zh-CN" sz="2000" i="1">
                                      <a:latin typeface="Cambria Math" panose="02040503050406030204" pitchFamily="18" charset="0"/>
                                    </a:rPr>
                                    <m:t>2</m:t>
                                  </m:r>
                                </m:sup>
                              </m:sSubSup>
                            </m:e>
                          </m:acc>
                        </m:num>
                        <m:den>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𝑣</m:t>
                              </m:r>
                            </m:sub>
                            <m:sup>
                              <m:r>
                                <a:rPr lang="en-US" altLang="zh-CN" sz="2000" b="0" i="1" smtClean="0">
                                  <a:latin typeface="Cambria Math" panose="02040503050406030204" pitchFamily="18" charset="0"/>
                                </a:rPr>
                                <m:t>2</m:t>
                              </m:r>
                            </m:sup>
                          </m:sSubSup>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i="1">
                              <a:latin typeface="Cambria Math" panose="02040503050406030204" pitchFamily="18" charset="0"/>
                            </a:rPr>
                            <m:t>4</m:t>
                          </m:r>
                          <m:r>
                            <a:rPr lang="en-US" altLang="zh-CN" sz="2000" i="1">
                              <a:latin typeface="Cambria Math" panose="02040503050406030204" pitchFamily="18" charset="0"/>
                            </a:rPr>
                            <m:t>𝑘𝑇</m:t>
                          </m:r>
                          <m:r>
                            <a:rPr lang="en-US" altLang="zh-CN" sz="2000" i="1">
                              <a:latin typeface="Cambria Math" panose="02040503050406030204" pitchFamily="18" charset="0"/>
                            </a:rPr>
                            <m:t>(</m:t>
                          </m:r>
                          <m:r>
                            <a:rPr lang="zh-CN" altLang="en-US" sz="2000" i="1">
                              <a:latin typeface="Cambria Math" panose="02040503050406030204" pitchFamily="18" charset="0"/>
                            </a:rPr>
                            <m:t>𝛾</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𝑔</m:t>
                              </m:r>
                            </m:e>
                            <m:sub>
                              <m:r>
                                <a:rPr lang="en-US" altLang="zh-CN" sz="2000" i="1">
                                  <a:latin typeface="Cambria Math" panose="02040503050406030204" pitchFamily="18" charset="0"/>
                                </a:rPr>
                                <m:t>𝑚</m:t>
                              </m:r>
                              <m:r>
                                <a:rPr lang="en-US" altLang="zh-CN" sz="2000" i="1">
                                  <a:latin typeface="Cambria Math" panose="02040503050406030204" pitchFamily="18" charset="0"/>
                                </a:rPr>
                                <m:t>1</m:t>
                              </m:r>
                            </m:sub>
                          </m:sSub>
                          <m:r>
                            <a:rPr lang="en-US" altLang="zh-CN" sz="2000" i="1">
                              <a:latin typeface="Cambria Math" panose="02040503050406030204" pitchFamily="18" charset="0"/>
                            </a:rPr>
                            <m:t>+</m:t>
                          </m:r>
                          <m:r>
                            <a:rPr lang="zh-CN" altLang="en-US" sz="2000" i="1">
                              <a:latin typeface="Cambria Math" panose="02040503050406030204" pitchFamily="18" charset="0"/>
                            </a:rPr>
                            <m:t>𝛾</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𝑔</m:t>
                              </m:r>
                            </m:e>
                            <m:sub>
                              <m:r>
                                <a:rPr lang="en-US" altLang="zh-CN" sz="2000" i="1">
                                  <a:latin typeface="Cambria Math" panose="02040503050406030204" pitchFamily="18" charset="0"/>
                                </a:rPr>
                                <m:t>𝑚</m:t>
                              </m:r>
                              <m:r>
                                <a:rPr lang="en-US" altLang="zh-CN" sz="2000" i="1">
                                  <a:latin typeface="Cambria Math" panose="02040503050406030204" pitchFamily="18" charset="0"/>
                                </a:rPr>
                                <m:t>2</m:t>
                              </m:r>
                            </m:sub>
                          </m:sSub>
                          <m:r>
                            <a:rPr lang="en-US" altLang="zh-CN" sz="2000" i="1">
                              <a:latin typeface="Cambria Math" panose="02040503050406030204" pitchFamily="18" charset="0"/>
                            </a:rPr>
                            <m:t>)</m:t>
                          </m:r>
                        </m:num>
                        <m:den>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den>
                      </m:f>
                      <m:r>
                        <m:rPr>
                          <m:sty m:val="p"/>
                        </m:rPr>
                        <a:rPr lang="el-GR" altLang="zh-CN" sz="2000" b="0" i="1" smtClean="0">
                          <a:latin typeface="Cambria Math" panose="02040503050406030204" pitchFamily="18" charset="0"/>
                          <a:ea typeface="Cambria Math" panose="02040503050406030204" pitchFamily="18" charset="0"/>
                        </a:rPr>
                        <m:t>Δ</m:t>
                      </m:r>
                      <m:r>
                        <a:rPr lang="en-US" altLang="zh-CN" sz="2000" b="0" i="1" smtClean="0">
                          <a:latin typeface="Cambria Math" panose="02040503050406030204" pitchFamily="18" charset="0"/>
                          <a:ea typeface="Cambria Math" panose="02040503050406030204" pitchFamily="18" charset="0"/>
                        </a:rPr>
                        <m:t>𝑓</m:t>
                      </m:r>
                    </m:oMath>
                  </m:oMathPara>
                </a14:m>
                <a:endParaRPr lang="zh-CN" altLang="en-US" sz="2000" dirty="0"/>
              </a:p>
            </p:txBody>
          </p:sp>
        </mc:Choice>
        <mc:Fallback>
          <p:sp>
            <p:nvSpPr>
              <p:cNvPr id="9" name="文本框 8"/>
              <p:cNvSpPr txBox="1">
                <a:spLocks noRot="1" noChangeAspect="1" noMove="1" noResize="1" noEditPoints="1" noAdjustHandles="1" noChangeArrowheads="1" noChangeShapeType="1" noTextEdit="1"/>
              </p:cNvSpPr>
              <p:nvPr/>
            </p:nvSpPr>
            <p:spPr>
              <a:xfrm>
                <a:off x="6525679" y="2888219"/>
                <a:ext cx="4344010" cy="744627"/>
              </a:xfrm>
              <a:prstGeom prst="rect">
                <a:avLst/>
              </a:prstGeom>
              <a:blipFill>
                <a:blip r:embed="rId5"/>
                <a:stretch>
                  <a:fillRect/>
                </a:stretch>
              </a:blipFill>
            </p:spPr>
            <p:txBody>
              <a:bodyPr/>
              <a:lstStyle/>
              <a:p>
                <a:r>
                  <a:rPr lang="zh-CN" altLang="en-US">
                    <a:noFill/>
                  </a:rPr>
                  <a:t> </a:t>
                </a:r>
              </a:p>
            </p:txBody>
          </p:sp>
        </mc:Fallback>
      </mc:AlternateContent>
      <p:sp>
        <p:nvSpPr>
          <p:cNvPr id="10" name="文本框 9"/>
          <p:cNvSpPr txBox="1"/>
          <p:nvPr/>
        </p:nvSpPr>
        <p:spPr>
          <a:xfrm>
            <a:off x="6525679" y="3794341"/>
            <a:ext cx="4193931" cy="369332"/>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smtClean="0"/>
              <a:t>增大</a:t>
            </a:r>
            <a:r>
              <a:rPr lang="en-US" altLang="zh-CN" dirty="0" smtClean="0"/>
              <a:t>g</a:t>
            </a:r>
            <a:r>
              <a:rPr lang="en-US" altLang="zh-CN" baseline="-25000" dirty="0" smtClean="0"/>
              <a:t>m1</a:t>
            </a:r>
            <a:r>
              <a:rPr lang="zh-CN" altLang="en-US" dirty="0" smtClean="0"/>
              <a:t>，减小</a:t>
            </a:r>
            <a:r>
              <a:rPr lang="en-US" altLang="zh-CN" dirty="0" smtClean="0"/>
              <a:t>g</a:t>
            </a:r>
            <a:r>
              <a:rPr lang="en-US" altLang="zh-CN" baseline="-25000" dirty="0" smtClean="0"/>
              <a:t>m2</a:t>
            </a:r>
            <a:endParaRPr lang="zh-CN" altLang="en-US" baseline="-25000" dirty="0"/>
          </a:p>
        </p:txBody>
      </p:sp>
      <mc:AlternateContent xmlns:mc="http://schemas.openxmlformats.org/markup-compatibility/2006" xmlns:a14="http://schemas.microsoft.com/office/drawing/2010/main">
        <mc:Choice Requires="a14">
          <p:sp>
            <p:nvSpPr>
              <p:cNvPr id="11" name="文本框 10"/>
              <p:cNvSpPr txBox="1"/>
              <p:nvPr/>
            </p:nvSpPr>
            <p:spPr>
              <a:xfrm>
                <a:off x="1110414" y="4365399"/>
                <a:ext cx="10035889" cy="8113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latin typeface="Cambria Math" panose="02040503050406030204" pitchFamily="18" charset="0"/>
                            </a:rPr>
                          </m:ctrlPr>
                        </m:accPr>
                        <m:e>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𝑜𝑢𝑡</m:t>
                              </m:r>
                              <m:r>
                                <a:rPr lang="en-US" altLang="zh-CN" b="0" i="1" smtClean="0">
                                  <a:latin typeface="Cambria Math" panose="02040503050406030204" pitchFamily="18" charset="0"/>
                                </a:rPr>
                                <m:t>,</m:t>
                              </m:r>
                              <m:r>
                                <a:rPr lang="en-US" altLang="zh-CN" b="0" i="1" smtClean="0">
                                  <a:latin typeface="Cambria Math" panose="02040503050406030204" pitchFamily="18" charset="0"/>
                                </a:rPr>
                                <m:t>𝑡𝑜𝑡𝑎𝑙</m:t>
                              </m:r>
                            </m:sub>
                            <m:sup>
                              <m:r>
                                <a:rPr lang="en-US" altLang="zh-CN" b="0" i="1" smtClean="0">
                                  <a:latin typeface="Cambria Math" panose="02040503050406030204" pitchFamily="18" charset="0"/>
                                </a:rPr>
                                <m:t>2</m:t>
                              </m:r>
                            </m:sup>
                          </m:sSubSup>
                        </m:e>
                      </m:acc>
                      <m:r>
                        <a:rPr lang="en-US" altLang="zh-CN" b="0" i="1" smtClean="0">
                          <a:latin typeface="Cambria Math" panose="02040503050406030204" pitchFamily="18" charset="0"/>
                        </a:rPr>
                        <m:t>=</m:t>
                      </m:r>
                      <m:nary>
                        <m:naryPr>
                          <m:limLoc m:val="undOvr"/>
                          <m:ctrlPr>
                            <a:rPr lang="en-US" altLang="zh-CN" b="0" i="1" smtClean="0">
                              <a:latin typeface="Cambria Math" panose="02040503050406030204" pitchFamily="18" charset="0"/>
                            </a:rPr>
                          </m:ctrlPr>
                        </m:naryPr>
                        <m:sub>
                          <m:r>
                            <m:rPr>
                              <m:brk m:alnAt="24"/>
                            </m:rPr>
                            <a:rPr lang="en-US" altLang="zh-CN" b="0" i="1" smtClean="0">
                              <a:latin typeface="Cambria Math" panose="02040503050406030204" pitchFamily="18" charset="0"/>
                            </a:rPr>
                            <m:t>0</m:t>
                          </m:r>
                        </m:sub>
                        <m:sup>
                          <m:r>
                            <a:rPr lang="en-US" altLang="zh-CN" b="0" i="1" smtClean="0">
                              <a:latin typeface="Cambria Math" panose="02040503050406030204" pitchFamily="18" charset="0"/>
                              <a:ea typeface="Cambria Math" panose="02040503050406030204" pitchFamily="18" charset="0"/>
                            </a:rPr>
                            <m:t>∞</m:t>
                          </m:r>
                        </m:sup>
                        <m:e>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zh-CN" altLang="en-US" b="0" i="1" smtClean="0">
                              <a:latin typeface="Cambria Math" panose="02040503050406030204" pitchFamily="18" charset="0"/>
                            </a:rPr>
                            <m:t>𝛾</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e>
                          </m:d>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𝑜</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𝑜</m:t>
                                      </m:r>
                                      <m:r>
                                        <a:rPr lang="en-US" altLang="zh-CN" b="0" i="1" smtClean="0">
                                          <a:latin typeface="Cambria Math" panose="02040503050406030204" pitchFamily="18" charset="0"/>
                                        </a:rPr>
                                        <m:t>2</m:t>
                                      </m:r>
                                    </m:sub>
                                  </m:sSub>
                                </m:e>
                              </m:d>
                            </m:e>
                            <m:sup>
                              <m:r>
                                <a:rPr lang="en-US" altLang="zh-CN" b="0" i="1" smtClean="0">
                                  <a:latin typeface="Cambria Math" panose="02040503050406030204" pitchFamily="18" charset="0"/>
                                </a:rPr>
                                <m:t>2</m:t>
                              </m:r>
                            </m:sup>
                          </m:sSup>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𝑑𝑓</m:t>
                              </m:r>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𝑜</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𝑜</m:t>
                                          </m:r>
                                          <m:r>
                                            <a:rPr lang="en-US" altLang="zh-CN" i="1">
                                              <a:latin typeface="Cambria Math" panose="02040503050406030204" pitchFamily="18" charset="0"/>
                                            </a:rPr>
                                            <m:t>2</m:t>
                                          </m:r>
                                        </m:sub>
                                      </m:sSub>
                                    </m:e>
                                  </m:d>
                                </m:e>
                                <m:sup>
                                  <m:r>
                                    <a:rPr lang="en-US" altLang="zh-CN" b="0" i="1" smtClean="0">
                                      <a:latin typeface="Cambria Math" panose="02040503050406030204" pitchFamily="18" charset="0"/>
                                    </a:rPr>
                                    <m:t>2</m:t>
                                  </m:r>
                                </m:sup>
                              </m:sSup>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𝐿</m:t>
                                  </m:r>
                                </m:sub>
                                <m:sup>
                                  <m:r>
                                    <a:rPr lang="en-US" altLang="zh-CN" b="0" i="1" smtClean="0">
                                      <a:latin typeface="Cambria Math" panose="02040503050406030204" pitchFamily="18" charset="0"/>
                                    </a:rPr>
                                    <m:t>2</m:t>
                                  </m:r>
                                </m:sup>
                              </m:sSubSup>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m:t>
                                      </m:r>
                                      <m:r>
                                        <a:rPr lang="zh-CN" altLang="en-US" b="0" i="1" smtClean="0">
                                          <a:latin typeface="Cambria Math" panose="02040503050406030204" pitchFamily="18" charset="0"/>
                                        </a:rPr>
                                        <m:t>𝜋</m:t>
                                      </m:r>
                                      <m:r>
                                        <a:rPr lang="en-US" altLang="zh-CN" b="0" i="1" smtClean="0">
                                          <a:latin typeface="Cambria Math" panose="02040503050406030204" pitchFamily="18" charset="0"/>
                                        </a:rPr>
                                        <m:t>𝑓</m:t>
                                      </m:r>
                                    </m:e>
                                  </m:d>
                                </m:e>
                                <m:sup>
                                  <m:r>
                                    <a:rPr lang="en-US" altLang="zh-CN" b="0" i="1" smtClean="0">
                                      <a:latin typeface="Cambria Math" panose="02040503050406030204" pitchFamily="18" charset="0"/>
                                    </a:rPr>
                                    <m:t>2</m:t>
                                  </m:r>
                                </m:sup>
                              </m:sSup>
                            </m:den>
                          </m:f>
                          <m:r>
                            <a:rPr lang="en-US" altLang="zh-CN" b="0" i="1" smtClean="0">
                              <a:latin typeface="Cambria Math" panose="02040503050406030204" pitchFamily="18" charset="0"/>
                            </a:rPr>
                            <m:t>=</m:t>
                          </m:r>
                          <m:r>
                            <a:rPr lang="zh-CN" altLang="en-US" b="0" i="1" smtClean="0">
                              <a:latin typeface="Cambria Math" panose="02040503050406030204" pitchFamily="18" charset="0"/>
                            </a:rPr>
                            <m:t>𝛾</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e>
                          </m:d>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𝑜</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𝑜</m:t>
                                  </m:r>
                                  <m:r>
                                    <a:rPr lang="en-US" altLang="zh-CN" b="0" i="1" smtClean="0">
                                      <a:latin typeface="Cambria Math" panose="02040503050406030204" pitchFamily="18" charset="0"/>
                                    </a:rPr>
                                    <m:t>2</m:t>
                                  </m:r>
                                </m:sub>
                              </m:sSub>
                            </m:e>
                          </m:d>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𝑘𝑇</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𝐿</m:t>
                                  </m:r>
                                </m:sub>
                              </m:sSub>
                            </m:den>
                          </m:f>
                        </m:e>
                      </m:nary>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1110414" y="4365399"/>
                <a:ext cx="10035889" cy="81131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1860782" y="5401483"/>
                <a:ext cx="7925311" cy="7309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𝑆𝑁𝑅</m:t>
                          </m:r>
                        </m:e>
                        <m:sub>
                          <m:r>
                            <a:rPr lang="en-US" altLang="zh-CN" b="0" i="1" smtClean="0">
                              <a:latin typeface="Cambria Math" panose="02040503050406030204" pitchFamily="18" charset="0"/>
                            </a:rPr>
                            <m:t>𝑜𝑢𝑡</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𝑚</m:t>
                              </m:r>
                            </m:sub>
                            <m:sup>
                              <m:r>
                                <a:rPr lang="en-US" altLang="zh-CN" b="0" i="1" smtClean="0">
                                  <a:latin typeface="Cambria Math" panose="02040503050406030204" pitchFamily="18" charset="0"/>
                                </a:rPr>
                                <m:t>2</m:t>
                              </m:r>
                            </m:sup>
                          </m:sSubSup>
                        </m:num>
                        <m:den>
                          <m:acc>
                            <m:accPr>
                              <m:chr m:val="̅"/>
                              <m:ctrlPr>
                                <a:rPr lang="en-US" altLang="zh-CN" b="0" i="1" smtClean="0">
                                  <a:latin typeface="Cambria Math" panose="02040503050406030204" pitchFamily="18" charset="0"/>
                                </a:rPr>
                              </m:ctrlPr>
                            </m:acc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𝑜𝑢𝑡</m:t>
                                  </m:r>
                                  <m:r>
                                    <a:rPr lang="en-US" altLang="zh-CN" b="0" i="1" smtClean="0">
                                      <a:latin typeface="Cambria Math" panose="02040503050406030204" pitchFamily="18" charset="0"/>
                                    </a:rPr>
                                    <m:t>,</m:t>
                                  </m:r>
                                  <m:r>
                                    <a:rPr lang="en-US" altLang="zh-CN" b="0" i="1" smtClean="0">
                                      <a:latin typeface="Cambria Math" panose="02040503050406030204" pitchFamily="18" charset="0"/>
                                    </a:rPr>
                                    <m:t>𝑡𝑜𝑡𝑎𝑙</m:t>
                                  </m:r>
                                </m:sub>
                                <m:sup>
                                  <m:r>
                                    <a:rPr lang="en-US" altLang="zh-CN" b="0" i="1" smtClean="0">
                                      <a:latin typeface="Cambria Math" panose="02040503050406030204" pitchFamily="18" charset="0"/>
                                    </a:rPr>
                                    <m:t>2</m:t>
                                  </m:r>
                                </m:sup>
                              </m:sSubSup>
                            </m:e>
                          </m:acc>
                        </m:den>
                      </m:f>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begChr m:val="["/>
                              <m:endChr m:val="]"/>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𝑚</m:t>
                                      </m:r>
                                      <m:r>
                                        <a:rPr lang="en-US" altLang="zh-CN" i="1">
                                          <a:latin typeface="Cambria Math" panose="02040503050406030204" pitchFamily="18" charset="0"/>
                                        </a:rPr>
                                        <m:t>1</m:t>
                                      </m:r>
                                    </m:sub>
                                  </m:sSub>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𝑜</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𝑜</m:t>
                                          </m:r>
                                          <m:r>
                                            <a:rPr lang="en-US" altLang="zh-CN" b="0" i="1" smtClean="0">
                                              <a:latin typeface="Cambria Math" panose="02040503050406030204" pitchFamily="18" charset="0"/>
                                            </a:rPr>
                                            <m:t>2</m:t>
                                          </m:r>
                                        </m:sub>
                                      </m:sSub>
                                    </m:e>
                                  </m:d>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𝑚</m:t>
                                      </m:r>
                                    </m:sub>
                                  </m:sSub>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e>
                          </m:d>
                        </m:e>
                        <m:sup>
                          <m:r>
                            <a:rPr lang="en-US" altLang="zh-CN" b="0" i="1" smtClean="0">
                              <a:latin typeface="Cambria Math" panose="02040503050406030204" pitchFamily="18" charset="0"/>
                            </a:rPr>
                            <m:t>2</m:t>
                          </m:r>
                        </m:sup>
                      </m:sSup>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acc>
                            <m:accPr>
                              <m:chr m:val="̅"/>
                              <m:ctrlPr>
                                <a:rPr lang="en-US" altLang="zh-CN" i="1">
                                  <a:latin typeface="Cambria Math" panose="02040503050406030204" pitchFamily="18" charset="0"/>
                                </a:rPr>
                              </m:ctrlPr>
                            </m:acc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𝑣</m:t>
                                  </m:r>
                                </m:e>
                                <m:sub>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𝑜𝑢𝑡</m:t>
                                  </m:r>
                                  <m:r>
                                    <a:rPr lang="en-US" altLang="zh-CN" i="1">
                                      <a:latin typeface="Cambria Math" panose="02040503050406030204" pitchFamily="18" charset="0"/>
                                    </a:rPr>
                                    <m:t>,</m:t>
                                  </m:r>
                                  <m:r>
                                    <a:rPr lang="en-US" altLang="zh-CN" i="1">
                                      <a:latin typeface="Cambria Math" panose="02040503050406030204" pitchFamily="18" charset="0"/>
                                    </a:rPr>
                                    <m:t>𝑡𝑜𝑡𝑎𝑙</m:t>
                                  </m:r>
                                </m:sub>
                                <m:sup>
                                  <m:r>
                                    <a:rPr lang="en-US" altLang="zh-CN" i="1">
                                      <a:latin typeface="Cambria Math" panose="02040503050406030204" pitchFamily="18" charset="0"/>
                                    </a:rPr>
                                    <m:t>2</m:t>
                                  </m:r>
                                </m:sup>
                              </m:sSubSup>
                            </m:e>
                          </m:acc>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𝐿</m:t>
                              </m:r>
                            </m:sub>
                          </m:sSub>
                        </m:num>
                        <m:den>
                          <m:r>
                            <a:rPr lang="en-US" altLang="zh-CN" b="0" i="1" smtClean="0">
                              <a:latin typeface="Cambria Math" panose="02040503050406030204" pitchFamily="18" charset="0"/>
                            </a:rPr>
                            <m:t>2</m:t>
                          </m:r>
                          <m:r>
                            <a:rPr lang="zh-CN" altLang="en-US" b="0" i="1" smtClean="0">
                              <a:latin typeface="Cambria Math" panose="02040503050406030204" pitchFamily="18" charset="0"/>
                            </a:rPr>
                            <m:t>𝛾</m:t>
                          </m:r>
                          <m:r>
                            <a:rPr lang="en-US" altLang="zh-CN" b="0" i="1" smtClean="0">
                              <a:latin typeface="Cambria Math" panose="02040503050406030204" pitchFamily="18" charset="0"/>
                            </a:rPr>
                            <m:t>𝑘𝑇</m:t>
                          </m:r>
                        </m:den>
                      </m:f>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𝑜</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𝑜</m:t>
                                  </m:r>
                                  <m:r>
                                    <a:rPr lang="en-US" altLang="zh-CN" i="1">
                                      <a:latin typeface="Cambria Math" panose="02040503050406030204" pitchFamily="18" charset="0"/>
                                    </a:rPr>
                                    <m:t>2</m:t>
                                  </m:r>
                                </m:sub>
                              </m:sSub>
                            </m:e>
                          </m:d>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den>
                      </m:f>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𝑚</m:t>
                          </m:r>
                        </m:sub>
                        <m:sup>
                          <m:r>
                            <a:rPr lang="en-US" altLang="zh-CN" b="0" i="1" smtClean="0">
                              <a:latin typeface="Cambria Math" panose="02040503050406030204" pitchFamily="18" charset="0"/>
                            </a:rPr>
                            <m:t>2</m:t>
                          </m:r>
                        </m:sup>
                      </m:sSubSup>
                    </m:oMath>
                  </m:oMathPara>
                </a14:m>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860782" y="5401483"/>
                <a:ext cx="7925311" cy="730906"/>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50867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单级放大器中的噪声</a:t>
            </a:r>
          </a:p>
        </p:txBody>
      </p:sp>
      <p:sp>
        <p:nvSpPr>
          <p:cNvPr id="3" name="内容占位符 2"/>
          <p:cNvSpPr>
            <a:spLocks noGrp="1"/>
          </p:cNvSpPr>
          <p:nvPr>
            <p:ph idx="1"/>
          </p:nvPr>
        </p:nvSpPr>
        <p:spPr/>
        <p:txBody>
          <a:bodyPr/>
          <a:lstStyle/>
          <a:p>
            <a:r>
              <a:rPr lang="zh-CN" altLang="en-US" dirty="0"/>
              <a:t>共</a:t>
            </a:r>
            <a:r>
              <a:rPr lang="zh-CN" altLang="en-US" dirty="0" smtClean="0"/>
              <a:t>源放大器（举例</a:t>
            </a:r>
            <a:r>
              <a:rPr lang="en-US" altLang="zh-CN" dirty="0" smtClean="0"/>
              <a:t>2</a:t>
            </a:r>
            <a:r>
              <a:rPr lang="zh-CN" altLang="en-US" dirty="0" smtClean="0"/>
              <a:t>）</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34</a:t>
            </a:fld>
            <a:endParaRPr lang="zh-CN" altLang="en-US"/>
          </a:p>
        </p:txBody>
      </p:sp>
      <p:pic>
        <p:nvPicPr>
          <p:cNvPr id="6" name="图片 5"/>
          <p:cNvPicPr>
            <a:picLocks noChangeAspect="1"/>
          </p:cNvPicPr>
          <p:nvPr/>
        </p:nvPicPr>
        <p:blipFill>
          <a:blip r:embed="rId2"/>
          <a:stretch>
            <a:fillRect/>
          </a:stretch>
        </p:blipFill>
        <p:spPr>
          <a:xfrm>
            <a:off x="2205404" y="2082604"/>
            <a:ext cx="5312019" cy="2758522"/>
          </a:xfrm>
          <a:prstGeom prst="rect">
            <a:avLst/>
          </a:prstGeom>
        </p:spPr>
      </p:pic>
      <p:sp>
        <p:nvSpPr>
          <p:cNvPr id="7" name="右箭头 6"/>
          <p:cNvSpPr/>
          <p:nvPr/>
        </p:nvSpPr>
        <p:spPr>
          <a:xfrm>
            <a:off x="4277255" y="3314303"/>
            <a:ext cx="263769" cy="4579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5073223" y="3305123"/>
                <a:ext cx="448969" cy="3134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2</m:t>
                          </m:r>
                        </m:sub>
                        <m:sup>
                          <m:r>
                            <a:rPr lang="en-US" altLang="zh-CN" sz="2000" b="0" i="1" smtClean="0">
                              <a:latin typeface="Cambria Math" panose="02040503050406030204" pitchFamily="18" charset="0"/>
                            </a:rPr>
                            <m:t>2</m:t>
                          </m:r>
                        </m:sup>
                      </m:sSubSup>
                    </m:oMath>
                  </m:oMathPara>
                </a14:m>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5073223" y="3305123"/>
                <a:ext cx="448969" cy="313484"/>
              </a:xfrm>
              <a:prstGeom prst="rect">
                <a:avLst/>
              </a:prstGeom>
              <a:blipFill>
                <a:blip r:embed="rId3"/>
                <a:stretch>
                  <a:fillRect l="-5405" t="-1923" r="-5405" b="-17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073222" y="4164779"/>
                <a:ext cx="448969" cy="3128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oMath>
                  </m:oMathPara>
                </a14:m>
                <a:endParaRPr lang="zh-CN" altLang="en-US" sz="2000" dirty="0"/>
              </a:p>
            </p:txBody>
          </p:sp>
        </mc:Choice>
        <mc:Fallback xmlns="">
          <p:sp>
            <p:nvSpPr>
              <p:cNvPr id="9" name="文本框 8"/>
              <p:cNvSpPr txBox="1">
                <a:spLocks noRot="1" noChangeAspect="1" noMove="1" noResize="1" noEditPoints="1" noAdjustHandles="1" noChangeArrowheads="1" noChangeShapeType="1" noTextEdit="1"/>
              </p:cNvSpPr>
              <p:nvPr/>
            </p:nvSpPr>
            <p:spPr>
              <a:xfrm>
                <a:off x="5073222" y="4164779"/>
                <a:ext cx="448969" cy="312843"/>
              </a:xfrm>
              <a:prstGeom prst="rect">
                <a:avLst/>
              </a:prstGeom>
              <a:blipFill>
                <a:blip r:embed="rId4"/>
                <a:stretch>
                  <a:fillRect l="-5405" t="-1923" r="-4054"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7304640" y="2918411"/>
                <a:ext cx="425566" cy="3120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𝑖</m:t>
                          </m:r>
                        </m:e>
                        <m:sub>
                          <m:r>
                            <a:rPr lang="en-US" altLang="zh-CN" sz="2000" b="0" i="1" smtClean="0">
                              <a:latin typeface="Cambria Math" panose="02040503050406030204" pitchFamily="18" charset="0"/>
                            </a:rPr>
                            <m:t>𝑅𝐷</m:t>
                          </m:r>
                        </m:sub>
                        <m:sup>
                          <m:r>
                            <a:rPr lang="en-US" altLang="zh-CN" sz="2000" b="0" i="1" smtClean="0">
                              <a:latin typeface="Cambria Math" panose="02040503050406030204" pitchFamily="18" charset="0"/>
                            </a:rPr>
                            <m:t>2</m:t>
                          </m:r>
                        </m:sup>
                      </m:sSubSup>
                    </m:oMath>
                  </m:oMathPara>
                </a14:m>
                <a:endParaRPr lang="zh-CN" altLang="en-US" sz="20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7304640" y="2918411"/>
                <a:ext cx="425566" cy="312073"/>
              </a:xfrm>
              <a:prstGeom prst="rect">
                <a:avLst/>
              </a:prstGeom>
              <a:blipFill>
                <a:blip r:embed="rId5"/>
                <a:stretch>
                  <a:fillRect l="-11429" t="-3922" r="-2857" b="-176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6591845" y="3594331"/>
                <a:ext cx="2653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𝑜</m:t>
                          </m:r>
                        </m:sub>
                      </m:sSub>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6591845" y="3594331"/>
                <a:ext cx="265329" cy="276999"/>
              </a:xfrm>
              <a:prstGeom prst="rect">
                <a:avLst/>
              </a:prstGeom>
              <a:blipFill>
                <a:blip r:embed="rId6"/>
                <a:stretch>
                  <a:fillRect l="-18182" b="-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1965081" y="4991483"/>
                <a:ext cx="281910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𝑣</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2</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𝐷</m:t>
                              </m:r>
                            </m:sub>
                          </m:sSub>
                        </m:e>
                      </m:d>
                    </m:oMath>
                  </m:oMathPara>
                </a14:m>
                <a:endParaRPr lang="zh-CN" altLang="en-US" sz="20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965081" y="4991483"/>
                <a:ext cx="2819105" cy="307777"/>
              </a:xfrm>
              <a:prstGeom prst="rect">
                <a:avLst/>
              </a:prstGeom>
              <a:blipFill>
                <a:blip r:embed="rId7"/>
                <a:stretch>
                  <a:fillRect l="-1296" b="-3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6049368" y="4690436"/>
                <a:ext cx="3618939" cy="752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𝑖𝑛</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2</m:t>
                                      </m:r>
                                    </m:sub>
                                  </m:sSub>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Sub>
                                </m:den>
                              </m:f>
                            </m:e>
                          </m:d>
                        </m:e>
                        <m:sup>
                          <m:r>
                            <a:rPr lang="en-US" altLang="zh-CN" sz="2000" b="0" i="1" smtClean="0">
                              <a:latin typeface="Cambria Math" panose="02040503050406030204" pitchFamily="18" charset="0"/>
                            </a:rPr>
                            <m:t>2</m:t>
                          </m:r>
                        </m:sup>
                      </m:sSup>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2</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𝑖</m:t>
                              </m:r>
                            </m:e>
                            <m:sub>
                              <m:r>
                                <a:rPr lang="en-US" altLang="zh-CN" sz="2000" b="0" i="1" smtClean="0">
                                  <a:latin typeface="Cambria Math" panose="02040503050406030204" pitchFamily="18" charset="0"/>
                                </a:rPr>
                                <m:t>𝑅𝐷</m:t>
                              </m:r>
                            </m:sub>
                            <m:sup>
                              <m:r>
                                <a:rPr lang="en-US" altLang="zh-CN" sz="2000" b="0" i="1" smtClean="0">
                                  <a:latin typeface="Cambria Math" panose="02040503050406030204" pitchFamily="18" charset="0"/>
                                </a:rPr>
                                <m:t>2</m:t>
                              </m:r>
                            </m:sup>
                          </m:sSubSup>
                        </m:num>
                        <m:den>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den>
                      </m:f>
                    </m:oMath>
                  </m:oMathPara>
                </a14:m>
                <a:endParaRPr lang="zh-CN" altLang="en-US" sz="20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6049368" y="4690436"/>
                <a:ext cx="3618939" cy="75232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1553346" y="5543720"/>
                <a:ext cx="8756500" cy="752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𝑖𝑛</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𝑘𝑇</m:t>
                          </m:r>
                          <m:r>
                            <a:rPr lang="zh-CN" altLang="en-US" sz="2000" b="0" i="1" smtClean="0">
                              <a:latin typeface="Cambria Math" panose="02040503050406030204" pitchFamily="18" charset="0"/>
                            </a:rPr>
                            <m:t>𝛾</m:t>
                          </m:r>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Sub>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𝐾</m:t>
                              </m:r>
                            </m:e>
                            <m:sub>
                              <m:r>
                                <a:rPr lang="en-US" altLang="zh-CN" sz="2000" b="0" i="1" smtClean="0">
                                  <a:latin typeface="Cambria Math" panose="02040503050406030204" pitchFamily="18" charset="0"/>
                                  <a:ea typeface="Cambria Math" panose="02040503050406030204" pitchFamily="18" charset="0"/>
                                </a:rPr>
                                <m:t>𝑁</m:t>
                              </m:r>
                            </m:sub>
                          </m:sSub>
                        </m:num>
                        <m:den>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𝐶</m:t>
                              </m:r>
                            </m:e>
                            <m:sub>
                              <m:r>
                                <a:rPr lang="en-US" altLang="zh-CN" sz="2000" b="0" i="1" smtClean="0">
                                  <a:latin typeface="Cambria Math" panose="02040503050406030204" pitchFamily="18" charset="0"/>
                                  <a:ea typeface="Cambria Math" panose="02040503050406030204" pitchFamily="18" charset="0"/>
                                </a:rPr>
                                <m:t>𝑜𝑥</m:t>
                              </m:r>
                            </m:sub>
                          </m:sSub>
                          <m:r>
                            <a:rPr lang="en-US" altLang="zh-CN" sz="2000" b="0" i="1" smtClean="0">
                              <a:latin typeface="Cambria Math" panose="02040503050406030204" pitchFamily="18" charset="0"/>
                              <a:ea typeface="Cambria Math" panose="02040503050406030204" pitchFamily="18" charset="0"/>
                            </a:rPr>
                            <m:t>𝑊𝐿𝑓</m:t>
                          </m:r>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r>
                        <a:rPr lang="en-US" altLang="zh-CN" sz="2000" b="0" i="1" smtClean="0">
                          <a:latin typeface="Cambria Math" panose="02040503050406030204" pitchFamily="18" charset="0"/>
                          <a:ea typeface="Cambria Math" panose="02040503050406030204" pitchFamily="18" charset="0"/>
                        </a:rPr>
                        <m:t>+</m:t>
                      </m:r>
                      <m:d>
                        <m:dPr>
                          <m:ctrlPr>
                            <a:rPr lang="en-US" altLang="zh-CN" sz="2000" b="0" i="1" smtClean="0">
                              <a:latin typeface="Cambria Math" panose="02040503050406030204" pitchFamily="18" charset="0"/>
                              <a:ea typeface="Cambria Math" panose="02040503050406030204" pitchFamily="18" charset="0"/>
                            </a:rPr>
                          </m:ctrlPr>
                        </m:dPr>
                        <m:e>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4</m:t>
                              </m:r>
                              <m:r>
                                <a:rPr lang="en-US" altLang="zh-CN" sz="2000" b="0" i="1" smtClean="0">
                                  <a:latin typeface="Cambria Math" panose="02040503050406030204" pitchFamily="18" charset="0"/>
                                  <a:ea typeface="Cambria Math" panose="02040503050406030204" pitchFamily="18" charset="0"/>
                                </a:rPr>
                                <m:t>𝑘𝑇</m:t>
                              </m:r>
                              <m:r>
                                <a:rPr lang="zh-CN" altLang="en-US" sz="2000" b="0" i="1" smtClean="0">
                                  <a:latin typeface="Cambria Math" panose="02040503050406030204" pitchFamily="18" charset="0"/>
                                  <a:ea typeface="Cambria Math" panose="02040503050406030204" pitchFamily="18" charset="0"/>
                                </a:rPr>
                                <m:t>𝛾</m:t>
                              </m:r>
                            </m:num>
                            <m:den>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𝑔</m:t>
                                  </m:r>
                                </m:e>
                                <m:sub>
                                  <m:r>
                                    <a:rPr lang="en-US" altLang="zh-CN" sz="2000" b="0" i="1" smtClean="0">
                                      <a:latin typeface="Cambria Math" panose="02040503050406030204" pitchFamily="18" charset="0"/>
                                      <a:ea typeface="Cambria Math" panose="02040503050406030204" pitchFamily="18" charset="0"/>
                                    </a:rPr>
                                    <m:t>𝑚</m:t>
                                  </m:r>
                                  <m:r>
                                    <a:rPr lang="en-US" altLang="zh-CN" sz="2000" b="0" i="1" smtClean="0">
                                      <a:latin typeface="Cambria Math" panose="02040503050406030204" pitchFamily="18" charset="0"/>
                                      <a:ea typeface="Cambria Math" panose="02040503050406030204" pitchFamily="18" charset="0"/>
                                    </a:rPr>
                                    <m:t>2</m:t>
                                  </m:r>
                                </m:sub>
                              </m:sSub>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𝐾</m:t>
                                  </m:r>
                                </m:e>
                                <m:sub>
                                  <m:r>
                                    <a:rPr lang="en-US" altLang="zh-CN" sz="2000" b="0" i="1" smtClean="0">
                                      <a:latin typeface="Cambria Math" panose="02040503050406030204" pitchFamily="18" charset="0"/>
                                      <a:ea typeface="Cambria Math" panose="02040503050406030204" pitchFamily="18" charset="0"/>
                                    </a:rPr>
                                    <m:t>𝑃</m:t>
                                  </m:r>
                                </m:sub>
                              </m:sSub>
                            </m:num>
                            <m:den>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𝐶</m:t>
                                  </m:r>
                                </m:e>
                                <m:sub>
                                  <m:r>
                                    <a:rPr lang="en-US" altLang="zh-CN" sz="2000" i="1">
                                      <a:latin typeface="Cambria Math" panose="02040503050406030204" pitchFamily="18" charset="0"/>
                                      <a:ea typeface="Cambria Math" panose="02040503050406030204" pitchFamily="18" charset="0"/>
                                    </a:rPr>
                                    <m:t>𝑜𝑥</m:t>
                                  </m:r>
                                </m:sub>
                              </m:sSub>
                              <m:r>
                                <a:rPr lang="en-US" altLang="zh-CN" sz="2000" i="1">
                                  <a:latin typeface="Cambria Math" panose="02040503050406030204" pitchFamily="18" charset="0"/>
                                  <a:ea typeface="Cambria Math" panose="02040503050406030204" pitchFamily="18" charset="0"/>
                                </a:rPr>
                                <m:t>𝑊𝐿𝑓</m:t>
                              </m:r>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e>
                      </m:d>
                      <m:sSup>
                        <m:sSupPr>
                          <m:ctrlPr>
                            <a:rPr lang="en-US" altLang="zh-CN" sz="2000" b="0" i="1" smtClean="0">
                              <a:latin typeface="Cambria Math" panose="02040503050406030204" pitchFamily="18" charset="0"/>
                              <a:ea typeface="Cambria Math" panose="02040503050406030204" pitchFamily="18" charset="0"/>
                            </a:rPr>
                          </m:ctrlPr>
                        </m:sSupPr>
                        <m:e>
                          <m:d>
                            <m:dPr>
                              <m:ctrlPr>
                                <a:rPr lang="en-US" altLang="zh-CN" sz="2000" b="0" i="1" smtClean="0">
                                  <a:latin typeface="Cambria Math" panose="02040503050406030204" pitchFamily="18" charset="0"/>
                                  <a:ea typeface="Cambria Math" panose="02040503050406030204" pitchFamily="18" charset="0"/>
                                </a:rPr>
                              </m:ctrlPr>
                            </m:dPr>
                            <m:e>
                              <m:f>
                                <m:fPr>
                                  <m:ctrlPr>
                                    <a:rPr lang="en-US" altLang="zh-CN" sz="2000" b="0" i="1" smtClean="0">
                                      <a:latin typeface="Cambria Math" panose="02040503050406030204" pitchFamily="18" charset="0"/>
                                      <a:ea typeface="Cambria Math" panose="02040503050406030204" pitchFamily="18" charset="0"/>
                                    </a:rPr>
                                  </m:ctrlPr>
                                </m:fPr>
                                <m:num>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𝑔</m:t>
                                      </m:r>
                                    </m:e>
                                    <m:sub>
                                      <m:r>
                                        <a:rPr lang="en-US" altLang="zh-CN" sz="2000" b="0" i="1" smtClean="0">
                                          <a:latin typeface="Cambria Math" panose="02040503050406030204" pitchFamily="18" charset="0"/>
                                          <a:ea typeface="Cambria Math" panose="02040503050406030204" pitchFamily="18" charset="0"/>
                                        </a:rPr>
                                        <m:t>𝑚</m:t>
                                      </m:r>
                                      <m:r>
                                        <a:rPr lang="en-US" altLang="zh-CN" sz="2000" b="0" i="1" smtClean="0">
                                          <a:latin typeface="Cambria Math" panose="02040503050406030204" pitchFamily="18" charset="0"/>
                                          <a:ea typeface="Cambria Math" panose="02040503050406030204" pitchFamily="18" charset="0"/>
                                        </a:rPr>
                                        <m:t>2</m:t>
                                      </m:r>
                                    </m:sub>
                                  </m:sSub>
                                </m:num>
                                <m:den>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𝑔</m:t>
                                      </m:r>
                                    </m:e>
                                    <m:sub>
                                      <m:r>
                                        <a:rPr lang="en-US" altLang="zh-CN" sz="2000" b="0" i="1" smtClean="0">
                                          <a:latin typeface="Cambria Math" panose="02040503050406030204" pitchFamily="18" charset="0"/>
                                          <a:ea typeface="Cambria Math" panose="02040503050406030204" pitchFamily="18" charset="0"/>
                                        </a:rPr>
                                        <m:t>𝑚</m:t>
                                      </m:r>
                                      <m:r>
                                        <a:rPr lang="en-US" altLang="zh-CN" sz="2000" b="0" i="1" smtClean="0">
                                          <a:latin typeface="Cambria Math" panose="02040503050406030204" pitchFamily="18" charset="0"/>
                                          <a:ea typeface="Cambria Math" panose="02040503050406030204" pitchFamily="18" charset="0"/>
                                        </a:rPr>
                                        <m:t>1</m:t>
                                      </m:r>
                                    </m:sub>
                                  </m:sSub>
                                </m:den>
                              </m:f>
                            </m:e>
                          </m:d>
                        </m:e>
                        <m:sup>
                          <m:r>
                            <a:rPr lang="en-US" altLang="zh-CN" sz="2000" b="0" i="1" smtClean="0">
                              <a:latin typeface="Cambria Math" panose="02040503050406030204" pitchFamily="18" charset="0"/>
                              <a:ea typeface="Cambria Math" panose="02040503050406030204" pitchFamily="18" charset="0"/>
                            </a:rPr>
                            <m:t>2</m:t>
                          </m:r>
                        </m:sup>
                      </m:sSup>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4</m:t>
                          </m:r>
                          <m:r>
                            <a:rPr lang="en-US" altLang="zh-CN" sz="2000" b="0" i="1" smtClean="0">
                              <a:latin typeface="Cambria Math" panose="02040503050406030204" pitchFamily="18" charset="0"/>
                              <a:ea typeface="Cambria Math" panose="02040503050406030204" pitchFamily="18" charset="0"/>
                            </a:rPr>
                            <m:t>𝑘𝑇</m:t>
                          </m:r>
                        </m:num>
                        <m:den>
                          <m:sSubSup>
                            <m:sSubSupPr>
                              <m:ctrlPr>
                                <a:rPr lang="en-US" altLang="zh-CN" sz="2000" b="0" i="1" smtClean="0">
                                  <a:latin typeface="Cambria Math" panose="02040503050406030204" pitchFamily="18" charset="0"/>
                                  <a:ea typeface="Cambria Math" panose="02040503050406030204" pitchFamily="18" charset="0"/>
                                </a:rPr>
                              </m:ctrlPr>
                            </m:sSubSupPr>
                            <m:e>
                              <m:r>
                                <a:rPr lang="en-US" altLang="zh-CN" sz="2000" b="0" i="1" smtClean="0">
                                  <a:latin typeface="Cambria Math" panose="02040503050406030204" pitchFamily="18" charset="0"/>
                                  <a:ea typeface="Cambria Math" panose="02040503050406030204" pitchFamily="18" charset="0"/>
                                </a:rPr>
                                <m:t>𝑔</m:t>
                              </m:r>
                            </m:e>
                            <m:sub>
                              <m:r>
                                <a:rPr lang="en-US" altLang="zh-CN" sz="2000" b="0" i="1" smtClean="0">
                                  <a:latin typeface="Cambria Math" panose="02040503050406030204" pitchFamily="18" charset="0"/>
                                  <a:ea typeface="Cambria Math" panose="02040503050406030204" pitchFamily="18" charset="0"/>
                                </a:rPr>
                                <m:t>𝑚</m:t>
                              </m:r>
                              <m:r>
                                <a:rPr lang="en-US" altLang="zh-CN" sz="2000" b="0" i="1" smtClean="0">
                                  <a:latin typeface="Cambria Math" panose="02040503050406030204" pitchFamily="18" charset="0"/>
                                  <a:ea typeface="Cambria Math" panose="02040503050406030204" pitchFamily="18" charset="0"/>
                                </a:rPr>
                                <m:t>1</m:t>
                              </m:r>
                            </m:sub>
                            <m:sup>
                              <m:r>
                                <a:rPr lang="en-US" altLang="zh-CN" sz="2000" b="0" i="1" smtClean="0">
                                  <a:latin typeface="Cambria Math" panose="02040503050406030204" pitchFamily="18" charset="0"/>
                                  <a:ea typeface="Cambria Math" panose="02040503050406030204" pitchFamily="18" charset="0"/>
                                </a:rPr>
                                <m:t>2</m:t>
                              </m:r>
                            </m:sup>
                          </m:sSubSup>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𝑅</m:t>
                              </m:r>
                            </m:e>
                            <m:sub>
                              <m:r>
                                <a:rPr lang="en-US" altLang="zh-CN" sz="2000" b="0" i="1" smtClean="0">
                                  <a:latin typeface="Cambria Math" panose="02040503050406030204" pitchFamily="18" charset="0"/>
                                  <a:ea typeface="Cambria Math" panose="02040503050406030204" pitchFamily="18" charset="0"/>
                                </a:rPr>
                                <m:t>𝐷</m:t>
                              </m:r>
                            </m:sub>
                          </m:sSub>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oMath>
                  </m:oMathPara>
                </a14:m>
                <a:endParaRPr lang="zh-CN" altLang="en-US" sz="2000"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553346" y="5543720"/>
                <a:ext cx="8756500" cy="752322"/>
              </a:xfrm>
              <a:prstGeom prst="rect">
                <a:avLst/>
              </a:prstGeom>
              <a:blipFill>
                <a:blip r:embed="rId9"/>
                <a:stretch>
                  <a:fillRect/>
                </a:stretch>
              </a:blipFill>
            </p:spPr>
            <p:txBody>
              <a:bodyPr/>
              <a:lstStyle/>
              <a:p>
                <a:r>
                  <a:rPr lang="zh-CN" altLang="en-US">
                    <a:noFill/>
                  </a:rPr>
                  <a:t> </a:t>
                </a:r>
              </a:p>
            </p:txBody>
          </p:sp>
        </mc:Fallback>
      </mc:AlternateContent>
      <p:cxnSp>
        <p:nvCxnSpPr>
          <p:cNvPr id="16" name="直接连接符 15"/>
          <p:cNvCxnSpPr/>
          <p:nvPr/>
        </p:nvCxnSpPr>
        <p:spPr>
          <a:xfrm flipV="1">
            <a:off x="1553346" y="5763802"/>
            <a:ext cx="511760" cy="1027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547004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单级放大器中的噪声</a:t>
            </a:r>
          </a:p>
        </p:txBody>
      </p:sp>
      <p:sp>
        <p:nvSpPr>
          <p:cNvPr id="3" name="内容占位符 2"/>
          <p:cNvSpPr>
            <a:spLocks noGrp="1"/>
          </p:cNvSpPr>
          <p:nvPr>
            <p:ph idx="1"/>
          </p:nvPr>
        </p:nvSpPr>
        <p:spPr/>
        <p:txBody>
          <a:bodyPr/>
          <a:lstStyle/>
          <a:p>
            <a:r>
              <a:rPr lang="zh-CN" altLang="en-US" dirty="0" smtClean="0"/>
              <a:t>源跟随器</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35</a:t>
            </a:fld>
            <a:endParaRPr lang="zh-CN" altLang="en-US"/>
          </a:p>
        </p:txBody>
      </p:sp>
      <p:grpSp>
        <p:nvGrpSpPr>
          <p:cNvPr id="10" name="组合 9"/>
          <p:cNvGrpSpPr/>
          <p:nvPr/>
        </p:nvGrpSpPr>
        <p:grpSpPr>
          <a:xfrm>
            <a:off x="838200" y="2671689"/>
            <a:ext cx="3718854" cy="2514154"/>
            <a:chOff x="1134500" y="2572629"/>
            <a:chExt cx="3718854" cy="2514154"/>
          </a:xfrm>
        </p:grpSpPr>
        <p:pic>
          <p:nvPicPr>
            <p:cNvPr id="6" name="图片 5"/>
            <p:cNvPicPr>
              <a:picLocks noChangeAspect="1"/>
            </p:cNvPicPr>
            <p:nvPr/>
          </p:nvPicPr>
          <p:blipFill>
            <a:blip r:embed="rId2"/>
            <a:stretch>
              <a:fillRect/>
            </a:stretch>
          </p:blipFill>
          <p:spPr>
            <a:xfrm>
              <a:off x="1134500" y="2572629"/>
              <a:ext cx="3718854" cy="2514154"/>
            </a:xfrm>
            <a:prstGeom prst="rect">
              <a:avLst/>
            </a:prstGeom>
          </p:spPr>
        </p:pic>
        <p:sp>
          <p:nvSpPr>
            <p:cNvPr id="7" name="右箭头 6"/>
            <p:cNvSpPr/>
            <p:nvPr/>
          </p:nvSpPr>
          <p:spPr>
            <a:xfrm>
              <a:off x="2590800" y="3724656"/>
              <a:ext cx="213360" cy="3535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3439494" y="2945579"/>
                  <a:ext cx="448969" cy="3128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oMath>
                    </m:oMathPara>
                  </a14:m>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3439494" y="2945579"/>
                  <a:ext cx="448969" cy="312843"/>
                </a:xfrm>
                <a:prstGeom prst="rect">
                  <a:avLst/>
                </a:prstGeom>
                <a:blipFill>
                  <a:blip r:embed="rId3"/>
                  <a:stretch>
                    <a:fillRect l="-6849" t="-1923" r="-5479"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3439494" y="3724656"/>
                  <a:ext cx="448969" cy="3134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2</m:t>
                            </m:r>
                          </m:sub>
                          <m:sup>
                            <m:r>
                              <a:rPr lang="en-US" altLang="zh-CN" sz="2000" b="0" i="1" smtClean="0">
                                <a:latin typeface="Cambria Math" panose="02040503050406030204" pitchFamily="18" charset="0"/>
                              </a:rPr>
                              <m:t>2</m:t>
                            </m:r>
                          </m:sup>
                        </m:sSubSup>
                      </m:oMath>
                    </m:oMathPara>
                  </a14:m>
                  <a:endParaRPr lang="zh-CN" altLang="en-US" sz="2000" dirty="0"/>
                </a:p>
              </p:txBody>
            </p:sp>
          </mc:Choice>
          <mc:Fallback xmlns="">
            <p:sp>
              <p:nvSpPr>
                <p:cNvPr id="9" name="文本框 8"/>
                <p:cNvSpPr txBox="1">
                  <a:spLocks noRot="1" noChangeAspect="1" noMove="1" noResize="1" noEditPoints="1" noAdjustHandles="1" noChangeArrowheads="1" noChangeShapeType="1" noTextEdit="1"/>
                </p:cNvSpPr>
                <p:nvPr/>
              </p:nvSpPr>
              <p:spPr>
                <a:xfrm>
                  <a:off x="3439494" y="3724656"/>
                  <a:ext cx="448969" cy="313484"/>
                </a:xfrm>
                <a:prstGeom prst="rect">
                  <a:avLst/>
                </a:prstGeom>
                <a:blipFill>
                  <a:blip r:embed="rId4"/>
                  <a:stretch>
                    <a:fillRect l="-6849" t="-1923" r="-5479" b="-1730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1" name="文本框 10"/>
              <p:cNvSpPr txBox="1"/>
              <p:nvPr/>
            </p:nvSpPr>
            <p:spPr>
              <a:xfrm>
                <a:off x="5516880" y="2164080"/>
                <a:ext cx="3362267" cy="5810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𝑣</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Sub>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𝑚𝑏</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2</m:t>
                              </m:r>
                            </m:sub>
                          </m:sSub>
                        </m:den>
                      </m:f>
                    </m:oMath>
                  </m:oMathPara>
                </a14:m>
                <a:endParaRPr lang="zh-CN" altLang="en-US" sz="20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5516880" y="2164080"/>
                <a:ext cx="3362267" cy="58105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5516880" y="3218982"/>
                <a:ext cx="2614305" cy="6770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𝑖𝑛</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Sub>
                                </m:den>
                              </m:f>
                            </m:e>
                          </m:d>
                        </m:e>
                        <m:sup>
                          <m:r>
                            <a:rPr lang="en-US" altLang="zh-CN" b="0" i="1" smtClean="0">
                              <a:latin typeface="Cambria Math" panose="02040503050406030204" pitchFamily="18" charset="0"/>
                            </a:rPr>
                            <m:t>2</m:t>
                          </m:r>
                        </m:sup>
                      </m:sSup>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2</m:t>
                          </m:r>
                        </m:sub>
                        <m:sup>
                          <m:r>
                            <a:rPr lang="en-US" altLang="zh-CN" b="0" i="1" smtClean="0">
                              <a:latin typeface="Cambria Math" panose="02040503050406030204" pitchFamily="18" charset="0"/>
                            </a:rPr>
                            <m:t>2</m:t>
                          </m:r>
                        </m:sup>
                      </m:sSubSup>
                    </m:oMath>
                  </m:oMathPara>
                </a14:m>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5516880" y="3218982"/>
                <a:ext cx="2614305" cy="67704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5067299" y="4388724"/>
                <a:ext cx="6365012" cy="6770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𝑖𝑛</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zh-CN" altLang="en-US" b="0" i="1" smtClean="0">
                              <a:latin typeface="Cambria Math" panose="02040503050406030204" pitchFamily="18" charset="0"/>
                            </a:rPr>
                            <m:t>𝛾</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Sub>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𝐾</m:t>
                              </m:r>
                            </m:e>
                            <m:sub>
                              <m:r>
                                <a:rPr lang="en-US" altLang="zh-CN" b="0" i="1" smtClean="0">
                                  <a:latin typeface="Cambria Math" panose="02040503050406030204" pitchFamily="18" charset="0"/>
                                  <a:ea typeface="Cambria Math" panose="02040503050406030204" pitchFamily="18" charset="0"/>
                                </a:rPr>
                                <m:t>𝑁</m:t>
                              </m:r>
                            </m:sub>
                          </m:sSub>
                        </m:num>
                        <m:den>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𝑜𝑥</m:t>
                              </m:r>
                            </m:sub>
                          </m:sSub>
                          <m:r>
                            <a:rPr lang="en-US" altLang="zh-CN" b="0" i="1" smtClean="0">
                              <a:latin typeface="Cambria Math" panose="02040503050406030204" pitchFamily="18" charset="0"/>
                              <a:ea typeface="Cambria Math" panose="02040503050406030204" pitchFamily="18" charset="0"/>
                            </a:rPr>
                            <m:t>𝑊𝐿</m:t>
                          </m:r>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Sub>
                                </m:den>
                              </m:f>
                            </m:e>
                          </m:d>
                        </m:e>
                        <m:sup>
                          <m:r>
                            <a:rPr lang="en-US" altLang="zh-CN" b="0" i="1" smtClean="0">
                              <a:latin typeface="Cambria Math" panose="02040503050406030204" pitchFamily="18" charset="0"/>
                            </a:rPr>
                            <m:t>2</m:t>
                          </m:r>
                        </m:sup>
                      </m:sSup>
                      <m:d>
                        <m:dPr>
                          <m:ctrlPr>
                            <a:rPr lang="en-US" altLang="zh-CN" b="0" i="1" smtClean="0">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4</m:t>
                              </m:r>
                              <m:r>
                                <a:rPr lang="en-US" altLang="zh-CN" i="1">
                                  <a:latin typeface="Cambria Math" panose="02040503050406030204" pitchFamily="18" charset="0"/>
                                </a:rPr>
                                <m:t>𝑘𝑇</m:t>
                              </m:r>
                              <m:r>
                                <a:rPr lang="zh-CN" altLang="en-US" i="1">
                                  <a:latin typeface="Cambria Math" panose="02040503050406030204" pitchFamily="18" charset="0"/>
                                </a:rPr>
                                <m:t>𝛾</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𝑚</m:t>
                                  </m:r>
                                  <m:r>
                                    <a:rPr lang="en-US" altLang="zh-CN" b="0" i="1" smtClean="0">
                                      <a:latin typeface="Cambria Math" panose="02040503050406030204" pitchFamily="18" charset="0"/>
                                    </a:rPr>
                                    <m:t>2</m:t>
                                  </m:r>
                                </m:sub>
                              </m:sSub>
                            </m:den>
                          </m:f>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𝑓</m:t>
                          </m:r>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𝐾</m:t>
                                  </m:r>
                                </m:e>
                                <m:sub>
                                  <m:r>
                                    <a:rPr lang="en-US" altLang="zh-CN" i="1">
                                      <a:latin typeface="Cambria Math" panose="02040503050406030204" pitchFamily="18" charset="0"/>
                                      <a:ea typeface="Cambria Math" panose="02040503050406030204" pitchFamily="18" charset="0"/>
                                    </a:rPr>
                                    <m:t>𝑁</m:t>
                                  </m:r>
                                </m:sub>
                              </m:sSub>
                            </m:num>
                            <m:den>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𝐶</m:t>
                                  </m:r>
                                </m:e>
                                <m:sub>
                                  <m:r>
                                    <a:rPr lang="en-US" altLang="zh-CN" i="1">
                                      <a:latin typeface="Cambria Math" panose="02040503050406030204" pitchFamily="18" charset="0"/>
                                      <a:ea typeface="Cambria Math" panose="02040503050406030204" pitchFamily="18" charset="0"/>
                                    </a:rPr>
                                    <m:t>𝑜𝑥</m:t>
                                  </m:r>
                                </m:sub>
                              </m:sSub>
                              <m:r>
                                <a:rPr lang="en-US" altLang="zh-CN" i="1">
                                  <a:latin typeface="Cambria Math" panose="02040503050406030204" pitchFamily="18" charset="0"/>
                                  <a:ea typeface="Cambria Math" panose="02040503050406030204" pitchFamily="18" charset="0"/>
                                </a:rPr>
                                <m:t>𝑊𝐿</m:t>
                              </m:r>
                            </m:den>
                          </m:f>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𝑓</m:t>
                          </m:r>
                        </m:e>
                      </m:d>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5067299" y="4388724"/>
                <a:ext cx="6365012" cy="677045"/>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641855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单级放大器中的噪声</a:t>
            </a:r>
          </a:p>
        </p:txBody>
      </p:sp>
      <p:sp>
        <p:nvSpPr>
          <p:cNvPr id="3" name="内容占位符 2"/>
          <p:cNvSpPr>
            <a:spLocks noGrp="1"/>
          </p:cNvSpPr>
          <p:nvPr>
            <p:ph idx="1"/>
          </p:nvPr>
        </p:nvSpPr>
        <p:spPr/>
        <p:txBody>
          <a:bodyPr/>
          <a:lstStyle/>
          <a:p>
            <a:r>
              <a:rPr lang="zh-CN" altLang="en-US" dirty="0"/>
              <a:t>共</a:t>
            </a:r>
            <a:r>
              <a:rPr lang="zh-CN" altLang="en-US" dirty="0" smtClean="0"/>
              <a:t>栅放大器</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36</a:t>
            </a:fld>
            <a:endParaRPr lang="zh-CN" altLang="en-US"/>
          </a:p>
        </p:txBody>
      </p:sp>
      <p:pic>
        <p:nvPicPr>
          <p:cNvPr id="6" name="图片 5"/>
          <p:cNvPicPr>
            <a:picLocks noChangeAspect="1"/>
          </p:cNvPicPr>
          <p:nvPr/>
        </p:nvPicPr>
        <p:blipFill>
          <a:blip r:embed="rId2"/>
          <a:stretch>
            <a:fillRect/>
          </a:stretch>
        </p:blipFill>
        <p:spPr>
          <a:xfrm>
            <a:off x="1112007" y="2267849"/>
            <a:ext cx="2926593" cy="3721471"/>
          </a:xfrm>
          <a:prstGeom prst="rect">
            <a:avLst/>
          </a:prstGeom>
        </p:spPr>
      </p:pic>
      <p:sp>
        <p:nvSpPr>
          <p:cNvPr id="7" name="文本框 6"/>
          <p:cNvSpPr txBox="1"/>
          <p:nvPr/>
        </p:nvSpPr>
        <p:spPr>
          <a:xfrm>
            <a:off x="4625340" y="2888616"/>
            <a:ext cx="5867400" cy="225202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l"/>
            </a:pPr>
            <a:r>
              <a:rPr lang="zh-CN" altLang="en-US" sz="2400" dirty="0" smtClean="0"/>
              <a:t>输入时低阻节点，需要考虑等效输入噪声电压和等效输入噪声电流。</a:t>
            </a:r>
            <a:endParaRPr lang="en-US" altLang="zh-CN" sz="2400" dirty="0" smtClean="0"/>
          </a:p>
          <a:p>
            <a:pPr marL="285750" indent="-285750" algn="just">
              <a:lnSpc>
                <a:spcPct val="150000"/>
              </a:lnSpc>
              <a:buFont typeface="Wingdings" panose="05000000000000000000" pitchFamily="2" charset="2"/>
              <a:buChar char="l"/>
            </a:pPr>
            <a:r>
              <a:rPr lang="zh-CN" altLang="en-US" sz="2400" dirty="0" smtClean="0"/>
              <a:t>首先考虑等效输入噪声电压，</a:t>
            </a:r>
            <a:r>
              <a:rPr lang="en-US" altLang="zh-CN" sz="2400" dirty="0" smtClean="0"/>
              <a:t>Vin</a:t>
            </a:r>
            <a:r>
              <a:rPr lang="zh-CN" altLang="en-US" sz="2400" dirty="0" smtClean="0"/>
              <a:t>接等效噪声电压源，则</a:t>
            </a:r>
            <a:r>
              <a:rPr lang="en-US" altLang="zh-CN" sz="2400" dirty="0" smtClean="0"/>
              <a:t>M</a:t>
            </a:r>
            <a:r>
              <a:rPr lang="en-US" altLang="zh-CN" sz="2400" baseline="-25000" dirty="0" smtClean="0"/>
              <a:t>0</a:t>
            </a:r>
            <a:r>
              <a:rPr lang="zh-CN" altLang="en-US" sz="2400" dirty="0" smtClean="0"/>
              <a:t>和</a:t>
            </a:r>
            <a:r>
              <a:rPr lang="en-US" altLang="zh-CN" sz="2400" dirty="0" smtClean="0"/>
              <a:t>M</a:t>
            </a:r>
            <a:r>
              <a:rPr lang="en-US" altLang="zh-CN" sz="2400" baseline="-25000" dirty="0" smtClean="0"/>
              <a:t>2</a:t>
            </a:r>
            <a:r>
              <a:rPr lang="zh-CN" altLang="en-US" sz="2400" dirty="0" smtClean="0"/>
              <a:t>的噪声可不计。</a:t>
            </a:r>
            <a:endParaRPr lang="zh-CN" altLang="en-US" sz="2400" dirty="0"/>
          </a:p>
        </p:txBody>
      </p:sp>
    </p:spTree>
    <p:extLst>
      <p:ext uri="{BB962C8B-B14F-4D97-AF65-F5344CB8AC3E}">
        <p14:creationId xmlns:p14="http://schemas.microsoft.com/office/powerpoint/2010/main" val="1687069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单级放大器中的噪声</a:t>
            </a:r>
            <a:endParaRPr lang="zh-CN" altLang="en-US" dirty="0"/>
          </a:p>
        </p:txBody>
      </p:sp>
      <p:sp>
        <p:nvSpPr>
          <p:cNvPr id="3" name="内容占位符 2"/>
          <p:cNvSpPr>
            <a:spLocks noGrp="1"/>
          </p:cNvSpPr>
          <p:nvPr>
            <p:ph idx="1"/>
          </p:nvPr>
        </p:nvSpPr>
        <p:spPr/>
        <p:txBody>
          <a:bodyPr/>
          <a:lstStyle/>
          <a:p>
            <a:r>
              <a:rPr lang="zh-CN" altLang="en-US" dirty="0"/>
              <a:t>共栅放大器</a:t>
            </a:r>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37</a:t>
            </a:fld>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998220" y="2583180"/>
                <a:ext cx="2778325" cy="6129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𝑣</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𝑑𝑠</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𝑚𝑏</m:t>
                              </m:r>
                              <m:r>
                                <a:rPr lang="en-US" altLang="zh-CN" sz="2000" b="0" i="1" smtClean="0">
                                  <a:latin typeface="Cambria Math" panose="02040503050406030204" pitchFamily="18" charset="0"/>
                                </a:rPr>
                                <m:t>1</m:t>
                              </m:r>
                            </m:sub>
                          </m:sSub>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𝑑𝑠</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𝑑𝑠</m:t>
                              </m:r>
                              <m:r>
                                <a:rPr lang="en-US" altLang="zh-CN" sz="2000" b="0" i="1" smtClean="0">
                                  <a:latin typeface="Cambria Math" panose="02040503050406030204" pitchFamily="18" charset="0"/>
                                </a:rPr>
                                <m:t>3</m:t>
                              </m:r>
                            </m:sub>
                          </m:sSub>
                        </m:den>
                      </m:f>
                    </m:oMath>
                  </m:oMathPara>
                </a14:m>
                <a:endParaRPr lang="zh-CN" altLang="en-US" sz="2000" dirty="0"/>
              </a:p>
            </p:txBody>
          </p:sp>
        </mc:Choice>
        <mc:Fallback xmlns="">
          <p:sp>
            <p:nvSpPr>
              <p:cNvPr id="6" name="文本框 5"/>
              <p:cNvSpPr txBox="1">
                <a:spLocks noRot="1" noChangeAspect="1" noMove="1" noResize="1" noEditPoints="1" noAdjustHandles="1" noChangeArrowheads="1" noChangeShapeType="1" noTextEdit="1"/>
              </p:cNvSpPr>
              <p:nvPr/>
            </p:nvSpPr>
            <p:spPr>
              <a:xfrm>
                <a:off x="998220" y="2583180"/>
                <a:ext cx="2778325" cy="612988"/>
              </a:xfrm>
              <a:prstGeom prst="rect">
                <a:avLst/>
              </a:prstGeom>
              <a:blipFill>
                <a:blip r:embed="rId2"/>
                <a:stretch>
                  <a:fillRect b="-1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922020" y="3505200"/>
                <a:ext cx="5326380" cy="574388"/>
              </a:xfrm>
              <a:prstGeom prst="rect">
                <a:avLst/>
              </a:prstGeom>
              <a:noFill/>
            </p:spPr>
            <p:txBody>
              <a:bodyPr wrap="square" rtlCol="0">
                <a:spAutoFit/>
              </a:bodyPr>
              <a:lstStyle/>
              <a:p>
                <a:pPr marL="285750" indent="-285750">
                  <a:buFont typeface="Wingdings" panose="05000000000000000000" pitchFamily="2" charset="2"/>
                  <a:buChar char="l"/>
                </a:pPr>
                <a:r>
                  <a:rPr lang="en-US" altLang="zh-CN" sz="2000" dirty="0" smtClean="0"/>
                  <a:t>M</a:t>
                </a:r>
                <a:r>
                  <a:rPr lang="en-US" altLang="zh-CN" sz="2000" baseline="-25000" dirty="0" smtClean="0"/>
                  <a:t>1</a:t>
                </a:r>
                <a:r>
                  <a:rPr lang="zh-CN" altLang="en-US" sz="2000" dirty="0" smtClean="0"/>
                  <a:t>的噪声：</a:t>
                </a:r>
                <a14:m>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𝑛𝑜</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𝑘𝑇</m:t>
                        </m:r>
                        <m:r>
                          <a:rPr lang="zh-CN" altLang="en-US" sz="2000" b="0" i="1" smtClean="0">
                            <a:latin typeface="Cambria Math" panose="02040503050406030204" pitchFamily="18" charset="0"/>
                          </a:rPr>
                          <m:t>𝛾</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Sub>
                      </m:num>
                      <m:den>
                        <m:sSup>
                          <m:sSupPr>
                            <m:ctrlPr>
                              <a:rPr lang="en-US" altLang="zh-CN" sz="2000" b="0" i="1" smtClean="0">
                                <a:latin typeface="Cambria Math" panose="02040503050406030204" pitchFamily="18" charset="0"/>
                              </a:rPr>
                            </m:ctrlPr>
                          </m:sSupPr>
                          <m:e>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𝑑𝑠</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𝑑𝑠</m:t>
                                    </m:r>
                                    <m:r>
                                      <a:rPr lang="en-US" altLang="zh-CN" sz="2000" b="0" i="1" smtClean="0">
                                        <a:latin typeface="Cambria Math" panose="02040503050406030204" pitchFamily="18" charset="0"/>
                                      </a:rPr>
                                      <m:t>3</m:t>
                                    </m:r>
                                  </m:sub>
                                </m:sSub>
                              </m:e>
                            </m:d>
                          </m:e>
                          <m:sup>
                            <m:r>
                              <a:rPr lang="en-US" altLang="zh-CN" sz="2000" b="0" i="1" smtClean="0">
                                <a:latin typeface="Cambria Math" panose="02040503050406030204" pitchFamily="18" charset="0"/>
                              </a:rPr>
                              <m:t>2</m:t>
                            </m:r>
                          </m:sup>
                        </m:sSup>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oMath>
                </a14:m>
                <a:endParaRPr lang="zh-CN" altLang="en-US" sz="2000" dirty="0"/>
              </a:p>
            </p:txBody>
          </p:sp>
        </mc:Choice>
        <mc:Fallback xmlns="">
          <p:sp>
            <p:nvSpPr>
              <p:cNvPr id="7" name="文本框 6"/>
              <p:cNvSpPr txBox="1">
                <a:spLocks noRot="1" noChangeAspect="1" noMove="1" noResize="1" noEditPoints="1" noAdjustHandles="1" noChangeArrowheads="1" noChangeShapeType="1" noTextEdit="1"/>
              </p:cNvSpPr>
              <p:nvPr/>
            </p:nvSpPr>
            <p:spPr>
              <a:xfrm>
                <a:off x="922020" y="3505200"/>
                <a:ext cx="5326380" cy="574388"/>
              </a:xfrm>
              <a:prstGeom prst="rect">
                <a:avLst/>
              </a:prstGeom>
              <a:blipFill>
                <a:blip r:embed="rId3"/>
                <a:stretch>
                  <a:fillRect l="-1030" b="-10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922020" y="4214525"/>
                <a:ext cx="5326380" cy="574388"/>
              </a:xfrm>
              <a:prstGeom prst="rect">
                <a:avLst/>
              </a:prstGeom>
              <a:noFill/>
            </p:spPr>
            <p:txBody>
              <a:bodyPr wrap="square" rtlCol="0">
                <a:spAutoFit/>
              </a:bodyPr>
              <a:lstStyle/>
              <a:p>
                <a:pPr marL="285750" indent="-285750">
                  <a:buFont typeface="Wingdings" panose="05000000000000000000" pitchFamily="2" charset="2"/>
                  <a:buChar char="l"/>
                </a:pPr>
                <a:r>
                  <a:rPr lang="en-US" altLang="zh-CN" sz="2000" dirty="0" smtClean="0"/>
                  <a:t>M</a:t>
                </a:r>
                <a:r>
                  <a:rPr lang="en-US" altLang="zh-CN" sz="2000" baseline="-25000" dirty="0" smtClean="0"/>
                  <a:t>3</a:t>
                </a:r>
                <a:r>
                  <a:rPr lang="zh-CN" altLang="en-US" sz="2000" dirty="0" smtClean="0"/>
                  <a:t>的噪声：</a:t>
                </a:r>
                <a14:m>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𝑛𝑜</m:t>
                        </m:r>
                        <m:r>
                          <a:rPr lang="en-US" altLang="zh-CN" sz="2000" b="0" i="1" smtClean="0">
                            <a:latin typeface="Cambria Math" panose="02040503050406030204" pitchFamily="18" charset="0"/>
                          </a:rPr>
                          <m:t>,3</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𝑘𝑇</m:t>
                        </m:r>
                        <m:r>
                          <a:rPr lang="zh-CN" altLang="en-US" sz="2000" b="0" i="1" smtClean="0">
                            <a:latin typeface="Cambria Math" panose="02040503050406030204" pitchFamily="18" charset="0"/>
                          </a:rPr>
                          <m:t>𝛾</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3</m:t>
                            </m:r>
                          </m:sub>
                        </m:sSub>
                      </m:num>
                      <m:den>
                        <m:sSup>
                          <m:sSupPr>
                            <m:ctrlPr>
                              <a:rPr lang="en-US" altLang="zh-CN" sz="2000" b="0" i="1" smtClean="0">
                                <a:latin typeface="Cambria Math" panose="02040503050406030204" pitchFamily="18" charset="0"/>
                              </a:rPr>
                            </m:ctrlPr>
                          </m:sSupPr>
                          <m:e>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𝑑𝑠</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𝑑𝑠</m:t>
                                    </m:r>
                                    <m:r>
                                      <a:rPr lang="en-US" altLang="zh-CN" sz="2000" b="0" i="1" smtClean="0">
                                        <a:latin typeface="Cambria Math" panose="02040503050406030204" pitchFamily="18" charset="0"/>
                                      </a:rPr>
                                      <m:t>3</m:t>
                                    </m:r>
                                  </m:sub>
                                </m:sSub>
                              </m:e>
                            </m:d>
                          </m:e>
                          <m:sup>
                            <m:r>
                              <a:rPr lang="en-US" altLang="zh-CN" sz="2000" b="0" i="1" smtClean="0">
                                <a:latin typeface="Cambria Math" panose="02040503050406030204" pitchFamily="18" charset="0"/>
                              </a:rPr>
                              <m:t>2</m:t>
                            </m:r>
                          </m:sup>
                        </m:sSup>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oMath>
                </a14:m>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922020" y="4214525"/>
                <a:ext cx="5326380" cy="574388"/>
              </a:xfrm>
              <a:prstGeom prst="rect">
                <a:avLst/>
              </a:prstGeom>
              <a:blipFill>
                <a:blip r:embed="rId4"/>
                <a:stretch>
                  <a:fillRect l="-1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922020" y="4923850"/>
                <a:ext cx="5326380" cy="627864"/>
              </a:xfrm>
              <a:prstGeom prst="rect">
                <a:avLst/>
              </a:prstGeom>
              <a:noFill/>
            </p:spPr>
            <p:txBody>
              <a:bodyPr wrap="square" rtlCol="0">
                <a:spAutoFit/>
              </a:bodyPr>
              <a:lstStyle/>
              <a:p>
                <a:pPr marL="285750" indent="-285750">
                  <a:buFont typeface="Wingdings" panose="05000000000000000000" pitchFamily="2" charset="2"/>
                  <a:buChar char="l"/>
                </a:pPr>
                <a:r>
                  <a:rPr lang="en-US" altLang="zh-CN" sz="2000" dirty="0" smtClean="0"/>
                  <a:t>M</a:t>
                </a:r>
                <a:r>
                  <a:rPr lang="en-US" altLang="zh-CN" sz="2000" baseline="-25000" dirty="0" smtClean="0"/>
                  <a:t>4</a:t>
                </a:r>
                <a:r>
                  <a:rPr lang="zh-CN" altLang="en-US" sz="2000" dirty="0" smtClean="0"/>
                  <a:t>的噪声：</a:t>
                </a:r>
                <a14:m>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𝑛𝑜</m:t>
                        </m:r>
                        <m:r>
                          <a:rPr lang="en-US" altLang="zh-CN" sz="2000" b="0" i="1" smtClean="0">
                            <a:latin typeface="Cambria Math" panose="02040503050406030204" pitchFamily="18" charset="0"/>
                          </a:rPr>
                          <m:t>,4</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𝑘𝑇</m:t>
                        </m:r>
                        <m:r>
                          <a:rPr lang="zh-CN" altLang="en-US" sz="2000" b="0" i="1" smtClean="0">
                            <a:latin typeface="Cambria Math" panose="02040503050406030204" pitchFamily="18" charset="0"/>
                          </a:rPr>
                          <m:t>𝛾</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3</m:t>
                            </m:r>
                          </m:sub>
                          <m:sup>
                            <m:r>
                              <a:rPr lang="en-US" altLang="zh-CN" sz="2000" b="0" i="1" smtClean="0">
                                <a:latin typeface="Cambria Math" panose="02040503050406030204" pitchFamily="18" charset="0"/>
                              </a:rPr>
                              <m:t>2</m:t>
                            </m:r>
                          </m:sup>
                        </m:sSubSup>
                      </m:num>
                      <m:den>
                        <m:sSup>
                          <m:sSupPr>
                            <m:ctrlPr>
                              <a:rPr lang="en-US" altLang="zh-CN" sz="2000" b="0" i="1" smtClean="0">
                                <a:latin typeface="Cambria Math" panose="02040503050406030204" pitchFamily="18" charset="0"/>
                              </a:rPr>
                            </m:ctrlPr>
                          </m:sSup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4</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𝑑𝑠</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𝑑𝑠</m:t>
                                    </m:r>
                                    <m:r>
                                      <a:rPr lang="en-US" altLang="zh-CN" sz="2000" b="0" i="1" smtClean="0">
                                        <a:latin typeface="Cambria Math" panose="02040503050406030204" pitchFamily="18" charset="0"/>
                                      </a:rPr>
                                      <m:t>3</m:t>
                                    </m:r>
                                  </m:sub>
                                </m:sSub>
                              </m:e>
                            </m:d>
                          </m:e>
                          <m:sup>
                            <m:r>
                              <a:rPr lang="en-US" altLang="zh-CN" sz="2000" b="0" i="1" smtClean="0">
                                <a:latin typeface="Cambria Math" panose="02040503050406030204" pitchFamily="18" charset="0"/>
                              </a:rPr>
                              <m:t>2</m:t>
                            </m:r>
                          </m:sup>
                        </m:sSup>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oMath>
                </a14:m>
                <a:endParaRPr lang="zh-CN" altLang="en-US" sz="2000" dirty="0"/>
              </a:p>
            </p:txBody>
          </p:sp>
        </mc:Choice>
        <mc:Fallback xmlns="">
          <p:sp>
            <p:nvSpPr>
              <p:cNvPr id="9" name="文本框 8"/>
              <p:cNvSpPr txBox="1">
                <a:spLocks noRot="1" noChangeAspect="1" noMove="1" noResize="1" noEditPoints="1" noAdjustHandles="1" noChangeArrowheads="1" noChangeShapeType="1" noTextEdit="1"/>
              </p:cNvSpPr>
              <p:nvPr/>
            </p:nvSpPr>
            <p:spPr>
              <a:xfrm>
                <a:off x="922020" y="4923850"/>
                <a:ext cx="5326380" cy="627864"/>
              </a:xfrm>
              <a:prstGeom prst="rect">
                <a:avLst/>
              </a:prstGeom>
              <a:blipFill>
                <a:blip r:embed="rId5"/>
                <a:stretch>
                  <a:fillRect l="-1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6332220" y="4942958"/>
                <a:ext cx="4107086" cy="6087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𝑖𝑛</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zh-CN" altLang="en-US" b="0" i="1" smtClean="0">
                              <a:latin typeface="Cambria Math" panose="02040503050406030204" pitchFamily="18" charset="0"/>
                            </a:rPr>
                            <m:t>𝛾</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f>
                            <m:fPr>
                              <m:type m:val="lin"/>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3</m:t>
                                  </m:r>
                                </m:sub>
                                <m:sup>
                                  <m:r>
                                    <a:rPr lang="en-US" altLang="zh-CN" b="0" i="1" smtClean="0">
                                      <a:latin typeface="Cambria Math" panose="02040503050406030204" pitchFamily="18" charset="0"/>
                                    </a:rPr>
                                    <m:t>2</m:t>
                                  </m:r>
                                </m:sup>
                              </m:sSubSup>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4</m:t>
                                  </m:r>
                                </m:sub>
                              </m:sSub>
                            </m:den>
                          </m:f>
                          <m:r>
                            <a:rPr lang="en-US" altLang="zh-CN" b="0" i="1" smtClean="0">
                              <a:latin typeface="Cambria Math" panose="02040503050406030204" pitchFamily="18" charset="0"/>
                            </a:rPr>
                            <m:t>)</m:t>
                          </m:r>
                        </m:num>
                        <m:den>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𝑚𝑏</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𝑑𝑠</m:t>
                                      </m:r>
                                      <m:r>
                                        <a:rPr lang="en-US" altLang="zh-CN" b="0" i="1" smtClean="0">
                                          <a:latin typeface="Cambria Math" panose="02040503050406030204" pitchFamily="18" charset="0"/>
                                        </a:rPr>
                                        <m:t>1</m:t>
                                      </m:r>
                                    </m:sub>
                                  </m:sSub>
                                </m:e>
                              </m:d>
                            </m:e>
                            <m:sup>
                              <m:r>
                                <a:rPr lang="en-US" altLang="zh-CN" b="0" i="1" smtClean="0">
                                  <a:latin typeface="Cambria Math" panose="02040503050406030204" pitchFamily="18" charset="0"/>
                                </a:rPr>
                                <m:t>2</m:t>
                              </m:r>
                            </m:sup>
                          </m:sSup>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oMath>
                  </m:oMathPara>
                </a14:m>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6332220" y="4942958"/>
                <a:ext cx="4107086" cy="608756"/>
              </a:xfrm>
              <a:prstGeom prst="rect">
                <a:avLst/>
              </a:prstGeom>
              <a:blipFill>
                <a:blip r:embed="rId6"/>
                <a:stretch>
                  <a:fillRect/>
                </a:stretch>
              </a:blipFill>
            </p:spPr>
            <p:txBody>
              <a:bodyPr/>
              <a:lstStyle/>
              <a:p>
                <a:r>
                  <a:rPr lang="zh-CN" altLang="en-US">
                    <a:noFill/>
                  </a:rPr>
                  <a:t> </a:t>
                </a:r>
              </a:p>
            </p:txBody>
          </p:sp>
        </mc:Fallback>
      </mc:AlternateContent>
      <p:pic>
        <p:nvPicPr>
          <p:cNvPr id="11" name="图片 10"/>
          <p:cNvPicPr>
            <a:picLocks noChangeAspect="1"/>
          </p:cNvPicPr>
          <p:nvPr/>
        </p:nvPicPr>
        <p:blipFill>
          <a:blip r:embed="rId7"/>
          <a:stretch>
            <a:fillRect/>
          </a:stretch>
        </p:blipFill>
        <p:spPr>
          <a:xfrm>
            <a:off x="6811767" y="1086550"/>
            <a:ext cx="2926593" cy="3721471"/>
          </a:xfrm>
          <a:prstGeom prst="rect">
            <a:avLst/>
          </a:prstGeom>
        </p:spPr>
      </p:pic>
      <p:cxnSp>
        <p:nvCxnSpPr>
          <p:cNvPr id="13" name="直接连接符 12"/>
          <p:cNvCxnSpPr/>
          <p:nvPr/>
        </p:nvCxnSpPr>
        <p:spPr>
          <a:xfrm flipH="1">
            <a:off x="7962900" y="3505200"/>
            <a:ext cx="480060" cy="5743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8987230" y="3516963"/>
            <a:ext cx="480060" cy="5743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flipV="1">
            <a:off x="8035033" y="3505200"/>
            <a:ext cx="480060" cy="5743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flipV="1">
            <a:off x="8987230" y="3505200"/>
            <a:ext cx="480060" cy="5743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7150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单级放大器中的噪声</a:t>
            </a:r>
          </a:p>
        </p:txBody>
      </p:sp>
      <p:sp>
        <p:nvSpPr>
          <p:cNvPr id="3" name="内容占位符 2"/>
          <p:cNvSpPr>
            <a:spLocks noGrp="1"/>
          </p:cNvSpPr>
          <p:nvPr>
            <p:ph idx="1"/>
          </p:nvPr>
        </p:nvSpPr>
        <p:spPr/>
        <p:txBody>
          <a:bodyPr/>
          <a:lstStyle/>
          <a:p>
            <a:r>
              <a:rPr lang="zh-CN" altLang="en-US" dirty="0" smtClean="0"/>
              <a:t>共栅放大器</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38</a:t>
            </a:fld>
            <a:endParaRPr lang="zh-CN" altLang="en-US"/>
          </a:p>
        </p:txBody>
      </p:sp>
      <p:sp>
        <p:nvSpPr>
          <p:cNvPr id="7" name="矩形 6"/>
          <p:cNvSpPr/>
          <p:nvPr/>
        </p:nvSpPr>
        <p:spPr>
          <a:xfrm>
            <a:off x="1143000" y="2350115"/>
            <a:ext cx="8542020" cy="553998"/>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en-US" sz="2000" dirty="0"/>
              <a:t>然后</a:t>
            </a:r>
            <a:r>
              <a:rPr lang="zh-CN" altLang="en-US" sz="2000" dirty="0" smtClean="0"/>
              <a:t>考虑</a:t>
            </a:r>
            <a:r>
              <a:rPr lang="zh-CN" altLang="en-US" sz="2000" dirty="0"/>
              <a:t>等效输入</a:t>
            </a:r>
            <a:r>
              <a:rPr lang="zh-CN" altLang="en-US" sz="2000" dirty="0" smtClean="0"/>
              <a:t>噪声电流，</a:t>
            </a:r>
            <a:r>
              <a:rPr lang="en-US" altLang="zh-CN" sz="2000" dirty="0"/>
              <a:t>Vin</a:t>
            </a:r>
            <a:r>
              <a:rPr lang="zh-CN" altLang="en-US" sz="2000" dirty="0"/>
              <a:t>接等效噪声</a:t>
            </a:r>
            <a:r>
              <a:rPr lang="zh-CN" altLang="en-US" sz="2000" dirty="0" smtClean="0"/>
              <a:t>电流源。</a:t>
            </a:r>
            <a:endParaRPr lang="zh-CN" altLang="en-US" sz="2000" dirty="0"/>
          </a:p>
        </p:txBody>
      </p:sp>
      <p:pic>
        <p:nvPicPr>
          <p:cNvPr id="9" name="图片 8"/>
          <p:cNvPicPr>
            <a:picLocks noChangeAspect="1"/>
          </p:cNvPicPr>
          <p:nvPr/>
        </p:nvPicPr>
        <p:blipFill>
          <a:blip r:embed="rId2"/>
          <a:stretch>
            <a:fillRect/>
          </a:stretch>
        </p:blipFill>
        <p:spPr>
          <a:xfrm>
            <a:off x="899160" y="2794981"/>
            <a:ext cx="2453640" cy="3120061"/>
          </a:xfrm>
          <a:prstGeom prst="rect">
            <a:avLst/>
          </a:prstGeom>
        </p:spPr>
      </p:pic>
      <mc:AlternateContent xmlns:mc="http://schemas.openxmlformats.org/markup-compatibility/2006" xmlns:a14="http://schemas.microsoft.com/office/drawing/2010/main">
        <mc:Choice Requires="a14">
          <p:sp>
            <p:nvSpPr>
              <p:cNvPr id="10" name="文本框 9"/>
              <p:cNvSpPr txBox="1"/>
              <p:nvPr/>
            </p:nvSpPr>
            <p:spPr>
              <a:xfrm>
                <a:off x="4179204" y="2942588"/>
                <a:ext cx="498533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𝑜𝑢𝑡</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3</m:t>
                          </m:r>
                        </m:sub>
                      </m:sSub>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𝑚𝑏</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𝑜</m:t>
                              </m:r>
                              <m:r>
                                <a:rPr lang="en-US" altLang="zh-CN" sz="2000" b="0" i="1" smtClean="0">
                                  <a:latin typeface="Cambria Math" panose="02040503050406030204" pitchFamily="18" charset="0"/>
                                </a:rPr>
                                <m:t>2</m:t>
                              </m:r>
                            </m:sub>
                          </m:sSub>
                        </m:e>
                      </m:d>
                    </m:oMath>
                  </m:oMathPara>
                </a14:m>
                <a:endParaRPr lang="zh-CN" altLang="en-US" sz="20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4179204" y="2942588"/>
                <a:ext cx="4985339" cy="307777"/>
              </a:xfrm>
              <a:prstGeom prst="rect">
                <a:avLst/>
              </a:prstGeom>
              <a:blipFill>
                <a:blip r:embed="rId3"/>
                <a:stretch>
                  <a:fillRect l="-612" t="-4000" b="-36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4191000" y="3288840"/>
                <a:ext cx="8001000" cy="697370"/>
              </a:xfrm>
              <a:prstGeom prst="rect">
                <a:avLst/>
              </a:prstGeom>
              <a:noFill/>
            </p:spPr>
            <p:txBody>
              <a:bodyPr wrap="square" rtlCol="0">
                <a:spAutoFit/>
              </a:bodyPr>
              <a:lstStyle/>
              <a:p>
                <a:pPr marL="285750" indent="-285750">
                  <a:buFont typeface="Wingdings" panose="05000000000000000000" pitchFamily="2" charset="2"/>
                  <a:buChar char="l"/>
                </a:pPr>
                <a:r>
                  <a:rPr lang="en-US" altLang="zh-CN" sz="2000" dirty="0" smtClean="0"/>
                  <a:t>M</a:t>
                </a:r>
                <a:r>
                  <a:rPr lang="en-US" altLang="zh-CN" sz="2000" baseline="-25000" dirty="0" smtClean="0"/>
                  <a:t>1</a:t>
                </a:r>
                <a:r>
                  <a:rPr lang="zh-CN" altLang="en-US" sz="2000" dirty="0" smtClean="0"/>
                  <a:t>的噪声：</a:t>
                </a:r>
                <a14:m>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𝑛𝑜</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4</m:t>
                            </m:r>
                            <m:r>
                              <a:rPr lang="en-US" altLang="zh-CN" sz="2000" i="1">
                                <a:latin typeface="Cambria Math" panose="02040503050406030204" pitchFamily="18" charset="0"/>
                              </a:rPr>
                              <m:t>𝑘𝑇</m:t>
                            </m:r>
                            <m:r>
                              <a:rPr lang="zh-CN" altLang="en-US" sz="2000" i="1">
                                <a:latin typeface="Cambria Math" panose="02040503050406030204" pitchFamily="18" charset="0"/>
                              </a:rPr>
                              <m:t>𝛾</m:t>
                            </m:r>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𝑔</m:t>
                                </m:r>
                              </m:e>
                              <m:sub>
                                <m:r>
                                  <a:rPr lang="en-US" altLang="zh-CN" sz="2000" i="1">
                                    <a:latin typeface="Cambria Math" panose="02040503050406030204" pitchFamily="18" charset="0"/>
                                  </a:rPr>
                                  <m:t>𝑚</m:t>
                                </m:r>
                                <m:r>
                                  <a:rPr lang="en-US" altLang="zh-CN" sz="2000" i="1">
                                    <a:latin typeface="Cambria Math" panose="02040503050406030204" pitchFamily="18" charset="0"/>
                                  </a:rPr>
                                  <m:t>1</m:t>
                                </m:r>
                              </m:sub>
                            </m:sSub>
                          </m:den>
                        </m:f>
                        <m:sSup>
                          <m:sSupPr>
                            <m:ctrlPr>
                              <a:rPr lang="en-US" altLang="zh-CN" sz="2000" i="1" smtClean="0">
                                <a:latin typeface="Cambria Math" panose="02040503050406030204" pitchFamily="18" charset="0"/>
                              </a:rPr>
                            </m:ctrlPr>
                          </m:sSupPr>
                          <m:e>
                            <m:d>
                              <m:dPr>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𝑔</m:t>
                                        </m:r>
                                      </m:e>
                                      <m:sub>
                                        <m:r>
                                          <a:rPr lang="en-US" altLang="zh-CN" sz="2000" i="1">
                                            <a:latin typeface="Cambria Math" panose="02040503050406030204" pitchFamily="18" charset="0"/>
                                          </a:rPr>
                                          <m:t>𝑚</m:t>
                                        </m:r>
                                        <m:r>
                                          <a:rPr lang="en-US" altLang="zh-CN" sz="2000" i="1">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𝑔</m:t>
                                        </m:r>
                                      </m:e>
                                      <m:sub>
                                        <m:r>
                                          <a:rPr lang="en-US" altLang="zh-CN" sz="2000" i="1">
                                            <a:latin typeface="Cambria Math" panose="02040503050406030204" pitchFamily="18" charset="0"/>
                                          </a:rPr>
                                          <m:t>𝑑𝑠</m:t>
                                        </m:r>
                                        <m:r>
                                          <a:rPr lang="en-US" altLang="zh-CN" sz="2000" i="1">
                                            <a:latin typeface="Cambria Math" panose="02040503050406030204" pitchFamily="18" charset="0"/>
                                          </a:rPr>
                                          <m:t>2</m:t>
                                        </m:r>
                                      </m:sub>
                                    </m:sSub>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𝑔</m:t>
                                        </m:r>
                                      </m:e>
                                      <m:sub>
                                        <m:r>
                                          <a:rPr lang="en-US" altLang="zh-CN" sz="2000" i="1">
                                            <a:latin typeface="Cambria Math" panose="02040503050406030204" pitchFamily="18" charset="0"/>
                                          </a:rPr>
                                          <m:t>𝑚</m:t>
                                        </m:r>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𝑔</m:t>
                                        </m:r>
                                      </m:e>
                                      <m:sub>
                                        <m:r>
                                          <a:rPr lang="en-US" altLang="zh-CN" sz="2000" i="1">
                                            <a:latin typeface="Cambria Math" panose="02040503050406030204" pitchFamily="18" charset="0"/>
                                          </a:rPr>
                                          <m:t>𝑑𝑠</m:t>
                                        </m:r>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𝑔</m:t>
                                        </m:r>
                                      </m:e>
                                      <m:sub>
                                        <m:r>
                                          <a:rPr lang="en-US" altLang="zh-CN" sz="2000" i="1">
                                            <a:latin typeface="Cambria Math" panose="02040503050406030204" pitchFamily="18" charset="0"/>
                                          </a:rPr>
                                          <m:t>𝑑𝑠</m:t>
                                        </m:r>
                                        <m:r>
                                          <a:rPr lang="en-US" altLang="zh-CN" sz="2000" i="1">
                                            <a:latin typeface="Cambria Math" panose="02040503050406030204" pitchFamily="18" charset="0"/>
                                          </a:rPr>
                                          <m:t>2</m:t>
                                        </m:r>
                                      </m:sub>
                                    </m:sSub>
                                  </m:den>
                                </m:f>
                              </m:e>
                            </m:d>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𝑜𝑢𝑡</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oMath>
                </a14:m>
                <a:endParaRPr lang="zh-CN" altLang="en-US" sz="2000" dirty="0"/>
              </a:p>
            </p:txBody>
          </p:sp>
        </mc:Choice>
        <mc:Fallback>
          <p:sp>
            <p:nvSpPr>
              <p:cNvPr id="11" name="文本框 10"/>
              <p:cNvSpPr txBox="1">
                <a:spLocks noRot="1" noChangeAspect="1" noMove="1" noResize="1" noEditPoints="1" noAdjustHandles="1" noChangeArrowheads="1" noChangeShapeType="1" noTextEdit="1"/>
              </p:cNvSpPr>
              <p:nvPr/>
            </p:nvSpPr>
            <p:spPr>
              <a:xfrm>
                <a:off x="4191000" y="3288840"/>
                <a:ext cx="8001000" cy="697370"/>
              </a:xfrm>
              <a:prstGeom prst="rect">
                <a:avLst/>
              </a:prstGeom>
              <a:blipFill>
                <a:blip r:embed="rId4"/>
                <a:stretch>
                  <a:fillRect l="-6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179204" y="4001294"/>
                <a:ext cx="6260196" cy="583493"/>
              </a:xfrm>
              <a:prstGeom prst="rect">
                <a:avLst/>
              </a:prstGeom>
              <a:noFill/>
            </p:spPr>
            <p:txBody>
              <a:bodyPr wrap="square" rtlCol="0">
                <a:spAutoFit/>
              </a:bodyPr>
              <a:lstStyle/>
              <a:p>
                <a:pPr marL="285750" indent="-285750">
                  <a:buFont typeface="Wingdings" panose="05000000000000000000" pitchFamily="2" charset="2"/>
                  <a:buChar char="l"/>
                </a:pPr>
                <a:r>
                  <a:rPr lang="en-US" altLang="zh-CN" sz="2000" dirty="0" smtClean="0"/>
                  <a:t>M</a:t>
                </a:r>
                <a:r>
                  <a:rPr lang="en-US" altLang="zh-CN" sz="2000" baseline="-25000" dirty="0" smtClean="0"/>
                  <a:t>2,0</a:t>
                </a:r>
                <a:r>
                  <a:rPr lang="zh-CN" altLang="en-US" sz="2000" dirty="0" smtClean="0"/>
                  <a:t>的噪声：</a:t>
                </a:r>
                <a14:m>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𝑛𝑜</m:t>
                        </m:r>
                        <m:r>
                          <a:rPr lang="en-US" altLang="zh-CN" sz="2000" b="0" i="1" smtClean="0">
                            <a:latin typeface="Cambria Math" panose="02040503050406030204" pitchFamily="18" charset="0"/>
                          </a:rPr>
                          <m:t>,2,0</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𝑘𝑇</m:t>
                    </m:r>
                    <m:r>
                      <a:rPr lang="zh-CN" altLang="en-US" sz="2000" b="0" i="1" smtClean="0">
                        <a:latin typeface="Cambria Math" panose="02040503050406030204" pitchFamily="18" charset="0"/>
                      </a:rPr>
                      <m:t>𝛾</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2</m:t>
                        </m:r>
                      </m:sub>
                    </m:sSub>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2</m:t>
                                </m:r>
                              </m:sub>
                            </m:sSub>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0</m:t>
                                </m:r>
                              </m:sub>
                            </m:sSub>
                          </m:den>
                        </m:f>
                      </m:e>
                    </m:d>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𝑜𝑢𝑡</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oMath>
                </a14:m>
                <a:endParaRPr lang="zh-CN" altLang="en-US" sz="20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4179204" y="4001294"/>
                <a:ext cx="6260196" cy="583493"/>
              </a:xfrm>
              <a:prstGeom prst="rect">
                <a:avLst/>
              </a:prstGeom>
              <a:blipFill>
                <a:blip r:embed="rId5"/>
                <a:stretch>
                  <a:fillRect l="-8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4179204" y="4719697"/>
                <a:ext cx="6260196" cy="583493"/>
              </a:xfrm>
              <a:prstGeom prst="rect">
                <a:avLst/>
              </a:prstGeom>
              <a:noFill/>
            </p:spPr>
            <p:txBody>
              <a:bodyPr wrap="square" rtlCol="0">
                <a:spAutoFit/>
              </a:bodyPr>
              <a:lstStyle/>
              <a:p>
                <a:pPr marL="285750" indent="-285750">
                  <a:buFont typeface="Wingdings" panose="05000000000000000000" pitchFamily="2" charset="2"/>
                  <a:buChar char="l"/>
                </a:pPr>
                <a:r>
                  <a:rPr lang="en-US" altLang="zh-CN" sz="2000" dirty="0" smtClean="0"/>
                  <a:t>M</a:t>
                </a:r>
                <a:r>
                  <a:rPr lang="en-US" altLang="zh-CN" sz="2000" baseline="-25000" dirty="0" smtClean="0"/>
                  <a:t>3,4</a:t>
                </a:r>
                <a:r>
                  <a:rPr lang="zh-CN" altLang="en-US" sz="2000" dirty="0" smtClean="0"/>
                  <a:t>的噪声：</a:t>
                </a:r>
                <a14:m>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𝑛𝑜</m:t>
                        </m:r>
                        <m:r>
                          <a:rPr lang="en-US" altLang="zh-CN" sz="2000" b="0" i="1" smtClean="0">
                            <a:latin typeface="Cambria Math" panose="02040503050406030204" pitchFamily="18" charset="0"/>
                          </a:rPr>
                          <m:t>,3,4</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𝑘𝑇</m:t>
                    </m:r>
                    <m:r>
                      <a:rPr lang="zh-CN" altLang="en-US" sz="2000" b="0" i="1" smtClean="0">
                        <a:latin typeface="Cambria Math" panose="02040503050406030204" pitchFamily="18" charset="0"/>
                      </a:rPr>
                      <m:t>𝛾</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3</m:t>
                        </m:r>
                      </m:sub>
                    </m:sSub>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3</m:t>
                                </m:r>
                              </m:sub>
                            </m:sSub>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4</m:t>
                                </m:r>
                              </m:sub>
                            </m:sSub>
                          </m:den>
                        </m:f>
                      </m:e>
                    </m:d>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𝑜𝑢𝑡</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𝑓</m:t>
                    </m:r>
                  </m:oMath>
                </a14:m>
                <a:endParaRPr lang="zh-CN" altLang="en-US" sz="20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4179204" y="4719697"/>
                <a:ext cx="6260196" cy="583493"/>
              </a:xfrm>
              <a:prstGeom prst="rect">
                <a:avLst/>
              </a:prstGeom>
              <a:blipFill>
                <a:blip r:embed="rId6"/>
                <a:stretch>
                  <a:fillRect l="-8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4489536" y="5499384"/>
                <a:ext cx="3775393" cy="3131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𝑖𝑛</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f>
                        <m:fPr>
                          <m:type m:val="lin"/>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𝑛𝑜</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𝑣</m:t>
                              </m:r>
                            </m:e>
                            <m:sub>
                              <m:r>
                                <a:rPr lang="en-US" altLang="zh-CN" i="1">
                                  <a:latin typeface="Cambria Math" panose="02040503050406030204" pitchFamily="18" charset="0"/>
                                </a:rPr>
                                <m:t>𝑛𝑜</m:t>
                              </m:r>
                              <m:r>
                                <a:rPr lang="en-US" altLang="zh-CN" i="1">
                                  <a:latin typeface="Cambria Math" panose="02040503050406030204" pitchFamily="18" charset="0"/>
                                </a:rPr>
                                <m:t>,2,0</m:t>
                              </m:r>
                            </m:sub>
                            <m:sup>
                              <m:r>
                                <a:rPr lang="en-US" altLang="zh-CN" i="1">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𝑣</m:t>
                              </m:r>
                            </m:e>
                            <m:sub>
                              <m:r>
                                <a:rPr lang="en-US" altLang="zh-CN" i="1">
                                  <a:latin typeface="Cambria Math" panose="02040503050406030204" pitchFamily="18" charset="0"/>
                                </a:rPr>
                                <m:t>𝑛𝑜</m:t>
                              </m:r>
                              <m:r>
                                <a:rPr lang="en-US" altLang="zh-CN" i="1">
                                  <a:latin typeface="Cambria Math" panose="02040503050406030204" pitchFamily="18" charset="0"/>
                                </a:rPr>
                                <m:t>,3,4</m:t>
                              </m:r>
                            </m:sub>
                            <m:sup>
                              <m:r>
                                <a:rPr lang="en-US" altLang="zh-CN" i="1">
                                  <a:latin typeface="Cambria Math" panose="02040503050406030204" pitchFamily="18" charset="0"/>
                                </a:rPr>
                                <m:t>2</m:t>
                              </m:r>
                            </m:sup>
                          </m:sSubSup>
                          <m:r>
                            <a:rPr lang="en-US" altLang="zh-CN" b="0" i="1" smtClean="0">
                              <a:latin typeface="Cambria Math" panose="02040503050406030204" pitchFamily="18" charset="0"/>
                            </a:rPr>
                            <m:t>)</m:t>
                          </m:r>
                        </m:num>
                        <m:den>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𝑜𝑢𝑡</m:t>
                              </m:r>
                            </m:sub>
                            <m:sup>
                              <m:r>
                                <a:rPr lang="en-US" altLang="zh-CN" b="0" i="1" smtClean="0">
                                  <a:latin typeface="Cambria Math" panose="02040503050406030204" pitchFamily="18" charset="0"/>
                                </a:rPr>
                                <m:t>2</m:t>
                              </m:r>
                            </m:sup>
                          </m:sSubSup>
                        </m:den>
                      </m:f>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4489536" y="5499384"/>
                <a:ext cx="3775393" cy="313163"/>
              </a:xfrm>
              <a:prstGeom prst="rect">
                <a:avLst/>
              </a:prstGeom>
              <a:blipFill>
                <a:blip r:embed="rId7"/>
                <a:stretch>
                  <a:fillRect l="-968" t="-144231" r="-6452" b="-2153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552428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3" name="内容占位符 2"/>
          <p:cNvSpPr>
            <a:spLocks noGrp="1"/>
          </p:cNvSpPr>
          <p:nvPr>
            <p:ph idx="1"/>
          </p:nvPr>
        </p:nvSpPr>
        <p:spPr/>
        <p:txBody>
          <a:bodyPr>
            <a:normAutofit fontScale="85000" lnSpcReduction="10000"/>
          </a:bodyPr>
          <a:lstStyle/>
          <a:p>
            <a:pPr algn="just">
              <a:lnSpc>
                <a:spcPct val="150000"/>
              </a:lnSpc>
              <a:buFont typeface="Wingdings" panose="05000000000000000000" pitchFamily="2" charset="2"/>
              <a:buChar char="l"/>
            </a:pPr>
            <a:r>
              <a:rPr lang="en-US" altLang="zh-CN" sz="3600" b="1" dirty="0"/>
              <a:t> </a:t>
            </a:r>
            <a:r>
              <a:rPr lang="zh-CN" altLang="en-US" sz="3200" dirty="0" smtClean="0"/>
              <a:t>噪声的统计特性</a:t>
            </a:r>
            <a:endParaRPr lang="en-US" altLang="zh-CN" sz="3200" dirty="0" smtClean="0"/>
          </a:p>
          <a:p>
            <a:pPr algn="just">
              <a:lnSpc>
                <a:spcPct val="150000"/>
              </a:lnSpc>
              <a:buFont typeface="Wingdings" panose="05000000000000000000" pitchFamily="2" charset="2"/>
              <a:buChar char="l"/>
            </a:pPr>
            <a:r>
              <a:rPr lang="en-US" altLang="zh-CN" sz="3200" dirty="0"/>
              <a:t> </a:t>
            </a:r>
            <a:r>
              <a:rPr lang="en-US" altLang="zh-CN" sz="3200" dirty="0" smtClean="0"/>
              <a:t>MOS</a:t>
            </a:r>
            <a:r>
              <a:rPr lang="zh-CN" altLang="en-US" sz="3200" dirty="0" smtClean="0"/>
              <a:t>集成电路中的噪声类型</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smtClean="0"/>
              <a:t>电路中的噪声表示</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a:t>单</a:t>
            </a:r>
            <a:r>
              <a:rPr lang="zh-CN" altLang="en-US" sz="3200" dirty="0" smtClean="0"/>
              <a:t>级放大器中的噪声</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b="1" dirty="0"/>
              <a:t>电流</a:t>
            </a:r>
            <a:r>
              <a:rPr lang="zh-CN" altLang="en-US" sz="3200" b="1" dirty="0" smtClean="0"/>
              <a:t>镜中的噪声</a:t>
            </a:r>
            <a:endParaRPr lang="en-US" altLang="zh-CN" sz="3200" b="1" dirty="0" smtClean="0"/>
          </a:p>
          <a:p>
            <a:pPr algn="just">
              <a:lnSpc>
                <a:spcPct val="150000"/>
              </a:lnSpc>
              <a:buFont typeface="Wingdings" panose="05000000000000000000" pitchFamily="2" charset="2"/>
              <a:buChar char="l"/>
            </a:pPr>
            <a:r>
              <a:rPr lang="en-US" altLang="zh-CN" sz="3200" dirty="0"/>
              <a:t> </a:t>
            </a:r>
            <a:r>
              <a:rPr lang="zh-CN" altLang="en-US" sz="3200" dirty="0" smtClean="0"/>
              <a:t>差动对的噪声</a:t>
            </a:r>
            <a:endParaRPr lang="en-US" altLang="zh-CN" sz="2400" dirty="0" smtClean="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39</a:t>
            </a:fld>
            <a:endParaRPr lang="zh-CN" altLang="en-US"/>
          </a:p>
        </p:txBody>
      </p:sp>
    </p:spTree>
    <p:extLst>
      <p:ext uri="{BB962C8B-B14F-4D97-AF65-F5344CB8AC3E}">
        <p14:creationId xmlns:p14="http://schemas.microsoft.com/office/powerpoint/2010/main" val="1092360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电流</a:t>
            </a:r>
            <a:r>
              <a:rPr lang="zh-CN" altLang="en-US" dirty="0" smtClean="0"/>
              <a:t>镜噪声</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40</a:t>
            </a:fld>
            <a:endParaRPr lang="zh-CN" altLang="en-US"/>
          </a:p>
        </p:txBody>
      </p:sp>
      <p:grpSp>
        <p:nvGrpSpPr>
          <p:cNvPr id="15" name="组合 14"/>
          <p:cNvGrpSpPr/>
          <p:nvPr/>
        </p:nvGrpSpPr>
        <p:grpSpPr>
          <a:xfrm>
            <a:off x="575875" y="1690688"/>
            <a:ext cx="5520125" cy="2438400"/>
            <a:chOff x="1112519" y="2208431"/>
            <a:chExt cx="5520125" cy="2438400"/>
          </a:xfrm>
        </p:grpSpPr>
        <p:pic>
          <p:nvPicPr>
            <p:cNvPr id="6" name="图片 5"/>
            <p:cNvPicPr>
              <a:picLocks noChangeAspect="1"/>
            </p:cNvPicPr>
            <p:nvPr/>
          </p:nvPicPr>
          <p:blipFill>
            <a:blip r:embed="rId2"/>
            <a:stretch>
              <a:fillRect/>
            </a:stretch>
          </p:blipFill>
          <p:spPr>
            <a:xfrm>
              <a:off x="1112519" y="2208431"/>
              <a:ext cx="5093546" cy="2438400"/>
            </a:xfrm>
            <a:prstGeom prst="rect">
              <a:avLst/>
            </a:prstGeom>
          </p:spPr>
        </p:pic>
        <p:sp>
          <p:nvSpPr>
            <p:cNvPr id="7" name="右箭头 6"/>
            <p:cNvSpPr/>
            <p:nvPr/>
          </p:nvSpPr>
          <p:spPr>
            <a:xfrm>
              <a:off x="2900075" y="3093720"/>
              <a:ext cx="36576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6126480" y="3215829"/>
                  <a:ext cx="506164"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baseline="-25000" smtClean="0">
                                <a:latin typeface="Cambria Math" panose="02040503050406030204" pitchFamily="18" charset="0"/>
                              </a:rPr>
                              <m:t>2</m:t>
                            </m:r>
                          </m:sub>
                        </m:sSub>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6126480" y="3215829"/>
                  <a:ext cx="506164" cy="289182"/>
                </a:xfrm>
                <a:prstGeom prst="rect">
                  <a:avLst/>
                </a:prstGeom>
                <a:blipFill>
                  <a:blip r:embed="rId3"/>
                  <a:stretch>
                    <a:fillRect l="-10843" b="-234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6126480" y="3791233"/>
                  <a:ext cx="469295"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baseline="-25000" smtClean="0">
                                <a:latin typeface="Cambria Math" panose="02040503050406030204" pitchFamily="18" charset="0"/>
                              </a:rPr>
                              <m:t>2</m:t>
                            </m:r>
                          </m:sub>
                        </m:sSub>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6126480" y="3791233"/>
                  <a:ext cx="469295" cy="289182"/>
                </a:xfrm>
                <a:prstGeom prst="rect">
                  <a:avLst/>
                </a:prstGeom>
                <a:blipFill>
                  <a:blip r:embed="rId4"/>
                  <a:stretch>
                    <a:fillRect l="-11688" b="-234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3314749" y="3791233"/>
                  <a:ext cx="469295"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baseline="-25000" smtClean="0">
                                <a:latin typeface="Cambria Math" panose="02040503050406030204" pitchFamily="18" charset="0"/>
                              </a:rPr>
                              <m:t>1</m:t>
                            </m:r>
                          </m:sub>
                        </m:sSub>
                      </m:oMath>
                    </m:oMathPara>
                  </a14:m>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3314749" y="3791233"/>
                  <a:ext cx="469295" cy="289182"/>
                </a:xfrm>
                <a:prstGeom prst="rect">
                  <a:avLst/>
                </a:prstGeom>
                <a:blipFill>
                  <a:blip r:embed="rId5"/>
                  <a:stretch>
                    <a:fillRect l="-11688" b="-234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3296315" y="3283040"/>
                  <a:ext cx="506164"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baseline="-25000" smtClean="0">
                                <a:latin typeface="Cambria Math" panose="02040503050406030204" pitchFamily="18" charset="0"/>
                              </a:rPr>
                              <m:t>1</m:t>
                            </m:r>
                          </m:sub>
                        </m:sSub>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3296315" y="3283040"/>
                  <a:ext cx="506164" cy="289182"/>
                </a:xfrm>
                <a:prstGeom prst="rect">
                  <a:avLst/>
                </a:prstGeom>
                <a:blipFill>
                  <a:blip r:embed="rId6"/>
                  <a:stretch>
                    <a:fillRect l="-10843" b="-234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871223" y="3152835"/>
                  <a:ext cx="26609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𝑥</m:t>
                            </m:r>
                          </m:sub>
                        </m:sSub>
                      </m:oMath>
                    </m:oMathPara>
                  </a14:m>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4871223" y="3152835"/>
                  <a:ext cx="266098" cy="276999"/>
                </a:xfrm>
                <a:prstGeom prst="rect">
                  <a:avLst/>
                </a:prstGeom>
                <a:blipFill>
                  <a:blip r:embed="rId7"/>
                  <a:stretch>
                    <a:fillRect l="-18182" r="-2273" b="-108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6020248" y="3627120"/>
                  <a:ext cx="2557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𝑧</m:t>
                            </m:r>
                          </m:sub>
                        </m:sSub>
                      </m:oMath>
                    </m:oMathPara>
                  </a14:m>
                  <a:endParaRPr lang="zh-CN" altLang="en-US" dirty="0"/>
                </a:p>
              </p:txBody>
            </p:sp>
          </mc:Choice>
          <mc:Fallback xmlns="">
            <p:sp>
              <p:nvSpPr>
                <p:cNvPr id="13" name="文本框 12"/>
                <p:cNvSpPr txBox="1">
                  <a:spLocks noRot="1" noChangeAspect="1" noMove="1" noResize="1" noEditPoints="1" noAdjustHandles="1" noChangeArrowheads="1" noChangeShapeType="1" noTextEdit="1"/>
                </p:cNvSpPr>
                <p:nvPr/>
              </p:nvSpPr>
              <p:spPr>
                <a:xfrm>
                  <a:off x="6020248" y="3627120"/>
                  <a:ext cx="255711" cy="276999"/>
                </a:xfrm>
                <a:prstGeom prst="rect">
                  <a:avLst/>
                </a:prstGeom>
                <a:blipFill>
                  <a:blip r:embed="rId8"/>
                  <a:stretch>
                    <a:fillRect l="-21951" r="-2439" b="-108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4463891" y="3658825"/>
                  <a:ext cx="273728"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𝑦</m:t>
                            </m:r>
                          </m:sub>
                        </m:sSub>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4463891" y="3658825"/>
                  <a:ext cx="273728" cy="298928"/>
                </a:xfrm>
                <a:prstGeom prst="rect">
                  <a:avLst/>
                </a:prstGeom>
                <a:blipFill>
                  <a:blip r:embed="rId9"/>
                  <a:stretch>
                    <a:fillRect l="-17778" r="-6667" b="-2040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6" name="文本框 15"/>
              <p:cNvSpPr txBox="1"/>
              <p:nvPr/>
            </p:nvSpPr>
            <p:spPr>
              <a:xfrm>
                <a:off x="1535978" y="4110004"/>
                <a:ext cx="40675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sub>
                      </m:sSub>
                    </m:oMath>
                  </m:oMathPara>
                </a14:m>
                <a:endParaRPr lang="zh-CN" altLang="en-US" dirty="0"/>
              </a:p>
            </p:txBody>
          </p:sp>
        </mc:Choice>
        <mc:Fallback xmlns="">
          <p:sp>
            <p:nvSpPr>
              <p:cNvPr id="16" name="文本框 15"/>
              <p:cNvSpPr txBox="1">
                <a:spLocks noRot="1" noChangeAspect="1" noMove="1" noResize="1" noEditPoints="1" noAdjustHandles="1" noChangeArrowheads="1" noChangeShapeType="1" noTextEdit="1"/>
              </p:cNvSpPr>
              <p:nvPr/>
            </p:nvSpPr>
            <p:spPr>
              <a:xfrm>
                <a:off x="1535978" y="4110004"/>
                <a:ext cx="4067588" cy="276999"/>
              </a:xfrm>
              <a:prstGeom prst="rect">
                <a:avLst/>
              </a:prstGeom>
              <a:blipFill>
                <a:blip r:embed="rId10"/>
                <a:stretch>
                  <a:fillRect l="-900" b="-23913"/>
                </a:stretch>
              </a:blipFill>
            </p:spPr>
            <p:txBody>
              <a:bodyPr/>
              <a:lstStyle/>
              <a:p>
                <a:r>
                  <a:rPr lang="zh-CN" altLang="en-US">
                    <a:noFill/>
                  </a:rPr>
                  <a:t> </a:t>
                </a:r>
              </a:p>
            </p:txBody>
          </p:sp>
        </mc:Fallback>
      </mc:AlternateContent>
      <p:sp>
        <p:nvSpPr>
          <p:cNvPr id="17" name="文本框 16"/>
          <p:cNvSpPr txBox="1"/>
          <p:nvPr/>
        </p:nvSpPr>
        <p:spPr>
          <a:xfrm>
            <a:off x="6358325" y="295767"/>
            <a:ext cx="2880360"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CN" dirty="0" smtClean="0"/>
              <a:t>M</a:t>
            </a:r>
            <a:r>
              <a:rPr lang="en-US" altLang="zh-CN" baseline="-25000" dirty="0" smtClean="0"/>
              <a:t>1</a:t>
            </a:r>
            <a:r>
              <a:rPr lang="zh-CN" altLang="en-US" dirty="0" smtClean="0"/>
              <a:t>的噪声</a:t>
            </a:r>
            <a:endParaRPr lang="zh-CN" altLang="en-US" dirty="0"/>
          </a:p>
        </p:txBody>
      </p:sp>
      <mc:AlternateContent xmlns:mc="http://schemas.openxmlformats.org/markup-compatibility/2006" xmlns:a14="http://schemas.microsoft.com/office/drawing/2010/main">
        <mc:Choice Requires="a14">
          <p:sp>
            <p:nvSpPr>
              <p:cNvPr id="18" name="文本框 17"/>
              <p:cNvSpPr txBox="1"/>
              <p:nvPr/>
            </p:nvSpPr>
            <p:spPr>
              <a:xfrm>
                <a:off x="6524491" y="770752"/>
                <a:ext cx="4300216" cy="671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zh-CN" altLang="en-US" b="0" i="1" smtClean="0">
                              <a:latin typeface="Cambria Math" panose="02040503050406030204" pitchFamily="18" charset="0"/>
                            </a:rPr>
                            <m:t>𝛾</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1</m:t>
                              </m:r>
                            </m:sub>
                          </m:sSub>
                        </m:den>
                      </m:f>
                      <m:sSup>
                        <m:sSupPr>
                          <m:ctrlPr>
                            <a:rPr lang="en-US" altLang="zh-CN" i="1" smtClean="0">
                              <a:latin typeface="Cambria Math" panose="02040503050406030204" pitchFamily="18" charset="0"/>
                            </a:rPr>
                          </m:ctrlPr>
                        </m:sSupPr>
                        <m:e>
                          <m:d>
                            <m:dPr>
                              <m:begChr m:val="["/>
                              <m:endChr m:val="]"/>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num>
                                <m:den>
                                  <m:r>
                                    <a:rPr lang="en-US" altLang="zh-CN" b="0" i="1" smtClean="0">
                                      <a:latin typeface="Cambria Math" panose="02040503050406030204" pitchFamily="18" charset="0"/>
                                    </a:rPr>
                                    <m:t>1+</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𝑚𝑏</m:t>
                                          </m:r>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𝑅</m:t>
                                  </m:r>
                                </m:den>
                              </m:f>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𝑑𝑓</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4</m:t>
                          </m:r>
                          <m:r>
                            <a:rPr lang="en-US" altLang="zh-CN" b="0" i="1" smtClean="0">
                              <a:latin typeface="Cambria Math" panose="02040503050406030204" pitchFamily="18" charset="0"/>
                              <a:ea typeface="Cambria Math" panose="02040503050406030204" pitchFamily="18" charset="0"/>
                            </a:rPr>
                            <m:t>𝑘𝑇</m:t>
                          </m:r>
                          <m:r>
                            <a:rPr lang="zh-CN" altLang="en-US" b="0" i="1" smtClean="0">
                              <a:latin typeface="Cambria Math" panose="02040503050406030204" pitchFamily="18" charset="0"/>
                              <a:ea typeface="Cambria Math" panose="02040503050406030204" pitchFamily="18" charset="0"/>
                            </a:rPr>
                            <m:t>𝛾</m:t>
                          </m:r>
                        </m:num>
                        <m:den>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𝑔</m:t>
                              </m:r>
                            </m:e>
                            <m:sub>
                              <m:r>
                                <a:rPr lang="en-US" altLang="zh-CN" b="0" i="1" smtClean="0">
                                  <a:latin typeface="Cambria Math" panose="02040503050406030204" pitchFamily="18" charset="0"/>
                                  <a:ea typeface="Cambria Math" panose="02040503050406030204" pitchFamily="18" charset="0"/>
                                </a:rPr>
                                <m:t>𝑚</m:t>
                              </m:r>
                            </m:sub>
                          </m:sSub>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2</m:t>
                              </m:r>
                            </m:sup>
                          </m:sSup>
                        </m:den>
                      </m:f>
                      <m:r>
                        <a:rPr lang="en-US" altLang="zh-CN" b="0" i="1" smtClean="0">
                          <a:latin typeface="Cambria Math" panose="02040503050406030204" pitchFamily="18" charset="0"/>
                          <a:ea typeface="Cambria Math" panose="02040503050406030204" pitchFamily="18" charset="0"/>
                        </a:rPr>
                        <m:t>𝑑𝑓</m:t>
                      </m:r>
                    </m:oMath>
                  </m:oMathPara>
                </a14:m>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6524491" y="770752"/>
                <a:ext cx="4300216" cy="671081"/>
              </a:xfrm>
              <a:prstGeom prst="rect">
                <a:avLst/>
              </a:prstGeom>
              <a:blipFill>
                <a:blip r:embed="rId11"/>
                <a:stretch>
                  <a:fillRect/>
                </a:stretch>
              </a:blipFill>
            </p:spPr>
            <p:txBody>
              <a:bodyPr/>
              <a:lstStyle/>
              <a:p>
                <a:r>
                  <a:rPr lang="zh-CN" altLang="en-US">
                    <a:noFill/>
                  </a:rPr>
                  <a:t> </a:t>
                </a:r>
              </a:p>
            </p:txBody>
          </p:sp>
        </mc:Fallback>
      </mc:AlternateContent>
      <p:sp>
        <p:nvSpPr>
          <p:cNvPr id="19" name="文本框 18"/>
          <p:cNvSpPr txBox="1"/>
          <p:nvPr/>
        </p:nvSpPr>
        <p:spPr>
          <a:xfrm>
            <a:off x="6358325" y="1659558"/>
            <a:ext cx="2880360"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CN" dirty="0" smtClean="0"/>
              <a:t>R</a:t>
            </a:r>
            <a:r>
              <a:rPr lang="en-US" altLang="zh-CN" baseline="-25000" dirty="0" smtClean="0"/>
              <a:t>1</a:t>
            </a:r>
            <a:r>
              <a:rPr lang="zh-CN" altLang="en-US" dirty="0" smtClean="0"/>
              <a:t>的噪声</a:t>
            </a:r>
            <a:endParaRPr lang="zh-CN" altLang="en-US" dirty="0"/>
          </a:p>
        </p:txBody>
      </p:sp>
      <mc:AlternateContent xmlns:mc="http://schemas.openxmlformats.org/markup-compatibility/2006" xmlns:a14="http://schemas.microsoft.com/office/drawing/2010/main">
        <mc:Choice Requires="a14">
          <p:sp>
            <p:nvSpPr>
              <p:cNvPr id="20" name="文本框 19"/>
              <p:cNvSpPr txBox="1"/>
              <p:nvPr/>
            </p:nvSpPr>
            <p:spPr>
              <a:xfrm>
                <a:off x="6508556" y="2186593"/>
                <a:ext cx="4159920" cy="671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4</m:t>
                      </m:r>
                      <m:r>
                        <a:rPr lang="en-US" altLang="zh-CN" b="0" i="1" smtClean="0">
                          <a:latin typeface="Cambria Math" panose="02040503050406030204" pitchFamily="18" charset="0"/>
                        </a:rPr>
                        <m:t>𝑘𝑇𝑅</m:t>
                      </m:r>
                      <m:sSup>
                        <m:sSupPr>
                          <m:ctrlPr>
                            <a:rPr lang="en-US" altLang="zh-CN" i="1" smtClean="0">
                              <a:latin typeface="Cambria Math" panose="02040503050406030204" pitchFamily="18" charset="0"/>
                            </a:rPr>
                          </m:ctrlPr>
                        </m:sSupPr>
                        <m:e>
                          <m:d>
                            <m:dPr>
                              <m:begChr m:val="["/>
                              <m:endChr m:val="]"/>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num>
                                <m:den>
                                  <m:r>
                                    <a:rPr lang="en-US" altLang="zh-CN" b="0" i="1" smtClean="0">
                                      <a:latin typeface="Cambria Math" panose="02040503050406030204" pitchFamily="18" charset="0"/>
                                    </a:rPr>
                                    <m:t>1+</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𝑚𝑏</m:t>
                                          </m:r>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𝑅</m:t>
                                  </m:r>
                                </m:den>
                              </m:f>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𝑑𝑓</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4</m:t>
                          </m:r>
                          <m:r>
                            <a:rPr lang="en-US" altLang="zh-CN" b="0" i="1" smtClean="0">
                              <a:latin typeface="Cambria Math" panose="02040503050406030204" pitchFamily="18" charset="0"/>
                              <a:ea typeface="Cambria Math" panose="02040503050406030204" pitchFamily="18" charset="0"/>
                            </a:rPr>
                            <m:t>𝑘𝑇</m:t>
                          </m:r>
                        </m:num>
                        <m:den>
                          <m:r>
                            <a:rPr lang="en-US" altLang="zh-CN" b="0" i="1" smtClean="0">
                              <a:latin typeface="Cambria Math" panose="02040503050406030204" pitchFamily="18" charset="0"/>
                              <a:ea typeface="Cambria Math" panose="02040503050406030204" pitchFamily="18" charset="0"/>
                            </a:rPr>
                            <m:t>𝑅</m:t>
                          </m:r>
                        </m:den>
                      </m:f>
                      <m:r>
                        <a:rPr lang="en-US" altLang="zh-CN" b="0" i="1" smtClean="0">
                          <a:latin typeface="Cambria Math" panose="02040503050406030204" pitchFamily="18" charset="0"/>
                          <a:ea typeface="Cambria Math" panose="02040503050406030204" pitchFamily="18" charset="0"/>
                        </a:rPr>
                        <m:t>𝑑𝑓</m:t>
                      </m:r>
                    </m:oMath>
                  </m:oMathPara>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6508556" y="2186593"/>
                <a:ext cx="4159920" cy="671081"/>
              </a:xfrm>
              <a:prstGeom prst="rect">
                <a:avLst/>
              </a:prstGeom>
              <a:blipFill>
                <a:blip r:embed="rId12"/>
                <a:stretch>
                  <a:fillRect/>
                </a:stretch>
              </a:blipFill>
            </p:spPr>
            <p:txBody>
              <a:bodyPr/>
              <a:lstStyle/>
              <a:p>
                <a:r>
                  <a:rPr lang="zh-CN" altLang="en-US">
                    <a:noFill/>
                  </a:rPr>
                  <a:t> </a:t>
                </a:r>
              </a:p>
            </p:txBody>
          </p:sp>
        </mc:Fallback>
      </mc:AlternateContent>
      <p:sp>
        <p:nvSpPr>
          <p:cNvPr id="21" name="文本框 20"/>
          <p:cNvSpPr txBox="1"/>
          <p:nvPr/>
        </p:nvSpPr>
        <p:spPr>
          <a:xfrm>
            <a:off x="6431471" y="3107917"/>
            <a:ext cx="2880360"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CN" dirty="0" smtClean="0"/>
              <a:t>M</a:t>
            </a:r>
            <a:r>
              <a:rPr lang="en-US" altLang="zh-CN" baseline="-25000" dirty="0" smtClean="0"/>
              <a:t>2</a:t>
            </a:r>
            <a:r>
              <a:rPr lang="zh-CN" altLang="en-US" dirty="0" smtClean="0"/>
              <a:t>的噪声</a:t>
            </a:r>
            <a:endParaRPr lang="zh-CN" altLang="en-US" dirty="0"/>
          </a:p>
        </p:txBody>
      </p:sp>
      <mc:AlternateContent xmlns:mc="http://schemas.openxmlformats.org/markup-compatibility/2006" xmlns:a14="http://schemas.microsoft.com/office/drawing/2010/main">
        <mc:Choice Requires="a14">
          <p:sp>
            <p:nvSpPr>
              <p:cNvPr id="22" name="文本框 21"/>
              <p:cNvSpPr txBox="1"/>
              <p:nvPr/>
            </p:nvSpPr>
            <p:spPr>
              <a:xfrm>
                <a:off x="6508556" y="3564430"/>
                <a:ext cx="4300216" cy="671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r>
                            <a:rPr lang="zh-CN" altLang="en-US" b="0" i="1" smtClean="0">
                              <a:latin typeface="Cambria Math" panose="02040503050406030204" pitchFamily="18" charset="0"/>
                            </a:rPr>
                            <m:t>𝛾</m:t>
                          </m:r>
                        </m:num>
                        <m:den>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den>
                      </m:f>
                      <m:sSup>
                        <m:sSupPr>
                          <m:ctrlPr>
                            <a:rPr lang="en-US" altLang="zh-CN" i="1" smtClean="0">
                              <a:latin typeface="Cambria Math" panose="02040503050406030204" pitchFamily="18" charset="0"/>
                            </a:rPr>
                          </m:ctrlPr>
                        </m:sSupPr>
                        <m:e>
                          <m:d>
                            <m:dPr>
                              <m:begChr m:val="["/>
                              <m:endChr m:val="]"/>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num>
                                <m:den>
                                  <m:r>
                                    <a:rPr lang="en-US" altLang="zh-CN" b="0" i="1" smtClean="0">
                                      <a:latin typeface="Cambria Math" panose="02040503050406030204" pitchFamily="18" charset="0"/>
                                    </a:rPr>
                                    <m:t>1+</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𝑚𝑏</m:t>
                                          </m:r>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𝑅</m:t>
                                  </m:r>
                                </m:den>
                              </m:f>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𝑑𝑓</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4</m:t>
                          </m:r>
                          <m:r>
                            <a:rPr lang="en-US" altLang="zh-CN" b="0" i="1" smtClean="0">
                              <a:latin typeface="Cambria Math" panose="02040503050406030204" pitchFamily="18" charset="0"/>
                              <a:ea typeface="Cambria Math" panose="02040503050406030204" pitchFamily="18" charset="0"/>
                            </a:rPr>
                            <m:t>𝑘𝑇</m:t>
                          </m:r>
                          <m:r>
                            <a:rPr lang="zh-CN" altLang="en-US" b="0" i="1" smtClean="0">
                              <a:latin typeface="Cambria Math" panose="02040503050406030204" pitchFamily="18" charset="0"/>
                              <a:ea typeface="Cambria Math" panose="02040503050406030204" pitchFamily="18" charset="0"/>
                            </a:rPr>
                            <m:t>𝛾</m:t>
                          </m:r>
                        </m:num>
                        <m:den>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𝑔</m:t>
                              </m:r>
                            </m:e>
                            <m:sub>
                              <m:r>
                                <a:rPr lang="en-US" altLang="zh-CN" b="0" i="1" smtClean="0">
                                  <a:latin typeface="Cambria Math" panose="02040503050406030204" pitchFamily="18" charset="0"/>
                                  <a:ea typeface="Cambria Math" panose="02040503050406030204" pitchFamily="18" charset="0"/>
                                </a:rPr>
                                <m:t>𝑚</m:t>
                              </m:r>
                            </m:sub>
                          </m:sSub>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2</m:t>
                              </m:r>
                            </m:sup>
                          </m:sSup>
                        </m:den>
                      </m:f>
                      <m:r>
                        <a:rPr lang="en-US" altLang="zh-CN" b="0" i="1" smtClean="0">
                          <a:latin typeface="Cambria Math" panose="02040503050406030204" pitchFamily="18" charset="0"/>
                          <a:ea typeface="Cambria Math" panose="02040503050406030204" pitchFamily="18" charset="0"/>
                        </a:rPr>
                        <m:t>𝑑𝑓</m:t>
                      </m:r>
                    </m:oMath>
                  </m:oMathPara>
                </a14:m>
                <a:endParaRPr lang="zh-CN" altLang="en-US" dirty="0"/>
              </a:p>
            </p:txBody>
          </p:sp>
        </mc:Choice>
        <mc:Fallback xmlns="">
          <p:sp>
            <p:nvSpPr>
              <p:cNvPr id="22" name="文本框 21"/>
              <p:cNvSpPr txBox="1">
                <a:spLocks noRot="1" noChangeAspect="1" noMove="1" noResize="1" noEditPoints="1" noAdjustHandles="1" noChangeArrowheads="1" noChangeShapeType="1" noTextEdit="1"/>
              </p:cNvSpPr>
              <p:nvPr/>
            </p:nvSpPr>
            <p:spPr>
              <a:xfrm>
                <a:off x="6508556" y="3564430"/>
                <a:ext cx="4300216" cy="671081"/>
              </a:xfrm>
              <a:prstGeom prst="rect">
                <a:avLst/>
              </a:prstGeom>
              <a:blipFill>
                <a:blip r:embed="rId13"/>
                <a:stretch>
                  <a:fillRect/>
                </a:stretch>
              </a:blipFill>
            </p:spPr>
            <p:txBody>
              <a:bodyPr/>
              <a:lstStyle/>
              <a:p>
                <a:r>
                  <a:rPr lang="zh-CN" altLang="en-US">
                    <a:noFill/>
                  </a:rPr>
                  <a:t> </a:t>
                </a:r>
              </a:p>
            </p:txBody>
          </p:sp>
        </mc:Fallback>
      </mc:AlternateContent>
      <p:sp>
        <p:nvSpPr>
          <p:cNvPr id="23" name="文本框 22"/>
          <p:cNvSpPr txBox="1"/>
          <p:nvPr/>
        </p:nvSpPr>
        <p:spPr>
          <a:xfrm>
            <a:off x="6508556" y="4406497"/>
            <a:ext cx="2880360"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CN" dirty="0" smtClean="0"/>
              <a:t>R</a:t>
            </a:r>
            <a:r>
              <a:rPr lang="en-US" altLang="zh-CN" baseline="-25000" dirty="0" smtClean="0"/>
              <a:t>2</a:t>
            </a:r>
            <a:r>
              <a:rPr lang="zh-CN" altLang="en-US" dirty="0" smtClean="0"/>
              <a:t>的噪声</a:t>
            </a:r>
            <a:endParaRPr lang="zh-CN" altLang="en-US" dirty="0"/>
          </a:p>
        </p:txBody>
      </p:sp>
      <mc:AlternateContent xmlns:mc="http://schemas.openxmlformats.org/markup-compatibility/2006" xmlns:a14="http://schemas.microsoft.com/office/drawing/2010/main">
        <mc:Choice Requires="a14">
          <p:sp>
            <p:nvSpPr>
              <p:cNvPr id="24" name="文本框 23"/>
              <p:cNvSpPr txBox="1"/>
              <p:nvPr/>
            </p:nvSpPr>
            <p:spPr>
              <a:xfrm>
                <a:off x="6524491" y="5018931"/>
                <a:ext cx="4110869" cy="671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4</m:t>
                          </m:r>
                          <m:r>
                            <a:rPr lang="en-US" altLang="zh-CN" b="0" i="1" smtClean="0">
                              <a:latin typeface="Cambria Math" panose="02040503050406030204" pitchFamily="18" charset="0"/>
                            </a:rPr>
                            <m:t>𝑘𝑇</m:t>
                          </m:r>
                        </m:num>
                        <m:den>
                          <m:r>
                            <a:rPr lang="en-US" altLang="zh-CN" b="0" i="1" smtClean="0">
                              <a:latin typeface="Cambria Math" panose="02040503050406030204" pitchFamily="18" charset="0"/>
                            </a:rPr>
                            <m:t>𝑅</m:t>
                          </m:r>
                        </m:den>
                      </m:f>
                      <m:sSup>
                        <m:sSupPr>
                          <m:ctrlPr>
                            <a:rPr lang="en-US" altLang="zh-CN" i="1" smtClean="0">
                              <a:latin typeface="Cambria Math" panose="02040503050406030204" pitchFamily="18" charset="0"/>
                            </a:rPr>
                          </m:ctrlPr>
                        </m:sSupPr>
                        <m:e>
                          <m:d>
                            <m:dPr>
                              <m:begChr m:val="["/>
                              <m:endChr m:val="]"/>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r>
                                            <a:rPr lang="en-US" altLang="zh-CN" b="0" i="1" smtClean="0">
                                              <a:latin typeface="Cambria Math" panose="02040503050406030204" pitchFamily="18" charset="0"/>
                                            </a:rPr>
                                            <m:t>𝑏</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𝑑𝑠</m:t>
                                          </m:r>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𝑅</m:t>
                                  </m:r>
                                </m:num>
                                <m:den>
                                  <m:r>
                                    <a:rPr lang="en-US" altLang="zh-CN" b="0" i="1" smtClean="0">
                                      <a:latin typeface="Cambria Math" panose="02040503050406030204" pitchFamily="18" charset="0"/>
                                    </a:rPr>
                                    <m:t>1+</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𝑚</m:t>
                                          </m:r>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𝑚</m:t>
                                          </m:r>
                                          <m:r>
                                            <a:rPr lang="en-US" altLang="zh-CN" i="1">
                                              <a:latin typeface="Cambria Math" panose="02040503050406030204" pitchFamily="18" charset="0"/>
                                            </a:rPr>
                                            <m:t>2</m:t>
                                          </m:r>
                                          <m:r>
                                            <a:rPr lang="en-US" altLang="zh-CN" i="1">
                                              <a:latin typeface="Cambria Math" panose="02040503050406030204" pitchFamily="18" charset="0"/>
                                            </a:rPr>
                                            <m:t>𝑏</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𝑑𝑠</m:t>
                                          </m:r>
                                          <m:r>
                                            <a:rPr lang="en-US" altLang="zh-CN" i="1">
                                              <a:latin typeface="Cambria Math" panose="02040503050406030204" pitchFamily="18" charset="0"/>
                                            </a:rPr>
                                            <m:t>2</m:t>
                                          </m:r>
                                        </m:sub>
                                      </m:sSub>
                                    </m:e>
                                  </m:d>
                                  <m:r>
                                    <a:rPr lang="en-US" altLang="zh-CN" i="1">
                                      <a:latin typeface="Cambria Math" panose="02040503050406030204" pitchFamily="18" charset="0"/>
                                    </a:rPr>
                                    <m:t>𝑅</m:t>
                                  </m:r>
                                </m:den>
                              </m:f>
                            </m:e>
                          </m:d>
                        </m:e>
                        <m:sup>
                          <m:r>
                            <a:rPr lang="en-US" altLang="zh-CN" b="0" i="1" smtClean="0">
                              <a:latin typeface="Cambria Math" panose="02040503050406030204" pitchFamily="18" charset="0"/>
                            </a:rPr>
                            <m:t>2</m:t>
                          </m:r>
                        </m:sup>
                      </m:sSup>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4</m:t>
                          </m:r>
                          <m:r>
                            <a:rPr lang="en-US" altLang="zh-CN" b="0" i="1" smtClean="0">
                              <a:latin typeface="Cambria Math" panose="02040503050406030204" pitchFamily="18" charset="0"/>
                              <a:ea typeface="Cambria Math" panose="02040503050406030204" pitchFamily="18" charset="0"/>
                            </a:rPr>
                            <m:t>𝑘𝑇</m:t>
                          </m:r>
                        </m:num>
                        <m:den>
                          <m:r>
                            <a:rPr lang="en-US" altLang="zh-CN" b="0" i="1" smtClean="0">
                              <a:latin typeface="Cambria Math" panose="02040503050406030204" pitchFamily="18" charset="0"/>
                              <a:ea typeface="Cambria Math" panose="02040503050406030204" pitchFamily="18" charset="0"/>
                            </a:rPr>
                            <m:t>𝑅</m:t>
                          </m:r>
                        </m:den>
                      </m:f>
                    </m:oMath>
                  </m:oMathPara>
                </a14:m>
                <a:endParaRPr lang="zh-CN" altLang="en-US" dirty="0"/>
              </a:p>
            </p:txBody>
          </p:sp>
        </mc:Choice>
        <mc:Fallback xmlns="">
          <p:sp>
            <p:nvSpPr>
              <p:cNvPr id="24" name="文本框 23"/>
              <p:cNvSpPr txBox="1">
                <a:spLocks noRot="1" noChangeAspect="1" noMove="1" noResize="1" noEditPoints="1" noAdjustHandles="1" noChangeArrowheads="1" noChangeShapeType="1" noTextEdit="1"/>
              </p:cNvSpPr>
              <p:nvPr/>
            </p:nvSpPr>
            <p:spPr>
              <a:xfrm>
                <a:off x="6524491" y="5018931"/>
                <a:ext cx="4110869" cy="671081"/>
              </a:xfrm>
              <a:prstGeom prst="rect">
                <a:avLst/>
              </a:prstGeom>
              <a:blipFill>
                <a:blip r:embed="rId1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936887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电流镜噪声</a:t>
            </a:r>
          </a:p>
        </p:txBody>
      </p:sp>
      <p:sp>
        <p:nvSpPr>
          <p:cNvPr id="3" name="内容占位符 2"/>
          <p:cNvSpPr>
            <a:spLocks noGrp="1"/>
          </p:cNvSpPr>
          <p:nvPr>
            <p:ph idx="1"/>
          </p:nvPr>
        </p:nvSpPr>
        <p:spPr/>
        <p:txBody>
          <a:bodyPr/>
          <a:lstStyle/>
          <a:p>
            <a:r>
              <a:rPr lang="zh-CN" altLang="en-US" dirty="0"/>
              <a:t>总噪声</a:t>
            </a:r>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41</a:t>
            </a:fld>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2865120" y="2697480"/>
                <a:ext cx="5117106"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0" i="1" smtClean="0">
                              <a:latin typeface="Cambria Math" panose="02040503050406030204" pitchFamily="18" charset="0"/>
                            </a:rPr>
                            <m:t>𝑖</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𝑜𝑢𝑡</m:t>
                          </m:r>
                        </m:sub>
                        <m:sup>
                          <m:r>
                            <a:rPr lang="en-US" altLang="zh-CN" sz="2000" b="0" i="1" smtClean="0">
                              <a:latin typeface="Cambria Math" panose="02040503050406030204" pitchFamily="18" charset="0"/>
                            </a:rPr>
                            <m:t>2</m:t>
                          </m:r>
                        </m:sup>
                      </m:sSubSup>
                      <m:r>
                        <a:rPr lang="en-US" altLang="zh-CN" sz="200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2×</m:t>
                      </m:r>
                      <m:d>
                        <m:dPr>
                          <m:ctrlPr>
                            <a:rPr lang="en-US" altLang="zh-CN" sz="2000" b="0" i="1" smtClean="0">
                              <a:latin typeface="Cambria Math" panose="02040503050406030204" pitchFamily="18" charset="0"/>
                              <a:ea typeface="Cambria Math" panose="02040503050406030204" pitchFamily="18" charset="0"/>
                            </a:rPr>
                          </m:ctrlPr>
                        </m:dPr>
                        <m:e>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4</m:t>
                              </m:r>
                              <m:r>
                                <a:rPr lang="en-US" altLang="zh-CN" sz="2000" b="0" i="1" smtClean="0">
                                  <a:latin typeface="Cambria Math" panose="02040503050406030204" pitchFamily="18" charset="0"/>
                                  <a:ea typeface="Cambria Math" panose="02040503050406030204" pitchFamily="18" charset="0"/>
                                </a:rPr>
                                <m:t>𝑘𝑇</m:t>
                              </m:r>
                            </m:num>
                            <m:den>
                              <m:r>
                                <a:rPr lang="en-US" altLang="zh-CN" sz="2000" b="0" i="1" smtClean="0">
                                  <a:latin typeface="Cambria Math" panose="02040503050406030204" pitchFamily="18" charset="0"/>
                                  <a:ea typeface="Cambria Math" panose="02040503050406030204" pitchFamily="18" charset="0"/>
                                </a:rPr>
                                <m:t>𝑅</m:t>
                              </m:r>
                            </m:den>
                          </m:f>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4</m:t>
                              </m:r>
                              <m:r>
                                <a:rPr lang="en-US" altLang="zh-CN" sz="2000" b="0" i="1" smtClean="0">
                                  <a:latin typeface="Cambria Math" panose="02040503050406030204" pitchFamily="18" charset="0"/>
                                  <a:ea typeface="Cambria Math" panose="02040503050406030204" pitchFamily="18" charset="0"/>
                                </a:rPr>
                                <m:t>𝑘𝑇</m:t>
                              </m:r>
                              <m:r>
                                <a:rPr lang="zh-CN" altLang="en-US" sz="2000" b="0" i="1" smtClean="0">
                                  <a:latin typeface="Cambria Math" panose="02040503050406030204" pitchFamily="18" charset="0"/>
                                  <a:ea typeface="Cambria Math" panose="02040503050406030204" pitchFamily="18" charset="0"/>
                                </a:rPr>
                                <m:t>𝛾</m:t>
                              </m:r>
                            </m:num>
                            <m:den>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𝑔</m:t>
                                  </m:r>
                                </m:e>
                                <m:sub>
                                  <m:r>
                                    <a:rPr lang="en-US" altLang="zh-CN" sz="2000" b="0" i="1" smtClean="0">
                                      <a:latin typeface="Cambria Math" panose="02040503050406030204" pitchFamily="18" charset="0"/>
                                      <a:ea typeface="Cambria Math" panose="02040503050406030204" pitchFamily="18" charset="0"/>
                                    </a:rPr>
                                    <m:t>𝑚</m:t>
                                  </m:r>
                                </m:sub>
                              </m:sSub>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𝑅</m:t>
                                  </m:r>
                                </m:e>
                                <m:sup>
                                  <m:r>
                                    <a:rPr lang="en-US" altLang="zh-CN" sz="2000" b="0" i="1" smtClean="0">
                                      <a:latin typeface="Cambria Math" panose="02040503050406030204" pitchFamily="18" charset="0"/>
                                      <a:ea typeface="Cambria Math" panose="02040503050406030204" pitchFamily="18" charset="0"/>
                                    </a:rPr>
                                    <m:t>2</m:t>
                                  </m:r>
                                </m:sup>
                              </m:sSup>
                            </m:den>
                          </m:f>
                        </m:e>
                      </m:d>
                      <m:r>
                        <a:rPr lang="en-US" altLang="zh-CN" sz="2000" b="0" i="1" smtClean="0">
                          <a:latin typeface="Cambria Math" panose="02040503050406030204" pitchFamily="18" charset="0"/>
                          <a:ea typeface="Cambria Math" panose="02040503050406030204" pitchFamily="18" charset="0"/>
                        </a:rPr>
                        <m:t>=8</m:t>
                      </m:r>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𝑘𝑇</m:t>
                          </m:r>
                        </m:num>
                        <m:den>
                          <m:r>
                            <a:rPr lang="en-US" altLang="zh-CN" sz="2000" b="0" i="1" smtClean="0">
                              <a:latin typeface="Cambria Math" panose="02040503050406030204" pitchFamily="18" charset="0"/>
                              <a:ea typeface="Cambria Math" panose="02040503050406030204" pitchFamily="18" charset="0"/>
                            </a:rPr>
                            <m:t>𝑅</m:t>
                          </m:r>
                        </m:den>
                      </m:f>
                      <m:r>
                        <a:rPr lang="en-US" altLang="zh-CN" sz="2000" b="0" i="1" smtClean="0">
                          <a:latin typeface="Cambria Math" panose="02040503050406030204" pitchFamily="18" charset="0"/>
                          <a:ea typeface="Cambria Math" panose="02040503050406030204" pitchFamily="18" charset="0"/>
                        </a:rPr>
                        <m:t>(1+</m:t>
                      </m:r>
                      <m:f>
                        <m:fPr>
                          <m:ctrlPr>
                            <a:rPr lang="en-US" altLang="zh-CN" sz="2000" b="0" i="1" smtClean="0">
                              <a:latin typeface="Cambria Math" panose="02040503050406030204" pitchFamily="18" charset="0"/>
                              <a:ea typeface="Cambria Math" panose="02040503050406030204" pitchFamily="18" charset="0"/>
                            </a:rPr>
                          </m:ctrlPr>
                        </m:fPr>
                        <m:num>
                          <m:r>
                            <a:rPr lang="zh-CN" altLang="en-US" sz="2000" b="0" i="1" smtClean="0">
                              <a:latin typeface="Cambria Math" panose="02040503050406030204" pitchFamily="18" charset="0"/>
                              <a:ea typeface="Cambria Math" panose="02040503050406030204" pitchFamily="18" charset="0"/>
                            </a:rPr>
                            <m:t>𝛾</m:t>
                          </m:r>
                        </m:num>
                        <m:den>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𝑔</m:t>
                              </m:r>
                            </m:e>
                            <m:sub>
                              <m:r>
                                <a:rPr lang="en-US" altLang="zh-CN" sz="2000" b="0" i="1" smtClean="0">
                                  <a:latin typeface="Cambria Math" panose="02040503050406030204" pitchFamily="18" charset="0"/>
                                  <a:ea typeface="Cambria Math" panose="02040503050406030204" pitchFamily="18" charset="0"/>
                                </a:rPr>
                                <m:t>𝑚</m:t>
                              </m:r>
                            </m:sub>
                          </m:sSub>
                          <m:r>
                            <a:rPr lang="en-US" altLang="zh-CN" sz="2000" b="0" i="1" smtClean="0">
                              <a:latin typeface="Cambria Math" panose="02040503050406030204" pitchFamily="18" charset="0"/>
                              <a:ea typeface="Cambria Math" panose="02040503050406030204" pitchFamily="18" charset="0"/>
                            </a:rPr>
                            <m:t>𝑅</m:t>
                          </m:r>
                        </m:den>
                      </m:f>
                      <m:r>
                        <a:rPr lang="en-US" altLang="zh-CN" sz="2000" b="0" i="1" smtClean="0">
                          <a:latin typeface="Cambria Math" panose="02040503050406030204" pitchFamily="18" charset="0"/>
                          <a:ea typeface="Cambria Math" panose="02040503050406030204" pitchFamily="18" charset="0"/>
                        </a:rPr>
                        <m:t>)</m:t>
                      </m:r>
                    </m:oMath>
                  </m:oMathPara>
                </a14:m>
                <a:endParaRPr lang="zh-CN" altLang="en-US" sz="2000" dirty="0"/>
              </a:p>
            </p:txBody>
          </p:sp>
        </mc:Choice>
        <mc:Fallback xmlns="">
          <p:sp>
            <p:nvSpPr>
              <p:cNvPr id="6" name="文本框 5"/>
              <p:cNvSpPr txBox="1">
                <a:spLocks noRot="1" noChangeAspect="1" noMove="1" noResize="1" noEditPoints="1" noAdjustHandles="1" noChangeArrowheads="1" noChangeShapeType="1" noTextEdit="1"/>
              </p:cNvSpPr>
              <p:nvPr/>
            </p:nvSpPr>
            <p:spPr>
              <a:xfrm>
                <a:off x="2865120" y="2697480"/>
                <a:ext cx="5117106" cy="691536"/>
              </a:xfrm>
              <a:prstGeom prst="rect">
                <a:avLst/>
              </a:prstGeom>
              <a:blipFill>
                <a:blip r:embed="rId2"/>
                <a:stretch>
                  <a:fillRect/>
                </a:stretch>
              </a:blipFill>
            </p:spPr>
            <p:txBody>
              <a:bodyPr/>
              <a:lstStyle/>
              <a:p>
                <a:r>
                  <a:rPr lang="zh-CN" altLang="en-US">
                    <a:noFill/>
                  </a:rPr>
                  <a:t> </a:t>
                </a:r>
              </a:p>
            </p:txBody>
          </p:sp>
        </mc:Fallback>
      </mc:AlternateContent>
      <p:sp>
        <p:nvSpPr>
          <p:cNvPr id="7" name="文本框 6"/>
          <p:cNvSpPr txBox="1"/>
          <p:nvPr/>
        </p:nvSpPr>
        <p:spPr>
          <a:xfrm>
            <a:off x="1988820" y="3717506"/>
            <a:ext cx="7520940" cy="1695849"/>
          </a:xfrm>
          <a:prstGeom prst="rect">
            <a:avLst/>
          </a:prstGeom>
          <a:noFill/>
        </p:spPr>
        <p:txBody>
          <a:bodyPr wrap="square" rtlCol="0">
            <a:spAutoFit/>
          </a:bodyPr>
          <a:lstStyle/>
          <a:p>
            <a:pPr>
              <a:lnSpc>
                <a:spcPct val="150000"/>
              </a:lnSpc>
            </a:pPr>
            <a:r>
              <a:rPr lang="zh-CN" altLang="en-US" sz="2400" dirty="0" smtClean="0"/>
              <a:t>电阻</a:t>
            </a:r>
            <a:r>
              <a:rPr lang="en-US" altLang="zh-CN" sz="2400" dirty="0" smtClean="0"/>
              <a:t>R</a:t>
            </a:r>
            <a:r>
              <a:rPr lang="zh-CN" altLang="en-US" sz="2400" dirty="0" smtClean="0"/>
              <a:t>较小时，晶体管噪声占主导，当电阻较大时，电阻噪声占主导；</a:t>
            </a:r>
            <a:r>
              <a:rPr lang="zh-CN" altLang="en-US" sz="2400" dirty="0">
                <a:latin typeface="Times New Roman" pitchFamily="18" charset="0"/>
                <a:cs typeface="Times New Roman" pitchFamily="18" charset="0"/>
              </a:rPr>
              <a:t>该结论也适用于晶体管的</a:t>
            </a:r>
            <a:r>
              <a:rPr lang="en-US" altLang="zh-CN" sz="2400" dirty="0">
                <a:latin typeface="Times New Roman" pitchFamily="18" charset="0"/>
                <a:cs typeface="Times New Roman" pitchFamily="18" charset="0"/>
              </a:rPr>
              <a:t>1/</a:t>
            </a:r>
            <a:r>
              <a:rPr lang="en-US" altLang="zh-CN" sz="2400" i="1" dirty="0">
                <a:latin typeface="Times New Roman" pitchFamily="18" charset="0"/>
                <a:cs typeface="Times New Roman" pitchFamily="18" charset="0"/>
              </a:rPr>
              <a:t>f</a:t>
            </a:r>
            <a:r>
              <a:rPr lang="zh-CN" altLang="en-US" sz="2400" dirty="0">
                <a:latin typeface="Times New Roman" pitchFamily="18" charset="0"/>
                <a:cs typeface="Times New Roman" pitchFamily="18" charset="0"/>
              </a:rPr>
              <a:t>噪声，该方法也可降低电流镜的</a:t>
            </a:r>
            <a:r>
              <a:rPr lang="en-US" altLang="zh-CN" sz="2400" dirty="0">
                <a:latin typeface="Times New Roman" pitchFamily="18" charset="0"/>
                <a:cs typeface="Times New Roman" pitchFamily="18" charset="0"/>
              </a:rPr>
              <a:t>1/</a:t>
            </a:r>
            <a:r>
              <a:rPr lang="en-US" altLang="zh-CN" sz="2400" i="1" dirty="0">
                <a:latin typeface="Times New Roman" pitchFamily="18" charset="0"/>
                <a:cs typeface="Times New Roman" pitchFamily="18" charset="0"/>
              </a:rPr>
              <a:t>f</a:t>
            </a:r>
            <a:r>
              <a:rPr lang="zh-CN" altLang="en-US" sz="2400" dirty="0" smtClean="0">
                <a:latin typeface="Times New Roman" pitchFamily="18" charset="0"/>
                <a:cs typeface="Times New Roman" pitchFamily="18" charset="0"/>
              </a:rPr>
              <a:t>噪声。</a:t>
            </a:r>
            <a:endParaRPr lang="zh-CN" altLang="en-US" sz="2400" dirty="0"/>
          </a:p>
        </p:txBody>
      </p:sp>
    </p:spTree>
    <p:extLst>
      <p:ext uri="{BB962C8B-B14F-4D97-AF65-F5344CB8AC3E}">
        <p14:creationId xmlns:p14="http://schemas.microsoft.com/office/powerpoint/2010/main" val="38628608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3" name="内容占位符 2"/>
          <p:cNvSpPr>
            <a:spLocks noGrp="1"/>
          </p:cNvSpPr>
          <p:nvPr>
            <p:ph idx="1"/>
          </p:nvPr>
        </p:nvSpPr>
        <p:spPr/>
        <p:txBody>
          <a:bodyPr>
            <a:normAutofit fontScale="85000" lnSpcReduction="10000"/>
          </a:bodyPr>
          <a:lstStyle/>
          <a:p>
            <a:pPr algn="just">
              <a:lnSpc>
                <a:spcPct val="150000"/>
              </a:lnSpc>
              <a:buFont typeface="Wingdings" panose="05000000000000000000" pitchFamily="2" charset="2"/>
              <a:buChar char="l"/>
            </a:pPr>
            <a:r>
              <a:rPr lang="en-US" altLang="zh-CN" sz="3600" b="1" dirty="0"/>
              <a:t> </a:t>
            </a:r>
            <a:r>
              <a:rPr lang="zh-CN" altLang="en-US" sz="3200" dirty="0" smtClean="0"/>
              <a:t>噪声的统计特性</a:t>
            </a:r>
            <a:endParaRPr lang="en-US" altLang="zh-CN" sz="3200" dirty="0" smtClean="0"/>
          </a:p>
          <a:p>
            <a:pPr algn="just">
              <a:lnSpc>
                <a:spcPct val="150000"/>
              </a:lnSpc>
              <a:buFont typeface="Wingdings" panose="05000000000000000000" pitchFamily="2" charset="2"/>
              <a:buChar char="l"/>
            </a:pPr>
            <a:r>
              <a:rPr lang="en-US" altLang="zh-CN" sz="3200" dirty="0"/>
              <a:t> </a:t>
            </a:r>
            <a:r>
              <a:rPr lang="en-US" altLang="zh-CN" sz="3200" dirty="0" smtClean="0"/>
              <a:t>MOS</a:t>
            </a:r>
            <a:r>
              <a:rPr lang="zh-CN" altLang="en-US" sz="3200" dirty="0" smtClean="0"/>
              <a:t>集成电路中的噪声类型</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smtClean="0"/>
              <a:t>电路中的噪声表示</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a:t>单</a:t>
            </a:r>
            <a:r>
              <a:rPr lang="zh-CN" altLang="en-US" sz="3200" dirty="0" smtClean="0"/>
              <a:t>级放大器中的噪声</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dirty="0"/>
              <a:t>电流</a:t>
            </a:r>
            <a:r>
              <a:rPr lang="zh-CN" altLang="en-US" sz="3200" dirty="0" smtClean="0"/>
              <a:t>镜中的噪声</a:t>
            </a:r>
            <a:endParaRPr lang="en-US" altLang="zh-CN" sz="3200" dirty="0" smtClean="0"/>
          </a:p>
          <a:p>
            <a:pPr algn="just">
              <a:lnSpc>
                <a:spcPct val="150000"/>
              </a:lnSpc>
              <a:buFont typeface="Wingdings" panose="05000000000000000000" pitchFamily="2" charset="2"/>
              <a:buChar char="l"/>
            </a:pPr>
            <a:r>
              <a:rPr lang="en-US" altLang="zh-CN" sz="3200" dirty="0"/>
              <a:t> </a:t>
            </a:r>
            <a:r>
              <a:rPr lang="zh-CN" altLang="en-US" sz="3200" b="1" dirty="0" smtClean="0"/>
              <a:t>差动对的噪声</a:t>
            </a:r>
            <a:endParaRPr lang="en-US" altLang="zh-CN" sz="2400" b="1" dirty="0" smtClean="0"/>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42</a:t>
            </a:fld>
            <a:endParaRPr lang="zh-CN" altLang="en-US"/>
          </a:p>
        </p:txBody>
      </p:sp>
    </p:spTree>
    <p:extLst>
      <p:ext uri="{BB962C8B-B14F-4D97-AF65-F5344CB8AC3E}">
        <p14:creationId xmlns:p14="http://schemas.microsoft.com/office/powerpoint/2010/main" val="27572452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差动对的噪声</a:t>
            </a:r>
            <a:endParaRPr lang="zh-CN" altLang="en-US" dirty="0"/>
          </a:p>
        </p:txBody>
      </p:sp>
      <p:sp>
        <p:nvSpPr>
          <p:cNvPr id="3" name="内容占位符 2"/>
          <p:cNvSpPr>
            <a:spLocks noGrp="1"/>
          </p:cNvSpPr>
          <p:nvPr>
            <p:ph idx="1"/>
          </p:nvPr>
        </p:nvSpPr>
        <p:spPr/>
        <p:txBody>
          <a:bodyPr/>
          <a:lstStyle/>
          <a:p>
            <a:pPr>
              <a:lnSpc>
                <a:spcPct val="150000"/>
              </a:lnSpc>
            </a:pPr>
            <a:r>
              <a:rPr lang="en-US" altLang="zh-CN" sz="2400" dirty="0">
                <a:latin typeface="Times New Roman" pitchFamily="18" charset="0"/>
                <a:cs typeface="Times New Roman" pitchFamily="18" charset="0"/>
              </a:rPr>
              <a:t>NMOS</a:t>
            </a:r>
            <a:r>
              <a:rPr lang="zh-CN" altLang="en-US" sz="2400" dirty="0">
                <a:latin typeface="Times New Roman" pitchFamily="18" charset="0"/>
                <a:cs typeface="Times New Roman" pitchFamily="18" charset="0"/>
              </a:rPr>
              <a:t>的跨导为</a:t>
            </a:r>
            <a:r>
              <a:rPr lang="en-US" altLang="zh-CN" sz="2400" dirty="0" err="1">
                <a:latin typeface="Times New Roman" pitchFamily="18" charset="0"/>
                <a:cs typeface="Times New Roman" pitchFamily="18" charset="0"/>
              </a:rPr>
              <a:t>g</a:t>
            </a:r>
            <a:r>
              <a:rPr lang="en-US" altLang="zh-CN" sz="2400" baseline="-25000" dirty="0" err="1">
                <a:latin typeface="Times New Roman" pitchFamily="18" charset="0"/>
                <a:cs typeface="Times New Roman" pitchFamily="18" charset="0"/>
              </a:rPr>
              <a:t>mn</a:t>
            </a:r>
            <a:r>
              <a:rPr lang="zh-CN" altLang="en-US" sz="2400" dirty="0">
                <a:latin typeface="Times New Roman" pitchFamily="18" charset="0"/>
                <a:cs typeface="Times New Roman" pitchFamily="18" charset="0"/>
              </a:rPr>
              <a:t>，输出电导为</a:t>
            </a:r>
            <a:r>
              <a:rPr lang="en-US" altLang="zh-CN" sz="2400" dirty="0" err="1">
                <a:latin typeface="Times New Roman" pitchFamily="18" charset="0"/>
                <a:cs typeface="Times New Roman" pitchFamily="18" charset="0"/>
              </a:rPr>
              <a:t>g</a:t>
            </a:r>
            <a:r>
              <a:rPr lang="en-US" altLang="zh-CN" sz="2400" baseline="-25000" dirty="0" err="1">
                <a:latin typeface="Times New Roman" pitchFamily="18" charset="0"/>
                <a:cs typeface="Times New Roman" pitchFamily="18" charset="0"/>
              </a:rPr>
              <a:t>dsn</a:t>
            </a:r>
            <a:r>
              <a:rPr lang="zh-CN" altLang="en-US" sz="2400" dirty="0">
                <a:latin typeface="Times New Roman" pitchFamily="18" charset="0"/>
                <a:cs typeface="Times New Roman" pitchFamily="18" charset="0"/>
              </a:rPr>
              <a:t>，</a:t>
            </a:r>
            <a:r>
              <a:rPr lang="en-US" altLang="zh-CN" sz="2400" dirty="0">
                <a:latin typeface="Times New Roman" pitchFamily="18" charset="0"/>
                <a:cs typeface="Times New Roman" pitchFamily="18" charset="0"/>
              </a:rPr>
              <a:t>PMOS</a:t>
            </a:r>
            <a:r>
              <a:rPr lang="zh-CN" altLang="en-US" sz="2400" dirty="0">
                <a:latin typeface="Times New Roman" pitchFamily="18" charset="0"/>
                <a:cs typeface="Times New Roman" pitchFamily="18" charset="0"/>
              </a:rPr>
              <a:t>的跨导为</a:t>
            </a:r>
            <a:r>
              <a:rPr lang="en-US" altLang="zh-CN" sz="2400" dirty="0" err="1">
                <a:latin typeface="Times New Roman" pitchFamily="18" charset="0"/>
                <a:cs typeface="Times New Roman" pitchFamily="18" charset="0"/>
              </a:rPr>
              <a:t>g</a:t>
            </a:r>
            <a:r>
              <a:rPr lang="en-US" altLang="zh-CN" sz="2400" baseline="-25000" dirty="0" err="1">
                <a:latin typeface="Times New Roman" pitchFamily="18" charset="0"/>
                <a:cs typeface="Times New Roman" pitchFamily="18" charset="0"/>
              </a:rPr>
              <a:t>mp</a:t>
            </a:r>
            <a:r>
              <a:rPr lang="zh-CN" altLang="en-US" sz="2400" dirty="0">
                <a:latin typeface="Times New Roman" pitchFamily="18" charset="0"/>
                <a:cs typeface="Times New Roman" pitchFamily="18" charset="0"/>
              </a:rPr>
              <a:t>，输出电导为</a:t>
            </a:r>
            <a:r>
              <a:rPr lang="en-US" altLang="zh-CN" sz="2400" dirty="0" err="1">
                <a:latin typeface="Times New Roman" pitchFamily="18" charset="0"/>
                <a:cs typeface="Times New Roman" pitchFamily="18" charset="0"/>
              </a:rPr>
              <a:t>g</a:t>
            </a:r>
            <a:r>
              <a:rPr lang="en-US" altLang="zh-CN" sz="2400" baseline="-25000" dirty="0" err="1">
                <a:latin typeface="Times New Roman" pitchFamily="18" charset="0"/>
                <a:cs typeface="Times New Roman" pitchFamily="18" charset="0"/>
              </a:rPr>
              <a:t>dsp</a:t>
            </a:r>
            <a:r>
              <a:rPr lang="zh-CN" altLang="en-US" sz="2400" dirty="0">
                <a:latin typeface="Times New Roman" pitchFamily="18" charset="0"/>
                <a:cs typeface="Times New Roman" pitchFamily="18" charset="0"/>
              </a:rPr>
              <a:t>，对</a:t>
            </a:r>
            <a:r>
              <a:rPr lang="en-US" altLang="zh-CN" sz="2400" dirty="0" err="1">
                <a:latin typeface="Times New Roman" pitchFamily="18" charset="0"/>
                <a:cs typeface="Times New Roman" pitchFamily="18" charset="0"/>
              </a:rPr>
              <a:t>V</a:t>
            </a:r>
            <a:r>
              <a:rPr lang="en-US" altLang="zh-CN" sz="2400" baseline="-25000" dirty="0" err="1">
                <a:latin typeface="Times New Roman" pitchFamily="18" charset="0"/>
                <a:cs typeface="Times New Roman" pitchFamily="18" charset="0"/>
              </a:rPr>
              <a:t>x</a:t>
            </a:r>
            <a:r>
              <a:rPr lang="zh-CN" altLang="en-US" sz="2400" dirty="0">
                <a:latin typeface="Times New Roman" pitchFamily="18" charset="0"/>
                <a:cs typeface="Times New Roman" pitchFamily="18" charset="0"/>
              </a:rPr>
              <a:t>和</a:t>
            </a:r>
            <a:r>
              <a:rPr lang="en-US" altLang="zh-CN" sz="2400" dirty="0" err="1">
                <a:latin typeface="Times New Roman" pitchFamily="18" charset="0"/>
                <a:cs typeface="Times New Roman" pitchFamily="18" charset="0"/>
              </a:rPr>
              <a:t>V</a:t>
            </a:r>
            <a:r>
              <a:rPr lang="en-US" altLang="zh-CN" sz="2400" baseline="-25000" dirty="0" err="1">
                <a:latin typeface="Times New Roman" pitchFamily="18" charset="0"/>
                <a:cs typeface="Times New Roman" pitchFamily="18" charset="0"/>
              </a:rPr>
              <a:t>y</a:t>
            </a:r>
            <a:r>
              <a:rPr lang="zh-CN" altLang="en-US" sz="2400" dirty="0">
                <a:latin typeface="Times New Roman" pitchFamily="18" charset="0"/>
                <a:cs typeface="Times New Roman" pitchFamily="18" charset="0"/>
              </a:rPr>
              <a:t>点列写小信号方程。</a:t>
            </a:r>
            <a:endParaRPr lang="en-US" altLang="zh-CN" sz="2400" dirty="0">
              <a:latin typeface="Times New Roman" pitchFamily="18" charset="0"/>
              <a:cs typeface="Times New Roman" pitchFamily="18" charset="0"/>
            </a:endParaRPr>
          </a:p>
          <a:p>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43</a:t>
            </a:fld>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34643034"/>
              </p:ext>
            </p:extLst>
          </p:nvPr>
        </p:nvGraphicFramePr>
        <p:xfrm>
          <a:off x="1203643" y="3211831"/>
          <a:ext cx="6581775" cy="455612"/>
        </p:xfrm>
        <a:graphic>
          <a:graphicData uri="http://schemas.openxmlformats.org/presentationml/2006/ole">
            <mc:AlternateContent xmlns:mc="http://schemas.openxmlformats.org/markup-compatibility/2006">
              <mc:Choice xmlns:v="urn:schemas-microsoft-com:vml" Requires="v">
                <p:oleObj spid="_x0000_s24698" name="Equation" r:id="rId3" imgW="3454200" imgH="241200" progId="Equation.DSMT4">
                  <p:embed/>
                </p:oleObj>
              </mc:Choice>
              <mc:Fallback>
                <p:oleObj name="Equation" r:id="rId3" imgW="3454200" imgH="241200" progId="Equation.DSMT4">
                  <p:embed/>
                  <p:pic>
                    <p:nvPicPr>
                      <p:cNvPr id="2" name="对象 1"/>
                      <p:cNvPicPr>
                        <a:picLocks noChangeAspect="1" noChangeArrowheads="1"/>
                      </p:cNvPicPr>
                      <p:nvPr/>
                    </p:nvPicPr>
                    <p:blipFill>
                      <a:blip r:embed="rId4"/>
                      <a:srcRect/>
                      <a:stretch>
                        <a:fillRect/>
                      </a:stretch>
                    </p:blipFill>
                    <p:spPr bwMode="auto">
                      <a:xfrm>
                        <a:off x="1203643" y="3211831"/>
                        <a:ext cx="658177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247460531"/>
              </p:ext>
            </p:extLst>
          </p:nvPr>
        </p:nvGraphicFramePr>
        <p:xfrm>
          <a:off x="1410019" y="4051619"/>
          <a:ext cx="6170612" cy="455612"/>
        </p:xfrm>
        <a:graphic>
          <a:graphicData uri="http://schemas.openxmlformats.org/presentationml/2006/ole">
            <mc:AlternateContent xmlns:mc="http://schemas.openxmlformats.org/markup-compatibility/2006">
              <mc:Choice xmlns:v="urn:schemas-microsoft-com:vml" Requires="v">
                <p:oleObj spid="_x0000_s24699" name="Equation" r:id="rId5" imgW="3238200" imgH="241200" progId="Equation.DSMT4">
                  <p:embed/>
                </p:oleObj>
              </mc:Choice>
              <mc:Fallback>
                <p:oleObj name="Equation" r:id="rId5" imgW="3238200" imgH="241200" progId="Equation.DSMT4">
                  <p:embed/>
                  <p:pic>
                    <p:nvPicPr>
                      <p:cNvPr id="3" name="对象 2"/>
                      <p:cNvPicPr>
                        <a:picLocks noChangeAspect="1" noChangeArrowheads="1"/>
                      </p:cNvPicPr>
                      <p:nvPr/>
                    </p:nvPicPr>
                    <p:blipFill>
                      <a:blip r:embed="rId6"/>
                      <a:srcRect/>
                      <a:stretch>
                        <a:fillRect/>
                      </a:stretch>
                    </p:blipFill>
                    <p:spPr bwMode="auto">
                      <a:xfrm>
                        <a:off x="1410019" y="4051619"/>
                        <a:ext cx="617061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487292486"/>
              </p:ext>
            </p:extLst>
          </p:nvPr>
        </p:nvGraphicFramePr>
        <p:xfrm>
          <a:off x="3264218" y="4507231"/>
          <a:ext cx="2540000" cy="838200"/>
        </p:xfrm>
        <a:graphic>
          <a:graphicData uri="http://schemas.openxmlformats.org/presentationml/2006/ole">
            <mc:AlternateContent xmlns:mc="http://schemas.openxmlformats.org/markup-compatibility/2006">
              <mc:Choice xmlns:v="urn:schemas-microsoft-com:vml" Requires="v">
                <p:oleObj spid="_x0000_s24700" name="Equation" r:id="rId7" imgW="1333440" imgH="444240" progId="Equation.DSMT4">
                  <p:embed/>
                </p:oleObj>
              </mc:Choice>
              <mc:Fallback>
                <p:oleObj name="Equation" r:id="rId7" imgW="1333440" imgH="444240" progId="Equation.DSMT4">
                  <p:embed/>
                  <p:pic>
                    <p:nvPicPr>
                      <p:cNvPr id="4" name="对象 3"/>
                      <p:cNvPicPr>
                        <a:picLocks noChangeAspect="1" noChangeArrowheads="1"/>
                      </p:cNvPicPr>
                      <p:nvPr/>
                    </p:nvPicPr>
                    <p:blipFill>
                      <a:blip r:embed="rId8"/>
                      <a:srcRect/>
                      <a:stretch>
                        <a:fillRect/>
                      </a:stretch>
                    </p:blipFill>
                    <p:spPr bwMode="auto">
                      <a:xfrm>
                        <a:off x="3264218" y="4507231"/>
                        <a:ext cx="2540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1"/>
          <p:cNvSpPr txBox="1"/>
          <p:nvPr/>
        </p:nvSpPr>
        <p:spPr>
          <a:xfrm>
            <a:off x="1237711" y="5576888"/>
            <a:ext cx="5465349" cy="541687"/>
          </a:xfrm>
          <a:prstGeom prst="rect">
            <a:avLst/>
          </a:prstGeom>
          <a:noFill/>
        </p:spPr>
        <p:txBody>
          <a:bodyPr wrap="square" lIns="0" tIns="0" rIns="0" rtlCol="0">
            <a:spAutoFit/>
          </a:bodyPr>
          <a:lstStyle/>
          <a:p>
            <a:pPr>
              <a:lnSpc>
                <a:spcPct val="150000"/>
              </a:lnSpc>
              <a:tabLst>
                <a:tab pos="1320800" algn="l"/>
              </a:tabLst>
            </a:pPr>
            <a:r>
              <a:rPr lang="en-US" altLang="zh-CN" sz="2400" dirty="0">
                <a:latin typeface="Times New Roman" pitchFamily="18" charset="0"/>
                <a:cs typeface="Times New Roman" pitchFamily="18" charset="0"/>
              </a:rPr>
              <a:t>M</a:t>
            </a:r>
            <a:r>
              <a:rPr lang="en-US" altLang="zh-CN" sz="2400" baseline="-25000" dirty="0">
                <a:latin typeface="Times New Roman" pitchFamily="18" charset="0"/>
                <a:cs typeface="Times New Roman" pitchFamily="18" charset="0"/>
              </a:rPr>
              <a:t>1</a:t>
            </a:r>
            <a:r>
              <a:rPr lang="zh-CN" altLang="en-US" sz="2400" dirty="0">
                <a:latin typeface="Times New Roman" pitchFamily="18" charset="0"/>
                <a:cs typeface="Times New Roman" pitchFamily="18" charset="0"/>
              </a:rPr>
              <a:t>、</a:t>
            </a:r>
            <a:r>
              <a:rPr lang="en-US" altLang="zh-CN" sz="2400" dirty="0">
                <a:latin typeface="Times New Roman" pitchFamily="18" charset="0"/>
                <a:cs typeface="Times New Roman" pitchFamily="18" charset="0"/>
              </a:rPr>
              <a:t>M</a:t>
            </a:r>
            <a:r>
              <a:rPr lang="en-US" altLang="zh-CN" sz="2400" baseline="-25000" dirty="0">
                <a:latin typeface="Times New Roman" pitchFamily="18" charset="0"/>
                <a:cs typeface="Times New Roman" pitchFamily="18" charset="0"/>
              </a:rPr>
              <a:t>2</a:t>
            </a:r>
            <a:r>
              <a:rPr lang="zh-CN" altLang="en-US" sz="2400" dirty="0">
                <a:latin typeface="Times New Roman" pitchFamily="18" charset="0"/>
                <a:cs typeface="Times New Roman" pitchFamily="18" charset="0"/>
              </a:rPr>
              <a:t>对差分输出的噪声贡献为：</a:t>
            </a:r>
            <a:endParaRPr lang="en-US" altLang="zh-CN" sz="2400" dirty="0">
              <a:latin typeface="Times New Roman" pitchFamily="18" charset="0"/>
              <a:cs typeface="Times New Roman" pitchFamily="18"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2340256818"/>
              </p:ext>
            </p:extLst>
          </p:nvPr>
        </p:nvGraphicFramePr>
        <p:xfrm>
          <a:off x="5994241" y="5363075"/>
          <a:ext cx="1597025" cy="838200"/>
        </p:xfrm>
        <a:graphic>
          <a:graphicData uri="http://schemas.openxmlformats.org/presentationml/2006/ole">
            <mc:AlternateContent xmlns:mc="http://schemas.openxmlformats.org/markup-compatibility/2006">
              <mc:Choice xmlns:v="urn:schemas-microsoft-com:vml" Requires="v">
                <p:oleObj spid="_x0000_s24701" name="Equation" r:id="rId9" imgW="838080" imgH="444240" progId="Equation.DSMT4">
                  <p:embed/>
                </p:oleObj>
              </mc:Choice>
              <mc:Fallback>
                <p:oleObj name="Equation" r:id="rId9" imgW="838080" imgH="444240" progId="Equation.DSMT4">
                  <p:embed/>
                  <p:pic>
                    <p:nvPicPr>
                      <p:cNvPr id="5" name="对象 4"/>
                      <p:cNvPicPr>
                        <a:picLocks noChangeAspect="1" noChangeArrowheads="1"/>
                      </p:cNvPicPr>
                      <p:nvPr/>
                    </p:nvPicPr>
                    <p:blipFill>
                      <a:blip r:embed="rId10"/>
                      <a:srcRect/>
                      <a:stretch>
                        <a:fillRect/>
                      </a:stretch>
                    </p:blipFill>
                    <p:spPr bwMode="auto">
                      <a:xfrm>
                        <a:off x="5994241" y="5363075"/>
                        <a:ext cx="15970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1" name="组合 20"/>
          <p:cNvGrpSpPr/>
          <p:nvPr/>
        </p:nvGrpSpPr>
        <p:grpSpPr>
          <a:xfrm>
            <a:off x="8210971" y="2824027"/>
            <a:ext cx="2349238" cy="2691901"/>
            <a:chOff x="8150860" y="3037387"/>
            <a:chExt cx="2349238" cy="2691901"/>
          </a:xfrm>
        </p:grpSpPr>
        <p:pic>
          <p:nvPicPr>
            <p:cNvPr id="12" name="Picture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73485" y="3037387"/>
              <a:ext cx="2126613" cy="2684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矩形 12"/>
            <p:cNvSpPr/>
            <p:nvPr/>
          </p:nvSpPr>
          <p:spPr>
            <a:xfrm>
              <a:off x="8480899" y="4379497"/>
              <a:ext cx="635716" cy="523220"/>
            </a:xfrm>
            <a:prstGeom prst="rect">
              <a:avLst/>
            </a:prstGeom>
          </p:spPr>
          <p:txBody>
            <a:bodyPr wrap="square">
              <a:spAutoFit/>
            </a:bodyPr>
            <a:lstStyle/>
            <a:p>
              <a:r>
                <a:rPr lang="en-US" altLang="zh-CN" sz="2800" b="1" dirty="0" err="1">
                  <a:solidFill>
                    <a:srgbClr val="FF0000"/>
                  </a:solidFill>
                </a:rPr>
                <a:t>V</a:t>
              </a:r>
              <a:r>
                <a:rPr lang="en-US" altLang="zh-CN" sz="3200" b="1" baseline="-25000" dirty="0" err="1">
                  <a:solidFill>
                    <a:srgbClr val="FF0000"/>
                  </a:solidFill>
                </a:rPr>
                <a:t>x</a:t>
              </a:r>
              <a:endParaRPr lang="zh-CN" altLang="en-US" sz="2800" b="1" baseline="-25000" dirty="0">
                <a:solidFill>
                  <a:srgbClr val="FF0000"/>
                </a:solidFill>
              </a:endParaRPr>
            </a:p>
          </p:txBody>
        </p:sp>
        <p:sp>
          <p:nvSpPr>
            <p:cNvPr id="14" name="矩形 13"/>
            <p:cNvSpPr/>
            <p:nvPr/>
          </p:nvSpPr>
          <p:spPr>
            <a:xfrm>
              <a:off x="9948023" y="4357688"/>
              <a:ext cx="552075" cy="523220"/>
            </a:xfrm>
            <a:prstGeom prst="rect">
              <a:avLst/>
            </a:prstGeom>
          </p:spPr>
          <p:txBody>
            <a:bodyPr wrap="square">
              <a:spAutoFit/>
            </a:bodyPr>
            <a:lstStyle/>
            <a:p>
              <a:r>
                <a:rPr lang="en-US" altLang="zh-CN" sz="2800" b="1" dirty="0" err="1">
                  <a:solidFill>
                    <a:srgbClr val="FF0000"/>
                  </a:solidFill>
                </a:rPr>
                <a:t>V</a:t>
              </a:r>
              <a:r>
                <a:rPr lang="en-US" altLang="zh-CN" sz="2800" b="1" baseline="-25000" dirty="0" err="1">
                  <a:solidFill>
                    <a:srgbClr val="FF0000"/>
                  </a:solidFill>
                </a:rPr>
                <a:t>y</a:t>
              </a:r>
              <a:endParaRPr lang="zh-CN" altLang="en-US" sz="2800" b="1" baseline="-25000" dirty="0">
                <a:solidFill>
                  <a:srgbClr val="FF0000"/>
                </a:solidFill>
              </a:endParaRPr>
            </a:p>
          </p:txBody>
        </p:sp>
        <p:sp>
          <p:nvSpPr>
            <p:cNvPr id="15" name="矩形 14"/>
            <p:cNvSpPr/>
            <p:nvPr/>
          </p:nvSpPr>
          <p:spPr>
            <a:xfrm>
              <a:off x="9217660" y="5206068"/>
              <a:ext cx="525180" cy="523220"/>
            </a:xfrm>
            <a:prstGeom prst="rect">
              <a:avLst/>
            </a:prstGeom>
          </p:spPr>
          <p:txBody>
            <a:bodyPr wrap="square">
              <a:spAutoFit/>
            </a:bodyPr>
            <a:lstStyle/>
            <a:p>
              <a:r>
                <a:rPr lang="en-US" altLang="zh-CN" sz="2800" b="1" dirty="0" err="1">
                  <a:solidFill>
                    <a:srgbClr val="FF0000"/>
                  </a:solidFill>
                </a:rPr>
                <a:t>V</a:t>
              </a:r>
              <a:r>
                <a:rPr lang="en-US" altLang="zh-CN" sz="2800" b="1" baseline="-25000" dirty="0" err="1">
                  <a:solidFill>
                    <a:srgbClr val="FF0000"/>
                  </a:solidFill>
                </a:rPr>
                <a:t>z</a:t>
              </a:r>
              <a:endParaRPr lang="zh-CN" altLang="en-US" sz="2800" b="1" baseline="-25000" dirty="0">
                <a:solidFill>
                  <a:srgbClr val="FF0000"/>
                </a:solidFill>
              </a:endParaRPr>
            </a:p>
          </p:txBody>
        </p:sp>
        <p:sp>
          <p:nvSpPr>
            <p:cNvPr id="16" name="矩形 15"/>
            <p:cNvSpPr/>
            <p:nvPr/>
          </p:nvSpPr>
          <p:spPr>
            <a:xfrm>
              <a:off x="8150860" y="4865371"/>
              <a:ext cx="663863" cy="523220"/>
            </a:xfrm>
            <a:prstGeom prst="rect">
              <a:avLst/>
            </a:prstGeom>
          </p:spPr>
          <p:txBody>
            <a:bodyPr wrap="square">
              <a:spAutoFit/>
            </a:bodyPr>
            <a:lstStyle/>
            <a:p>
              <a:r>
                <a:rPr lang="en-US" altLang="zh-CN" sz="2800" b="1" dirty="0" err="1">
                  <a:solidFill>
                    <a:srgbClr val="FF0000"/>
                  </a:solidFill>
                </a:rPr>
                <a:t>V</a:t>
              </a:r>
              <a:r>
                <a:rPr lang="en-US" altLang="zh-CN" sz="2800" b="1" baseline="-25000" dirty="0" err="1">
                  <a:solidFill>
                    <a:srgbClr val="FF0000"/>
                  </a:solidFill>
                </a:rPr>
                <a:t>p</a:t>
              </a:r>
              <a:endParaRPr lang="zh-CN" altLang="en-US" sz="2800" b="1" baseline="-25000" dirty="0">
                <a:solidFill>
                  <a:srgbClr val="FF0000"/>
                </a:solidFill>
              </a:endParaRPr>
            </a:p>
          </p:txBody>
        </p:sp>
        <p:sp>
          <p:nvSpPr>
            <p:cNvPr id="17" name="矩形 16">
              <a:extLst>
                <a:ext uri="{FF2B5EF4-FFF2-40B4-BE49-F238E27FC236}">
                  <a16:creationId xmlns:a16="http://schemas.microsoft.com/office/drawing/2014/main" id="{970AF79F-B392-4A73-BDC2-882A59F2EB4E}"/>
                </a:ext>
              </a:extLst>
            </p:cNvPr>
            <p:cNvSpPr/>
            <p:nvPr/>
          </p:nvSpPr>
          <p:spPr>
            <a:xfrm>
              <a:off x="8679152" y="5216336"/>
              <a:ext cx="558166" cy="461665"/>
            </a:xfrm>
            <a:prstGeom prst="rect">
              <a:avLst/>
            </a:prstGeom>
          </p:spPr>
          <p:txBody>
            <a:bodyPr wrap="none">
              <a:spAutoFit/>
            </a:bodyPr>
            <a:lstStyle/>
            <a:p>
              <a:r>
                <a:rPr lang="en-US" altLang="zh-CN" sz="2400" b="1" dirty="0">
                  <a:solidFill>
                    <a:srgbClr val="0000FF"/>
                  </a:solidFill>
                </a:rPr>
                <a:t>M</a:t>
              </a:r>
              <a:r>
                <a:rPr lang="en-US" altLang="zh-CN" sz="2400" b="1" baseline="-25000" dirty="0">
                  <a:solidFill>
                    <a:srgbClr val="0000FF"/>
                  </a:solidFill>
                </a:rPr>
                <a:t>1</a:t>
              </a:r>
              <a:endParaRPr lang="zh-CN" altLang="en-US" sz="2400" b="1" baseline="-25000" dirty="0">
                <a:solidFill>
                  <a:srgbClr val="0000FF"/>
                </a:solidFill>
              </a:endParaRPr>
            </a:p>
          </p:txBody>
        </p:sp>
        <p:sp>
          <p:nvSpPr>
            <p:cNvPr id="18" name="矩形 17">
              <a:extLst>
                <a:ext uri="{FF2B5EF4-FFF2-40B4-BE49-F238E27FC236}">
                  <a16:creationId xmlns:a16="http://schemas.microsoft.com/office/drawing/2014/main" id="{2EB6E69C-71BB-45D4-91B3-7F90DFFB1F95}"/>
                </a:ext>
              </a:extLst>
            </p:cNvPr>
            <p:cNvSpPr/>
            <p:nvPr/>
          </p:nvSpPr>
          <p:spPr>
            <a:xfrm>
              <a:off x="9758218" y="5202228"/>
              <a:ext cx="558166" cy="461665"/>
            </a:xfrm>
            <a:prstGeom prst="rect">
              <a:avLst/>
            </a:prstGeom>
          </p:spPr>
          <p:txBody>
            <a:bodyPr wrap="none">
              <a:spAutoFit/>
            </a:bodyPr>
            <a:lstStyle/>
            <a:p>
              <a:r>
                <a:rPr lang="en-US" altLang="zh-CN" sz="2400" b="1" dirty="0">
                  <a:solidFill>
                    <a:srgbClr val="0000FF"/>
                  </a:solidFill>
                </a:rPr>
                <a:t>M</a:t>
              </a:r>
              <a:r>
                <a:rPr lang="en-US" altLang="zh-CN" sz="2400" b="1" baseline="-25000" dirty="0">
                  <a:solidFill>
                    <a:srgbClr val="0000FF"/>
                  </a:solidFill>
                </a:rPr>
                <a:t>2</a:t>
              </a:r>
              <a:endParaRPr lang="zh-CN" altLang="en-US" sz="2400" b="1" baseline="-25000" dirty="0">
                <a:solidFill>
                  <a:srgbClr val="0000FF"/>
                </a:solidFill>
              </a:endParaRPr>
            </a:p>
          </p:txBody>
        </p:sp>
        <p:sp>
          <p:nvSpPr>
            <p:cNvPr id="19" name="矩形 18">
              <a:extLst>
                <a:ext uri="{FF2B5EF4-FFF2-40B4-BE49-F238E27FC236}">
                  <a16:creationId xmlns:a16="http://schemas.microsoft.com/office/drawing/2014/main" id="{88B9F144-C4E8-47F6-84DC-4A5154FA8D70}"/>
                </a:ext>
              </a:extLst>
            </p:cNvPr>
            <p:cNvSpPr/>
            <p:nvPr/>
          </p:nvSpPr>
          <p:spPr>
            <a:xfrm>
              <a:off x="8570157" y="3367088"/>
              <a:ext cx="558166" cy="461665"/>
            </a:xfrm>
            <a:prstGeom prst="rect">
              <a:avLst/>
            </a:prstGeom>
          </p:spPr>
          <p:txBody>
            <a:bodyPr wrap="none">
              <a:spAutoFit/>
            </a:bodyPr>
            <a:lstStyle/>
            <a:p>
              <a:r>
                <a:rPr lang="en-US" altLang="zh-CN" sz="2400" b="1" dirty="0">
                  <a:solidFill>
                    <a:srgbClr val="0000FF"/>
                  </a:solidFill>
                </a:rPr>
                <a:t>M</a:t>
              </a:r>
              <a:r>
                <a:rPr lang="en-US" altLang="zh-CN" sz="2400" b="1" baseline="-25000" dirty="0">
                  <a:solidFill>
                    <a:srgbClr val="0000FF"/>
                  </a:solidFill>
                </a:rPr>
                <a:t>3</a:t>
              </a:r>
              <a:endParaRPr lang="zh-CN" altLang="en-US" sz="2400" b="1" baseline="-25000" dirty="0">
                <a:solidFill>
                  <a:srgbClr val="0000FF"/>
                </a:solidFill>
              </a:endParaRPr>
            </a:p>
          </p:txBody>
        </p:sp>
        <p:sp>
          <p:nvSpPr>
            <p:cNvPr id="20" name="矩形 19">
              <a:extLst>
                <a:ext uri="{FF2B5EF4-FFF2-40B4-BE49-F238E27FC236}">
                  <a16:creationId xmlns:a16="http://schemas.microsoft.com/office/drawing/2014/main" id="{6462CE1D-9E73-42EE-9C68-10AA20E71AF0}"/>
                </a:ext>
              </a:extLst>
            </p:cNvPr>
            <p:cNvSpPr/>
            <p:nvPr/>
          </p:nvSpPr>
          <p:spPr>
            <a:xfrm>
              <a:off x="9772504" y="3332320"/>
              <a:ext cx="558166" cy="461665"/>
            </a:xfrm>
            <a:prstGeom prst="rect">
              <a:avLst/>
            </a:prstGeom>
          </p:spPr>
          <p:txBody>
            <a:bodyPr wrap="none">
              <a:spAutoFit/>
            </a:bodyPr>
            <a:lstStyle/>
            <a:p>
              <a:r>
                <a:rPr lang="en-US" altLang="zh-CN" sz="2400" b="1" dirty="0">
                  <a:solidFill>
                    <a:srgbClr val="0000FF"/>
                  </a:solidFill>
                </a:rPr>
                <a:t>M</a:t>
              </a:r>
              <a:r>
                <a:rPr lang="en-US" altLang="zh-CN" sz="2400" b="1" baseline="-25000" dirty="0">
                  <a:solidFill>
                    <a:srgbClr val="0000FF"/>
                  </a:solidFill>
                </a:rPr>
                <a:t>4</a:t>
              </a:r>
              <a:endParaRPr lang="zh-CN" altLang="en-US" sz="2400" b="1" baseline="-25000" dirty="0">
                <a:solidFill>
                  <a:srgbClr val="0000FF"/>
                </a:solidFill>
              </a:endParaRPr>
            </a:p>
          </p:txBody>
        </p:sp>
      </p:grpSp>
    </p:spTree>
    <p:extLst>
      <p:ext uri="{BB962C8B-B14F-4D97-AF65-F5344CB8AC3E}">
        <p14:creationId xmlns:p14="http://schemas.microsoft.com/office/powerpoint/2010/main" val="33179021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差动对的噪声</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44</a:t>
            </a:fld>
            <a:endParaRPr lang="zh-CN" altLang="en-US"/>
          </a:p>
        </p:txBody>
      </p:sp>
      <p:sp>
        <p:nvSpPr>
          <p:cNvPr id="6" name="TextBox 1"/>
          <p:cNvSpPr txBox="1"/>
          <p:nvPr/>
        </p:nvSpPr>
        <p:spPr>
          <a:xfrm>
            <a:off x="927099" y="1769714"/>
            <a:ext cx="5465349" cy="541687"/>
          </a:xfrm>
          <a:prstGeom prst="rect">
            <a:avLst/>
          </a:prstGeom>
          <a:noFill/>
        </p:spPr>
        <p:txBody>
          <a:bodyPr wrap="square" lIns="0" tIns="0" rIns="0" rtlCol="0">
            <a:spAutoFit/>
          </a:bodyPr>
          <a:lstStyle/>
          <a:p>
            <a:pPr marL="342900" indent="-342900">
              <a:lnSpc>
                <a:spcPct val="150000"/>
              </a:lnSpc>
              <a:buFont typeface="Wingdings" panose="05000000000000000000" pitchFamily="2" charset="2"/>
              <a:buChar char="l"/>
              <a:tabLst>
                <a:tab pos="1320800" algn="l"/>
              </a:tabLst>
            </a:pPr>
            <a:r>
              <a:rPr lang="zh-CN" altLang="en-US" sz="2400" dirty="0">
                <a:latin typeface="Times New Roman" pitchFamily="18" charset="0"/>
                <a:cs typeface="Times New Roman" pitchFamily="18" charset="0"/>
              </a:rPr>
              <a:t>总的差分输出的噪声贡献为：</a:t>
            </a:r>
            <a:endParaRPr lang="en-US" altLang="zh-CN" sz="2400" dirty="0">
              <a:latin typeface="Times New Roman" pitchFamily="18" charset="0"/>
              <a:cs typeface="Times New Roman"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38248652"/>
              </p:ext>
            </p:extLst>
          </p:nvPr>
        </p:nvGraphicFramePr>
        <p:xfrm>
          <a:off x="3767993" y="2492344"/>
          <a:ext cx="2624455" cy="717163"/>
        </p:xfrm>
        <a:graphic>
          <a:graphicData uri="http://schemas.openxmlformats.org/presentationml/2006/ole">
            <mc:AlternateContent xmlns:mc="http://schemas.openxmlformats.org/markup-compatibility/2006">
              <mc:Choice xmlns:v="urn:schemas-microsoft-com:vml" Requires="v">
                <p:oleObj spid="_x0000_s25689" name="Equation" r:id="rId3" imgW="1701720" imgH="469800" progId="Equation.DSMT4">
                  <p:embed/>
                </p:oleObj>
              </mc:Choice>
              <mc:Fallback>
                <p:oleObj name="Equation" r:id="rId3" imgW="1701720" imgH="469800" progId="Equation.DSMT4">
                  <p:embed/>
                  <p:pic>
                    <p:nvPicPr>
                      <p:cNvPr id="5" name="对象 4"/>
                      <p:cNvPicPr>
                        <a:picLocks noChangeAspect="1" noChangeArrowheads="1"/>
                      </p:cNvPicPr>
                      <p:nvPr/>
                    </p:nvPicPr>
                    <p:blipFill>
                      <a:blip r:embed="rId4"/>
                      <a:srcRect/>
                      <a:stretch>
                        <a:fillRect/>
                      </a:stretch>
                    </p:blipFill>
                    <p:spPr bwMode="auto">
                      <a:xfrm>
                        <a:off x="3767993" y="2492344"/>
                        <a:ext cx="2624455" cy="717163"/>
                      </a:xfrm>
                      <a:prstGeom prst="rect">
                        <a:avLst/>
                      </a:prstGeom>
                      <a:noFill/>
                      <a:ln>
                        <a:noFill/>
                      </a:ln>
                      <a:extLst/>
                    </p:spPr>
                  </p:pic>
                </p:oleObj>
              </mc:Fallback>
            </mc:AlternateContent>
          </a:graphicData>
        </a:graphic>
      </p:graphicFrame>
      <p:sp>
        <p:nvSpPr>
          <p:cNvPr id="8" name="TextBox 1"/>
          <p:cNvSpPr txBox="1"/>
          <p:nvPr/>
        </p:nvSpPr>
        <p:spPr>
          <a:xfrm>
            <a:off x="927100" y="3397250"/>
            <a:ext cx="5465349" cy="541687"/>
          </a:xfrm>
          <a:prstGeom prst="rect">
            <a:avLst/>
          </a:prstGeom>
          <a:noFill/>
        </p:spPr>
        <p:txBody>
          <a:bodyPr wrap="square" lIns="0" tIns="0" rIns="0" rtlCol="0">
            <a:spAutoFit/>
          </a:bodyPr>
          <a:lstStyle/>
          <a:p>
            <a:pPr marL="342900" indent="-342900">
              <a:lnSpc>
                <a:spcPct val="150000"/>
              </a:lnSpc>
              <a:buFont typeface="Wingdings" panose="05000000000000000000" pitchFamily="2" charset="2"/>
              <a:buChar char="l"/>
              <a:tabLst>
                <a:tab pos="1320800" algn="l"/>
              </a:tabLst>
            </a:pPr>
            <a:r>
              <a:rPr lang="zh-CN" altLang="en-US" sz="2400" dirty="0">
                <a:latin typeface="Times New Roman" pitchFamily="18" charset="0"/>
                <a:cs typeface="Times New Roman" pitchFamily="18" charset="0"/>
              </a:rPr>
              <a:t>差分对的电压增益为：</a:t>
            </a:r>
            <a:endParaRPr lang="en-US" altLang="zh-CN" sz="2400" dirty="0">
              <a:latin typeface="Times New Roman" pitchFamily="18" charset="0"/>
              <a:cs typeface="Times New Roman"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1079230439"/>
              </p:ext>
            </p:extLst>
          </p:nvPr>
        </p:nvGraphicFramePr>
        <p:xfrm>
          <a:off x="3767993" y="4143027"/>
          <a:ext cx="2533747" cy="441789"/>
        </p:xfrm>
        <a:graphic>
          <a:graphicData uri="http://schemas.openxmlformats.org/presentationml/2006/ole">
            <mc:AlternateContent xmlns:mc="http://schemas.openxmlformats.org/markup-compatibility/2006">
              <mc:Choice xmlns:v="urn:schemas-microsoft-com:vml" Requires="v">
                <p:oleObj spid="_x0000_s25690" name="Equation" r:id="rId5" imgW="1371600" imgH="241200" progId="Equation.DSMT4">
                  <p:embed/>
                </p:oleObj>
              </mc:Choice>
              <mc:Fallback>
                <p:oleObj name="Equation" r:id="rId5" imgW="1371600" imgH="241200" progId="Equation.DSMT4">
                  <p:embed/>
                  <p:pic>
                    <p:nvPicPr>
                      <p:cNvPr id="7" name="对象 6"/>
                      <p:cNvPicPr>
                        <a:picLocks noChangeAspect="1" noChangeArrowheads="1"/>
                      </p:cNvPicPr>
                      <p:nvPr/>
                    </p:nvPicPr>
                    <p:blipFill>
                      <a:blip r:embed="rId6"/>
                      <a:srcRect/>
                      <a:stretch>
                        <a:fillRect/>
                      </a:stretch>
                    </p:blipFill>
                    <p:spPr bwMode="auto">
                      <a:xfrm>
                        <a:off x="3767993" y="4143027"/>
                        <a:ext cx="2533747" cy="441789"/>
                      </a:xfrm>
                      <a:prstGeom prst="rect">
                        <a:avLst/>
                      </a:prstGeom>
                      <a:noFill/>
                      <a:ln>
                        <a:noFill/>
                      </a:ln>
                      <a:extLst/>
                    </p:spPr>
                  </p:pic>
                </p:oleObj>
              </mc:Fallback>
            </mc:AlternateContent>
          </a:graphicData>
        </a:graphic>
      </p:graphicFrame>
      <p:sp>
        <p:nvSpPr>
          <p:cNvPr id="10" name="TextBox 1"/>
          <p:cNvSpPr txBox="1"/>
          <p:nvPr/>
        </p:nvSpPr>
        <p:spPr>
          <a:xfrm>
            <a:off x="927099" y="4913582"/>
            <a:ext cx="3657600" cy="541687"/>
          </a:xfrm>
          <a:prstGeom prst="rect">
            <a:avLst/>
          </a:prstGeom>
          <a:noFill/>
        </p:spPr>
        <p:txBody>
          <a:bodyPr wrap="square" lIns="0" tIns="0" rIns="0" rtlCol="0">
            <a:spAutoFit/>
          </a:bodyPr>
          <a:lstStyle/>
          <a:p>
            <a:pPr marL="342900" indent="-342900">
              <a:lnSpc>
                <a:spcPct val="150000"/>
              </a:lnSpc>
              <a:buFont typeface="Wingdings" panose="05000000000000000000" pitchFamily="2" charset="2"/>
              <a:buChar char="l"/>
              <a:tabLst>
                <a:tab pos="1320800" algn="l"/>
              </a:tabLst>
            </a:pPr>
            <a:r>
              <a:rPr lang="zh-CN" altLang="en-US" sz="2400" dirty="0">
                <a:latin typeface="Times New Roman" pitchFamily="18" charset="0"/>
                <a:cs typeface="Times New Roman" pitchFamily="18" charset="0"/>
              </a:rPr>
              <a:t>等效输入噪声电压为：</a:t>
            </a:r>
            <a:endParaRPr lang="en-US" altLang="zh-CN" sz="2400" dirty="0">
              <a:latin typeface="Times New Roman" pitchFamily="18" charset="0"/>
              <a:cs typeface="Times New Roman" pitchFamily="18"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1985441693"/>
              </p:ext>
            </p:extLst>
          </p:nvPr>
        </p:nvGraphicFramePr>
        <p:xfrm>
          <a:off x="3144519" y="5455269"/>
          <a:ext cx="4719321" cy="793371"/>
        </p:xfrm>
        <a:graphic>
          <a:graphicData uri="http://schemas.openxmlformats.org/presentationml/2006/ole">
            <mc:AlternateContent xmlns:mc="http://schemas.openxmlformats.org/markup-compatibility/2006">
              <mc:Choice xmlns:v="urn:schemas-microsoft-com:vml" Requires="v">
                <p:oleObj spid="_x0000_s25691" name="Equation" r:id="rId7" imgW="2692080" imgH="457200" progId="Equation.DSMT4">
                  <p:embed/>
                </p:oleObj>
              </mc:Choice>
              <mc:Fallback>
                <p:oleObj name="Equation" r:id="rId7" imgW="2692080" imgH="457200" progId="Equation.DSMT4">
                  <p:embed/>
                  <p:pic>
                    <p:nvPicPr>
                      <p:cNvPr id="8" name="对象 7"/>
                      <p:cNvPicPr>
                        <a:picLocks noChangeAspect="1" noChangeArrowheads="1"/>
                      </p:cNvPicPr>
                      <p:nvPr/>
                    </p:nvPicPr>
                    <p:blipFill>
                      <a:blip r:embed="rId8"/>
                      <a:srcRect/>
                      <a:stretch>
                        <a:fillRect/>
                      </a:stretch>
                    </p:blipFill>
                    <p:spPr bwMode="auto">
                      <a:xfrm>
                        <a:off x="3144519" y="5455269"/>
                        <a:ext cx="4719321" cy="793371"/>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0764132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内容占位符 2"/>
          <p:cNvSpPr>
            <a:spLocks noGrp="1"/>
          </p:cNvSpPr>
          <p:nvPr>
            <p:ph idx="1"/>
          </p:nvPr>
        </p:nvSpPr>
        <p:spPr/>
        <p:txBody>
          <a:bodyPr/>
          <a:lstStyle/>
          <a:p>
            <a:r>
              <a:rPr lang="en-US" altLang="zh-CN" dirty="0" smtClean="0"/>
              <a:t>7.6,7.7,7.8</a:t>
            </a:r>
            <a:endParaRPr lang="zh-CN" altLang="en-US" dirty="0"/>
          </a:p>
        </p:txBody>
      </p:sp>
      <p:sp>
        <p:nvSpPr>
          <p:cNvPr id="4" name="页脚占位符 3"/>
          <p:cNvSpPr>
            <a:spLocks noGrp="1"/>
          </p:cNvSpPr>
          <p:nvPr>
            <p:ph type="ftr" sz="quarter" idx="11"/>
          </p:nvPr>
        </p:nvSpPr>
        <p:spPr/>
        <p:txBody>
          <a:bodyPr/>
          <a:lstStyle/>
          <a:p>
            <a:r>
              <a:rPr lang="zh-CN" altLang="en-US" dirty="0" smtClean="0"/>
              <a:t>中国科学院大学</a:t>
            </a:r>
            <a:r>
              <a:rPr lang="en-US" altLang="zh-CN" dirty="0" smtClean="0"/>
              <a:t>2024-2025</a:t>
            </a:r>
            <a:r>
              <a:rPr lang="zh-CN" altLang="en-US" dirty="0" smtClean="0"/>
              <a:t>秋季</a:t>
            </a:r>
            <a:r>
              <a:rPr lang="zh-CN" altLang="en-US" dirty="0" smtClean="0"/>
              <a:t>学期</a:t>
            </a:r>
            <a:r>
              <a:rPr lang="en-US" altLang="zh-CN" dirty="0" smtClean="0"/>
              <a:t>-</a:t>
            </a:r>
            <a:r>
              <a:rPr lang="zh-CN" altLang="en-US" dirty="0" smtClean="0"/>
              <a:t>模拟集成电路设计与分析</a:t>
            </a:r>
            <a:endParaRPr lang="zh-CN" altLang="en-US" dirty="0"/>
          </a:p>
        </p:txBody>
      </p:sp>
      <p:sp>
        <p:nvSpPr>
          <p:cNvPr id="5" name="灯片编号占位符 4"/>
          <p:cNvSpPr>
            <a:spLocks noGrp="1"/>
          </p:cNvSpPr>
          <p:nvPr>
            <p:ph type="sldNum" sz="quarter" idx="12"/>
          </p:nvPr>
        </p:nvSpPr>
        <p:spPr/>
        <p:txBody>
          <a:bodyPr/>
          <a:lstStyle/>
          <a:p>
            <a:fld id="{00D5852F-A149-4CCB-8EBE-69A193BA50F3}" type="slidenum">
              <a:rPr lang="zh-CN" altLang="en-US" smtClean="0"/>
              <a:t>45</a:t>
            </a:fld>
            <a:endParaRPr lang="zh-CN" altLang="en-US"/>
          </a:p>
        </p:txBody>
      </p:sp>
    </p:spTree>
    <p:extLst>
      <p:ext uri="{BB962C8B-B14F-4D97-AF65-F5344CB8AC3E}">
        <p14:creationId xmlns:p14="http://schemas.microsoft.com/office/powerpoint/2010/main" val="147573107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17884</TotalTime>
  <Words>5059</Words>
  <Application>Microsoft Office PowerPoint</Application>
  <PresentationFormat>宽屏</PresentationFormat>
  <Paragraphs>398</Paragraphs>
  <Slides>45</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45</vt:i4>
      </vt:variant>
    </vt:vector>
  </HeadingPairs>
  <TitlesOfParts>
    <vt:vector size="57" baseType="lpstr">
      <vt:lpstr>等线</vt:lpstr>
      <vt:lpstr>等线 Light</vt:lpstr>
      <vt:lpstr>黑体</vt:lpstr>
      <vt:lpstr>Arial</vt:lpstr>
      <vt:lpstr>Calibri</vt:lpstr>
      <vt:lpstr>Cambria Math</vt:lpstr>
      <vt:lpstr>Symbol</vt:lpstr>
      <vt:lpstr>Times New Roman</vt:lpstr>
      <vt:lpstr>Wingdings</vt:lpstr>
      <vt:lpstr>Office 主题​​</vt:lpstr>
      <vt:lpstr>Equation</vt:lpstr>
      <vt:lpstr>Equation.DSMT4</vt:lpstr>
      <vt:lpstr>第四章 噪声</vt:lpstr>
      <vt:lpstr>目录</vt:lpstr>
      <vt:lpstr>噪声的统计特性</vt:lpstr>
      <vt:lpstr>噪声的统计特性</vt:lpstr>
      <vt:lpstr>噪声的统计特性</vt:lpstr>
      <vt:lpstr>噪声的统计特性</vt:lpstr>
      <vt:lpstr>噪声的统计特性</vt:lpstr>
      <vt:lpstr>噪声的统计特性</vt:lpstr>
      <vt:lpstr>噪声的统计特性</vt:lpstr>
      <vt:lpstr>噪声的统计特性</vt:lpstr>
      <vt:lpstr>目录</vt:lpstr>
      <vt:lpstr>MOS集成电路中的噪声类型</vt:lpstr>
      <vt:lpstr>MOS集成电路中的噪声类型</vt:lpstr>
      <vt:lpstr>MOS集成电路中的噪声类型</vt:lpstr>
      <vt:lpstr>MOS集成电路中的噪声类型</vt:lpstr>
      <vt:lpstr>MOS集成电路中的噪声类型</vt:lpstr>
      <vt:lpstr>MOS集成电路中的噪声类型</vt:lpstr>
      <vt:lpstr>MOS集成电路中的噪声类型</vt:lpstr>
      <vt:lpstr>MOS集成电路中的噪声类型</vt:lpstr>
      <vt:lpstr>MOS集成电路中的噪声类型</vt:lpstr>
      <vt:lpstr>目录</vt:lpstr>
      <vt:lpstr>电路中的噪声表示</vt:lpstr>
      <vt:lpstr>电路中的噪声表示</vt:lpstr>
      <vt:lpstr>电路中的噪声表示</vt:lpstr>
      <vt:lpstr>电路中的噪声表示</vt:lpstr>
      <vt:lpstr>电路中的噪声表示</vt:lpstr>
      <vt:lpstr>电路中的噪声表示</vt:lpstr>
      <vt:lpstr>电路中的噪声表示</vt:lpstr>
      <vt:lpstr>电路中的噪声表示</vt:lpstr>
      <vt:lpstr>电路中的噪声表示</vt:lpstr>
      <vt:lpstr>目录</vt:lpstr>
      <vt:lpstr>单级放大器中的噪声</vt:lpstr>
      <vt:lpstr>单级放大器中的噪声</vt:lpstr>
      <vt:lpstr>单级放大器中的噪声</vt:lpstr>
      <vt:lpstr>单级放大器中的噪声</vt:lpstr>
      <vt:lpstr>单级放大器中的噪声</vt:lpstr>
      <vt:lpstr>单级放大器中的噪声</vt:lpstr>
      <vt:lpstr>单级放大器中的噪声</vt:lpstr>
      <vt:lpstr>目录</vt:lpstr>
      <vt:lpstr>电流镜噪声</vt:lpstr>
      <vt:lpstr>电流镜噪声</vt:lpstr>
      <vt:lpstr>目录</vt:lpstr>
      <vt:lpstr>差动对的噪声</vt:lpstr>
      <vt:lpstr>差动对的噪声</vt:lpstr>
      <vt:lpstr>作业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MOS器件基础</dc:title>
  <dc:creator>liuming</dc:creator>
  <cp:lastModifiedBy>my</cp:lastModifiedBy>
  <cp:revision>1154</cp:revision>
  <dcterms:created xsi:type="dcterms:W3CDTF">2019-03-31T07:47:36Z</dcterms:created>
  <dcterms:modified xsi:type="dcterms:W3CDTF">2024-10-11T11:00:31Z</dcterms:modified>
</cp:coreProperties>
</file>